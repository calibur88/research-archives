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notesSlides/notesSlide1.xml" Type="http://schemas.openxmlformats.org/officeDocument/2006/relationships/notesSlide"/><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notesSlides/notesSlide7.xml" Type="http://schemas.openxmlformats.org/officeDocument/2006/relationships/notesSlide"/><Relationship Id="rId59" Target="notesSlides/notesSlide8.xml" Type="http://schemas.openxmlformats.org/officeDocument/2006/relationships/notesSlide"/><Relationship Id="rId6" Target="notesMasters/notesMaster1.xml" Type="http://schemas.openxmlformats.org/officeDocument/2006/relationships/notesMaster"/><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theme/theme2.xml" Type="http://schemas.openxmlformats.org/officeDocument/2006/relationships/them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notesSlides/notesSlide26.xml" Type="http://schemas.openxmlformats.org/officeDocument/2006/relationships/notesSlide"/><Relationship Id="rId78" Target="notesSlides/notesSlide27.xml" Type="http://schemas.openxmlformats.org/officeDocument/2006/relationships/notesSlide"/><Relationship Id="rId79" Target="notesSlides/notesSlide28.xml" Type="http://schemas.openxmlformats.org/officeDocument/2006/relationships/notesSlide"/><Relationship Id="rId8" Target="slideMasters/slideMaster2.xml" Type="http://schemas.openxmlformats.org/officeDocument/2006/relationships/slideMaster"/><Relationship Id="rId80" Target="notesSlides/notesSlide29.xml" Type="http://schemas.openxmlformats.org/officeDocument/2006/relationships/notesSlide"/><Relationship Id="rId81" Target="notesSlides/notesSlide30.xml" Type="http://schemas.openxmlformats.org/officeDocument/2006/relationships/notesSlide"/><Relationship Id="rId82" Target="notesSlides/notesSlide31.xml" Type="http://schemas.openxmlformats.org/officeDocument/2006/relationships/notesSlide"/><Relationship Id="rId83" Target="notesSlides/notesSlide32.xml" Type="http://schemas.openxmlformats.org/officeDocument/2006/relationships/notesSlide"/><Relationship Id="rId84" Target="notesSlides/notesSlide33.xml" Type="http://schemas.openxmlformats.org/officeDocument/2006/relationships/notesSlide"/><Relationship Id="rId85" Target="notesSlides/notesSlide34.xml" Type="http://schemas.openxmlformats.org/officeDocument/2006/relationships/notesSlide"/><Relationship Id="rId86" Target="notesSlides/notesSlide35.xml" Type="http://schemas.openxmlformats.org/officeDocument/2006/relationships/notesSlide"/><Relationship Id="rId87" Target="notesSlides/notesSlide36.xml" Type="http://schemas.openxmlformats.org/officeDocument/2006/relationships/notesSlide"/><Relationship Id="rId88" Target="notesSlides/notesSlide37.xml" Type="http://schemas.openxmlformats.org/officeDocument/2006/relationships/notesSlide"/><Relationship Id="rId89" Target="notesSlides/notesSlide38.xml" Type="http://schemas.openxmlformats.org/officeDocument/2006/relationships/notesSlide"/><Relationship Id="rId9" Target="slides/slide1.xml" Type="http://schemas.openxmlformats.org/officeDocument/2006/relationships/slide"/><Relationship Id="rId90" Target="notesSlides/notesSlide39.xml" Type="http://schemas.openxmlformats.org/officeDocument/2006/relationships/notesSlide"/><Relationship Id="rId91" Target="notesSlides/notesSlide40.xml" Type="http://schemas.openxmlformats.org/officeDocument/2006/relationships/notesSlide"/><Relationship Id="rId92" Target="notesSlides/notesSlide41.xml" Type="http://schemas.openxmlformats.org/officeDocument/2006/relationships/notesSlide"/><Relationship Id="rId93" Target="notesSlides/notesSlide42.xml" Type="http://schemas.openxmlformats.org/officeDocument/2006/relationships/notesSlide"/><Relationship Id="rId94" Target="notesSlides/notesSlide43.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各位好，今天我们来探讨“离散构造几何”，即DCG 3.1版本。</a:t>
            </a:r>
          </a:p>
          <a:p>
            <a:pPr algn="l" marL="0" indent="0">
              <a:lnSpc>
                <a:spcPct val="100000"/>
              </a:lnSpc>
            </a:pPr>
            <a:r>
              <a:rPr lang="en-US" b="false" i="false" strike="noStrike" u="none" sz="1400">
                <a:solidFill>
                  <a:srgbClr val="000000"/>
                </a:solidFill>
              </a:rPr>
              <a:t>这是一个基于元几何框架构建的、具有五公理合法性体系的几何模型，它在计算几何、数字建筑以及算法设计中有着广泛的应用。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各位好，这是我们今天分享的目录结构。</a:t>
            </a:r>
          </a:p>
          <a:p>
            <a:pPr algn="l" marL="0" indent="0">
              <a:lnSpc>
                <a:spcPct val="100000"/>
              </a:lnSpc>
            </a:pPr>
            <a:r>
              <a:rPr lang="en-US" b="false" i="false" strike="noStrike" u="none" sz="1400">
                <a:solidFill>
                  <a:srgbClr val="000000"/>
                </a:solidFill>
              </a:rPr>
              <a:t>我们将从最基础的“声明与公理体系”开始，建立严谨的理论基石；接着探讨“几何本体论”，确立研究的哲学与逻辑起点。</a:t>
            </a:r>
          </a:p>
          <a:p>
            <a:pPr algn="l" marL="0" indent="0">
              <a:lnSpc>
                <a:spcPct val="100000"/>
              </a:lnSpc>
            </a:pPr>
            <a:r>
              <a:rPr lang="en-US" b="false" i="false" strike="noStrike" u="none" sz="1400">
                <a:solidFill>
                  <a:srgbClr val="000000"/>
                </a:solidFill>
              </a:rPr>
              <a:t>随后进入具体的构造层面，从“二维DCG”到“三维DCG与q-变形空间”，逐步展开空间结构的解析。</a:t>
            </a:r>
          </a:p>
          <a:p>
            <a:pPr algn="l" marL="0" indent="0">
              <a:lnSpc>
                <a:spcPct val="100000"/>
              </a:lnSpc>
            </a:pPr>
            <a:r>
              <a:rPr lang="en-US" b="false" i="false" strike="noStrike" u="none" sz="1400">
                <a:solidFill>
                  <a:srgbClr val="000000"/>
                </a:solidFill>
              </a:rPr>
              <a:t>在理论完善后，我们会讨论“互易性与判据”，这是验证理论自洽性的关键。</a:t>
            </a:r>
          </a:p>
          <a:p>
            <a:pPr algn="l" marL="0" indent="0">
              <a:lnSpc>
                <a:spcPct val="100000"/>
              </a:lnSpc>
            </a:pPr>
            <a:r>
              <a:rPr lang="en-US" b="false" i="false" strike="noStrike" u="none" sz="1400">
                <a:solidFill>
                  <a:srgbClr val="000000"/>
                </a:solidFill>
              </a:rPr>
              <a:t>下半场，我们将视野扩展到“空间域整体变换”，并进一步延伸至“无穷维度的统一构造”，展示理论的普适性。</a:t>
            </a:r>
          </a:p>
          <a:p>
            <a:pPr algn="l" marL="0" indent="0">
              <a:lnSpc>
                <a:spcPct val="100000"/>
              </a:lnSpc>
            </a:pPr>
            <a:r>
              <a:rPr lang="en-US" b="false" i="false" strike="noStrike" u="none" sz="1400">
                <a:solidFill>
                  <a:srgbClr val="000000"/>
                </a:solidFill>
              </a:rPr>
              <a:t>最后，通过“矢量几何与复合构造”将理论具象化，并探讨其在“物理场论嵌入”中的应用与前景。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这一页是我们的第一章，主题是“声明与公理体系”。</a:t>
            </a:r>
          </a:p>
          <a:p>
            <a:pPr algn="l" marL="0" indent="0">
              <a:lnSpc>
                <a:spcPct val="100000"/>
              </a:lnSpc>
            </a:pPr>
            <a:r>
              <a:rPr lang="en-US" b="false" i="false" strike="noStrike" u="none" sz="1400">
                <a:solidFill>
                  <a:srgbClr val="000000"/>
                </a:solidFill>
              </a:rPr>
              <a:t>任何严谨的理论体系，都必须建立在坚实的基础之上。在数学和逻辑学中，这个基础就是公理。它们是不证自明的真理，是我们进行一切推理和论证的起点。</a:t>
            </a:r>
          </a:p>
          <a:p>
            <a:pPr algn="l" marL="0" indent="0">
              <a:lnSpc>
                <a:spcPct val="100000"/>
              </a:lnSpc>
            </a:pPr>
            <a:r>
              <a:rPr lang="en-US" b="false" i="false" strike="noStrike" u="none" sz="1400">
                <a:solidFill>
                  <a:srgbClr val="000000"/>
                </a:solidFill>
              </a:rPr>
              <a:t>在这一章，我们将首先明确我们的基本假设和声明，这将确保我们后续所有的讨论和推演都在一个统一的、无矛盾的框架内进行。这不仅是逻辑严密性的要求，也是我们达成共识的必要前提。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这一页我们深入探讨DCG的体系定位与核心操作原则。</a:t>
            </a:r>
          </a:p>
          <a:p>
            <a:pPr algn="l" marL="0" indent="0">
              <a:lnSpc>
                <a:spcPct val="100000"/>
              </a:lnSpc>
            </a:pPr>
            <a:r>
              <a:rPr lang="en-US" b="false" i="false" strike="noStrike" u="none" sz="1400">
                <a:solidFill>
                  <a:srgbClr val="000000"/>
                </a:solidFill>
              </a:rPr>
              <a:t>首先，DCG不仅仅是一个计算工具，它是一个基于五条公理构建的元几何框架。这五条公理定义了什么是“合法的几何闭包”，这是整个体系的基石。</a:t>
            </a:r>
          </a:p>
          <a:p>
            <a:pPr algn="l" marL="0" indent="0">
              <a:lnSpc>
                <a:spcPct val="100000"/>
              </a:lnSpc>
            </a:pPr>
            <a:r>
              <a:rPr lang="en-US" b="false" i="false" strike="noStrike" u="none" sz="1400">
                <a:solidFill>
                  <a:srgbClr val="000000"/>
                </a:solidFill>
              </a:rPr>
              <a:t>其次，我们强调“构造优先于测量”。这意味着，在进行任何数值计算（如积分）之前，必须先确保这个几何对象是合法的。如果构造不合法，后续的计算就没有意义。</a:t>
            </a:r>
          </a:p>
          <a:p>
            <a:pPr algn="l" marL="0" indent="0">
              <a:lnSpc>
                <a:spcPct val="100000"/>
              </a:lnSpc>
            </a:pPr>
            <a:r>
              <a:rPr lang="en-US" b="false" i="false" strike="noStrike" u="none" sz="1400">
                <a:solidFill>
                  <a:srgbClr val="000000"/>
                </a:solidFill>
              </a:rPr>
              <a:t>最后，在处理复杂的几何并置时，我们有严格的积分规则。特别是当几何对象发生重叠或相交时，不能简单地相加，必须先进行合并操作，消除内部的共享面，这样才能保证计算结果的准确性和唯一性。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这一页我们来探讨公理Ⅰ，也就是紧致性公理。</a:t>
            </a:r>
          </a:p>
          <a:p>
            <a:pPr algn="l" marL="0" indent="0">
              <a:lnSpc>
                <a:spcPct val="100000"/>
              </a:lnSpc>
            </a:pPr>
            <a:r>
              <a:rPr lang="en-US" b="false" i="false" strike="noStrike" u="none" sz="1400">
                <a:solidFill>
                  <a:srgbClr val="000000"/>
                </a:solidFill>
              </a:rPr>
              <a:t>大家看左边的示意图，这是一个典型的紧致闭包模型。外层的深紫色轮廓代表几何闭包O，而内部填充的浅紫色椭圆代表经过缩半操作后的H(O)。大家可以直观地看到，H(O)完全落在O的内部，这就是紧致性的核心视觉特征。</a:t>
            </a:r>
          </a:p>
          <a:p>
            <a:pPr algn="l" marL="0" indent="0">
              <a:lnSpc>
                <a:spcPct val="100000"/>
              </a:lnSpc>
            </a:pPr>
            <a:r>
              <a:rPr lang="en-US" b="false" i="false" strike="noStrike" u="none" sz="1400">
                <a:solidFill>
                  <a:srgbClr val="000000"/>
                </a:solidFill>
              </a:rPr>
              <a:t>在数学定义上，我们首先设定O是一个单一的、不可分割的构造。它必须满足两个先决条件：一是凸包conv(Γ)等于O本身，二是它的维度dim(O)等于生成它的集合Γ的秩。</a:t>
            </a:r>
          </a:p>
          <a:p>
            <a:pPr algn="l" marL="0" indent="0">
              <a:lnSpc>
                <a:spcPct val="100000"/>
              </a:lnSpc>
            </a:pPr>
            <a:r>
              <a:rPr lang="en-US" b="false" i="false" strike="noStrike" u="none" sz="1400">
                <a:solidFill>
                  <a:srgbClr val="000000"/>
                </a:solidFill>
              </a:rPr>
              <a:t>最关键的是，当我们对这个闭包进行缩半操作时，得到的新闭包H(O)必须严格地、完全地包含在原闭包O的内部，并且不触及任何外部的参照系。这保证了该构造具有极强的内聚性和独立性。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各位好，这一页我们来深入探讨公理Ⅱ——互易性。</a:t>
            </a:r>
          </a:p>
          <a:p>
            <a:pPr algn="l" marL="0" indent="0">
              <a:lnSpc>
                <a:spcPct val="100000"/>
              </a:lnSpc>
            </a:pPr>
            <a:r>
              <a:rPr lang="en-US" b="false" i="false" strike="noStrike" u="none" sz="1400">
                <a:solidFill>
                  <a:srgbClr val="000000"/>
                </a:solidFill>
              </a:rPr>
              <a:t>大家请看左侧的示意图，这是一个典型的对称拓扑结构。我们用蓝色和紫色分别代表两个互补的派生子闭包 O+ 和 O-。它们在几何形态上是完全对称的，这也直观地反映了它们在度量上的等价性。</a:t>
            </a:r>
          </a:p>
          <a:p>
            <a:pPr algn="l" marL="0" indent="0">
              <a:lnSpc>
                <a:spcPct val="100000"/>
              </a:lnSpc>
            </a:pPr>
            <a:r>
              <a:rPr lang="en-US" b="false" i="false" strike="noStrike" u="none" sz="1400">
                <a:solidFill>
                  <a:srgbClr val="000000"/>
                </a:solidFill>
              </a:rPr>
              <a:t>具体来说，互易性公理定义了：如果一个紧致闭包 O，经过缩半操作 H 诱导出的两个子闭包 O+ 和 O-，在任何非平凡的规范度量 Mk 下，其度量值都是相等的，那么我们就说这个闭包 O 具有自身互易性。</a:t>
            </a:r>
          </a:p>
          <a:p>
            <a:pPr algn="l" marL="0" indent="0">
              <a:lnSpc>
                <a:spcPct val="100000"/>
              </a:lnSpc>
            </a:pPr>
            <a:r>
              <a:rPr lang="en-US" b="false" i="false" strike="noStrike" u="none" sz="1400">
                <a:solidFill>
                  <a:srgbClr val="000000"/>
                </a:solidFill>
              </a:rPr>
              <a:t>这个公理非常关键，它是系统保持结构平衡和稳定的基础，体现了数学结构中深层次的对称之美。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这一页我们来深入探讨分形递归中的第三个核心公理——可逆性。</a:t>
            </a:r>
          </a:p>
          <a:p>
            <a:pPr algn="l" marL="0" indent="0">
              <a:lnSpc>
                <a:spcPct val="100000"/>
              </a:lnSpc>
            </a:pPr>
            <a:r>
              <a:rPr lang="en-US" b="false" i="false" strike="noStrike" u="none" sz="1400">
                <a:solidFill>
                  <a:srgbClr val="000000"/>
                </a:solidFill>
              </a:rPr>
              <a:t>大家请看左侧的示意图，它展示了一个从简单到复杂的几何演化过程。从最底层的O0初始基元开始，经过映射变换得到O1细分元，最终趋向于O∞的极限分形。这里的关键在于“双向箭头”，它代表了映射不仅是单向的生成，更是可逆的回溯。</a:t>
            </a:r>
          </a:p>
          <a:p>
            <a:pPr algn="l" marL="0" indent="0">
              <a:lnSpc>
                <a:spcPct val="100000"/>
              </a:lnSpc>
            </a:pPr>
            <a:r>
              <a:rPr lang="en-US" b="false" i="false" strike="noStrike" u="none" sz="1400">
                <a:solidFill>
                  <a:srgbClr val="000000"/>
                </a:solidFill>
              </a:rPr>
              <a:t>右侧的定义给出了严格的数学描述：对于每一步的映射γn，都必须存在一个对应的逆映射。这个逆映射不仅要满足数学上的恒等变换关系，更重要的是，它必须保持系统的“生成基”、“度量族”以及“配对结构”不变。</a:t>
            </a:r>
          </a:p>
          <a:p>
            <a:pPr algn="l" marL="0" indent="0">
              <a:lnSpc>
                <a:spcPct val="100000"/>
              </a:lnSpc>
            </a:pPr>
            <a:r>
              <a:rPr lang="en-US" b="false" i="false" strike="noStrike" u="none" sz="1400">
                <a:solidFill>
                  <a:srgbClr val="000000"/>
                </a:solidFill>
              </a:rPr>
              <a:t>简单来说，可逆性保证了我们的分形结构不是随机生成的，而是具有完美的对称性和回溯性，这是分形理论能够构建出复杂而有序的自然模型的基础。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这一页我们来探讨几何公理系统中的第四个重要公理——一致性公理。</a:t>
            </a:r>
          </a:p>
          <a:p>
            <a:pPr algn="l" marL="0" indent="0">
              <a:lnSpc>
                <a:spcPct val="100000"/>
              </a:lnSpc>
            </a:pPr>
            <a:r>
              <a:rPr lang="en-US" b="false" i="false" strike="noStrike" u="none" sz="1400">
                <a:solidFill>
                  <a:srgbClr val="000000"/>
                </a:solidFill>
              </a:rPr>
              <a:t>大家看左边的图示，我们有三个基本的几何闭包：圆形、方形和三角形。它们各自都是紧致的，并且互不冲突。当我们把它们并置在一起时，形成了一个新的整体，这个整体也必须保持紧致性，这就是“一致性”的直观体现。</a:t>
            </a:r>
          </a:p>
          <a:p>
            <a:pPr algn="l" marL="0" indent="0">
              <a:lnSpc>
                <a:spcPct val="100000"/>
              </a:lnSpc>
            </a:pPr>
            <a:r>
              <a:rPr lang="en-US" b="false" i="false" strike="noStrike" u="none" sz="1400">
                <a:solidFill>
                  <a:srgbClr val="000000"/>
                </a:solidFill>
              </a:rPr>
              <a:t>从数学定义上讲，如果一个有限的闭包族，其并置后的结果依然是紧致的，那么我们就称这个族是一致的。这个性质非常关键，因为它保证了我们可以用这些基础的几何单元，去构建更复杂、更高阶的几何系统，而整个系统依然是自洽的、没有矛盾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这一页我们深入探讨公理Ⅴ，也就是Dixmier迹的可积性。</a:t>
            </a:r>
          </a:p>
          <a:p>
            <a:pPr algn="l" marL="0" indent="0">
              <a:lnSpc>
                <a:spcPct val="100000"/>
              </a:lnSpc>
            </a:pPr>
            <a:r>
              <a:rPr lang="en-US" b="false" i="false" strike="noStrike" u="none" sz="1400">
                <a:solidFill>
                  <a:srgbClr val="000000"/>
                </a:solidFill>
              </a:rPr>
              <a:t>首先，我们需要理解其核心定义：对于一个可逆无穷闭包O∞，其诱导的局域配对泛函通常不满足绝对可和性。只有当它属于Macaev理想（即L^(1,∞)紧算子理想）时，我们才称之为具有Dixmier可积性。这是一个非常严格的条件，也是定义非交换几何中谱维数的基础。</a:t>
            </a:r>
          </a:p>
          <a:p>
            <a:pPr algn="l" marL="0" indent="0">
              <a:lnSpc>
                <a:spcPct val="100000"/>
              </a:lnSpc>
            </a:pPr>
            <a:r>
              <a:rPr lang="en-US" b="false" i="false" strike="noStrike" u="none" sz="1400">
                <a:solidFill>
                  <a:srgbClr val="000000"/>
                </a:solidFill>
              </a:rPr>
              <a:t>屏幕中间的公式展示了Dixmier迹的极限形式，它本质上是对算子特征值的对数平均求和。</a:t>
            </a:r>
          </a:p>
          <a:p>
            <a:pPr algn="l" marL="0" indent="0">
              <a:lnSpc>
                <a:spcPct val="100000"/>
              </a:lnSpc>
            </a:pPr>
            <a:r>
              <a:rPr lang="en-US" b="false" i="false" strike="noStrike" u="none" sz="1400">
                <a:solidFill>
                  <a:srgbClr val="000000"/>
                </a:solidFill>
              </a:rPr>
              <a:t>最后，从解析的角度来看，Dixmier迹等价于梅林生成函数在s=0处的有限部分提取。这是一个非常深刻的联系，它将算子代数的性质与复分析中的解析延拓紧密结合在了一起。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各位好，我们现在进入第二章：几何本体论。</a:t>
            </a:r>
          </a:p>
          <a:p>
            <a:pPr algn="l" marL="0" indent="0">
              <a:lnSpc>
                <a:spcPct val="100000"/>
              </a:lnSpc>
            </a:pPr>
            <a:r>
              <a:rPr lang="en-US" b="false" i="false" strike="noStrike" u="none" sz="1400">
                <a:solidFill>
                  <a:srgbClr val="000000"/>
                </a:solidFill>
              </a:rPr>
              <a:t>在这一章节中，我们将深入探讨几何的本质。几何不仅仅是我们在数学课上学到的线条和角度，它更是一种认识世界、构建秩序的方式。</a:t>
            </a:r>
          </a:p>
          <a:p>
            <a:pPr algn="l" marL="0" indent="0">
              <a:lnSpc>
                <a:spcPct val="100000"/>
              </a:lnSpc>
            </a:pPr>
            <a:r>
              <a:rPr lang="en-US" b="false" i="false" strike="noStrike" u="none" sz="1400">
                <a:solidFill>
                  <a:srgbClr val="000000"/>
                </a:solidFill>
              </a:rPr>
              <a:t>我们将从几何形态的起源开始，看看它是如何从简单的点线面，演变成我们所见的复杂建筑、艺术和自然形态。同时，我们也会探讨几何在设计思维中的应用，以及它如何帮助我们理解空间与形式的深层关系。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各位好，这一页我们来深入理解“全域与子域”的概念。</a:t>
            </a:r>
          </a:p>
          <a:p>
            <a:pPr algn="l" marL="0" indent="0">
              <a:lnSpc>
                <a:spcPct val="100000"/>
              </a:lnSpc>
            </a:pPr>
            <a:r>
              <a:rPr lang="en-US" b="false" i="false" strike="noStrike" u="none" sz="1400">
                <a:solidFill>
                  <a:srgbClr val="000000"/>
                </a:solidFill>
              </a:rPr>
              <a:t>大家请看左侧的示意图，这是一个典型的三维笛卡尔坐标系，也就是我们所说的“全域 R³”。它是一个无限延伸的背景空间，X、Y、Z三轴为我们提供了绝对的位置参照。</a:t>
            </a:r>
          </a:p>
          <a:p>
            <a:pPr algn="l" marL="0" indent="0">
              <a:lnSpc>
                <a:spcPct val="100000"/>
              </a:lnSpc>
            </a:pPr>
            <a:r>
              <a:rPr lang="en-US" b="false" i="false" strike="noStrike" u="none" sz="1400">
                <a:solidFill>
                  <a:srgbClr val="000000"/>
                </a:solidFill>
              </a:rPr>
              <a:t>而在这个无限的全域空间中，我们关注的重点是“子域 D”，也就是图中紫色框选的部分。它不是无限的，而是从全域中截取出来的、有边界的实体空间。</a:t>
            </a:r>
          </a:p>
          <a:p>
            <a:pPr algn="l" marL="0" indent="0">
              <a:lnSpc>
                <a:spcPct val="100000"/>
              </a:lnSpc>
            </a:pPr>
            <a:r>
              <a:rPr lang="en-US" b="false" i="false" strike="noStrike" u="none" sz="1400">
                <a:solidFill>
                  <a:srgbClr val="000000"/>
                </a:solidFill>
              </a:rPr>
              <a:t>右侧我们总结了它们的定义：全域是背景，子域是我们实际进行计算和存储的对象。特别要注意的是，合法的子域必须满足“轴对齐”和“可二分”的特性，这为后续我们学习空间索引和递归划分打下了基础。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这一页我们来深入探讨维度的严格区分，这是理解DCG理论的关键。</a:t>
            </a:r>
          </a:p>
          <a:p>
            <a:pPr algn="l" marL="0" indent="0">
              <a:lnSpc>
                <a:spcPct val="100000"/>
              </a:lnSpc>
            </a:pPr>
            <a:r>
              <a:rPr lang="en-US" b="false" i="false" strike="noStrike" u="none" sz="1400">
                <a:solidFill>
                  <a:srgbClr val="000000"/>
                </a:solidFill>
              </a:rPr>
              <a:t>首先，请看表格，我们将维度分为两类：</a:t>
            </a:r>
          </a:p>
          <a:p>
            <a:pPr algn="l" marL="0" indent="0">
              <a:lnSpc>
                <a:spcPct val="100000"/>
              </a:lnSpc>
            </a:pPr>
            <a:r>
              <a:rPr lang="en-US" b="false" i="false" strike="noStrike" u="none" sz="1400">
                <a:solidFill>
                  <a:srgbClr val="000000"/>
                </a:solidFill>
              </a:rPr>
              <a:t>第一类是“几何拓扑维数”，这是空间流形本身的固有属性，它永远是有限的，通常是3维。这是一个硬性的、不变的几何特征。</a:t>
            </a:r>
          </a:p>
          <a:p>
            <a:pPr algn="l" marL="0" indent="0">
              <a:lnSpc>
                <a:spcPct val="100000"/>
              </a:lnSpc>
            </a:pPr>
            <a:r>
              <a:rPr lang="en-US" b="false" i="false" strike="noStrike" u="none" sz="1400">
                <a:solidFill>
                  <a:srgbClr val="000000"/>
                </a:solidFill>
              </a:rPr>
              <a:t>第二类是“域变量维数”，它描述的是我们如何选取子域，也就是“切法”的自由度。这完全取决于我们如何构造子域D，因此它可以是有限的，也可以是无穷的。</a:t>
            </a:r>
          </a:p>
          <a:p>
            <a:pPr algn="l" marL="0" indent="0">
              <a:lnSpc>
                <a:spcPct val="100000"/>
              </a:lnSpc>
            </a:pPr>
            <a:r>
              <a:rPr lang="en-US" b="false" i="false" strike="noStrike" u="none" sz="1400">
                <a:solidFill>
                  <a:srgbClr val="000000"/>
                </a:solidFill>
              </a:rPr>
              <a:t>大家需要特别记住底部的三个核心结论：几何闭包本身永远是有限维的，这是由流形的拓扑性质决定的。而我们常说的“无穷维”，其实指的是切法的选择有无穷多种，而不是空间本身变成了无穷维。在DCG的语境下，当我们说“无穷”时，默认指的就是域变量维数的无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这一页我们深入探讨参数的分类及其性质。</a:t>
            </a:r>
          </a:p>
          <a:p>
            <a:pPr algn="l" marL="0" indent="0">
              <a:lnSpc>
                <a:spcPct val="100000"/>
              </a:lnSpc>
            </a:pPr>
            <a:r>
              <a:rPr lang="en-US" b="false" i="false" strike="noStrike" u="none" sz="1400">
                <a:solidFill>
                  <a:srgbClr val="000000"/>
                </a:solidFill>
              </a:rPr>
              <a:t>首先是固有参数，也就是Int(E)，它们是构成实体的基石，直接参与定义。改变固有参数，几何结构本身就变了，比如改变分形的递归深度，生成的图案就完全不同。</a:t>
            </a:r>
          </a:p>
          <a:p>
            <a:pPr algn="l" marL="0" indent="0">
              <a:lnSpc>
                <a:spcPct val="100000"/>
              </a:lnSpc>
            </a:pPr>
            <a:r>
              <a:rPr lang="en-US" b="false" i="false" strike="noStrike" u="none" sz="1400">
                <a:solidFill>
                  <a:srgbClr val="000000"/>
                </a:solidFill>
              </a:rPr>
              <a:t>相对的是派生参数Der(E)，它们是基于固有参数计算出来的。改变派生参数的数值，并不会改变实体本身的结构，它只是对实体的一种度量或描述，比如一个几何体的表面积，无论怎么计算，几何体本身没变。</a:t>
            </a:r>
          </a:p>
          <a:p>
            <a:pPr algn="l" marL="0" indent="0">
              <a:lnSpc>
                <a:spcPct val="100000"/>
              </a:lnSpc>
            </a:pPr>
            <a:r>
              <a:rPr lang="en-US" b="false" i="false" strike="noStrike" u="none" sz="1400">
                <a:solidFill>
                  <a:srgbClr val="000000"/>
                </a:solidFill>
              </a:rPr>
              <a:t>最后，我们要强调本体论层级隔离原则，这是非常关键的。派生参数不能等同于固有参数，它们属于不同的逻辑层级，混淆它们会导致范畴错误。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这一页我们来深入对比一下DCG空间域理论与传统标准泛函分析的核心差异。</a:t>
            </a:r>
          </a:p>
          <a:p>
            <a:pPr algn="l" marL="0" indent="0">
              <a:lnSpc>
                <a:spcPct val="100000"/>
              </a:lnSpc>
            </a:pPr>
            <a:r>
              <a:rPr lang="en-US" b="false" i="false" strike="noStrike" u="none" sz="1400">
                <a:solidFill>
                  <a:srgbClr val="000000"/>
                </a:solidFill>
              </a:rPr>
              <a:t>首先，在最基本的“点”的定义上，传统泛函分析关注的是抽象的函数映射关系，而DCG理论则回归到物理几何空间中的实体点，这是一个从抽象到具象的转变。</a:t>
            </a:r>
          </a:p>
          <a:p>
            <a:pPr algn="l" marL="0" indent="0">
              <a:lnSpc>
                <a:spcPct val="100000"/>
              </a:lnSpc>
            </a:pPr>
            <a:r>
              <a:rPr lang="en-US" b="false" i="false" strike="noStrike" u="none" sz="1400">
                <a:solidFill>
                  <a:srgbClr val="000000"/>
                </a:solidFill>
              </a:rPr>
              <a:t>关于“无穷”的来源，传统分析中无穷往往来自于函数在无数个点上的独立变化，体现的是自由度；而在DCG中，无穷来自于子域边界的复杂变化和拓扑结构的演化。</a:t>
            </a:r>
          </a:p>
          <a:p>
            <a:pPr algn="l" marL="0" indent="0">
              <a:lnSpc>
                <a:spcPct val="100000"/>
              </a:lnSpc>
            </a:pPr>
            <a:r>
              <a:rPr lang="en-US" b="false" i="false" strike="noStrike" u="none" sz="1400">
                <a:solidFill>
                  <a:srgbClr val="000000"/>
                </a:solidFill>
              </a:rPr>
              <a:t>底空间方面，传统泛函分析通常将定义域视为固定背景，而DCG则将全域视为固定，转而关注子域的动态划分。</a:t>
            </a:r>
          </a:p>
          <a:p>
            <a:pPr algn="l" marL="0" indent="0">
              <a:lnSpc>
                <a:spcPct val="100000"/>
              </a:lnSpc>
            </a:pPr>
            <a:r>
              <a:rPr lang="en-US" b="false" i="false" strike="noStrike" u="none" sz="1400">
                <a:solidFill>
                  <a:srgbClr val="000000"/>
                </a:solidFill>
              </a:rPr>
              <a:t>最后，在核心操作上，传统分析依赖代数级数的求和与收敛，而DCG则更强调几何上的并置与拼接。</a:t>
            </a:r>
          </a:p>
          <a:p>
            <a:pPr algn="l" marL="0" indent="0">
              <a:lnSpc>
                <a:spcPct val="100000"/>
              </a:lnSpc>
            </a:pPr>
            <a:r>
              <a:rPr lang="en-US" b="false" i="false" strike="noStrike" u="none" sz="1400">
                <a:solidFill>
                  <a:srgbClr val="000000"/>
                </a:solidFill>
              </a:rPr>
              <a:t>总结来说，传统泛函是“定域跑函数”，而DCG是“定规则跑区域”，这为我们提供了一种全新的几何化分析视角。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这一页是我们的第三章过渡页，主题是“二维 DCG”。</a:t>
            </a:r>
          </a:p>
          <a:p>
            <a:pPr algn="l" marL="0" indent="0">
              <a:lnSpc>
                <a:spcPct val="100000"/>
              </a:lnSpc>
            </a:pPr>
            <a:r>
              <a:rPr lang="en-US" b="false" i="false" strike="noStrike" u="none" sz="1400">
                <a:solidFill>
                  <a:srgbClr val="000000"/>
                </a:solidFill>
              </a:rPr>
              <a:t>在这一章节中，我们将深入探讨二维数字内容生成的核心原理与实践方法。DCG（Digital Content Generation）不仅仅是简单的绘图，更是从平面构成的基础出发，结合现代数字工具与算法逻辑，创造出具有独特视觉表现力的内容。</a:t>
            </a:r>
          </a:p>
          <a:p>
            <a:pPr algn="l" marL="0" indent="0">
              <a:lnSpc>
                <a:spcPct val="100000"/>
              </a:lnSpc>
            </a:pPr>
            <a:r>
              <a:rPr lang="en-US" b="false" i="false" strike="noStrike" u="none" sz="1400">
                <a:solidFill>
                  <a:srgbClr val="000000"/>
                </a:solidFill>
              </a:rPr>
              <a:t>我们将从基础的矢量图形构建开始，逐步进阶到更复杂的像素艺术与程序化生成，为后续的三维内容创作打下坚实的美学与逻辑基础。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这一页我们来深入探讨二维操作的四个核心基底。</a:t>
            </a:r>
          </a:p>
          <a:p>
            <a:pPr algn="l" marL="0" indent="0">
              <a:lnSpc>
                <a:spcPct val="100000"/>
              </a:lnSpc>
            </a:pPr>
            <a:r>
              <a:rPr lang="en-US" b="false" i="false" strike="noStrike" u="none" sz="1400">
                <a:solidFill>
                  <a:srgbClr val="000000"/>
                </a:solidFill>
              </a:rPr>
              <a:t>首先是直线递归闭包，它是构建连续路径的基础，通过两点的仿射组合形成直线，并且其合法性依赖于拓扑或几何的约束。</a:t>
            </a:r>
          </a:p>
          <a:p>
            <a:pPr algn="l" marL="0" indent="0">
              <a:lnSpc>
                <a:spcPct val="100000"/>
              </a:lnSpc>
            </a:pPr>
            <a:r>
              <a:rPr lang="en-US" b="false" i="false" strike="noStrike" u="none" sz="1400">
                <a:solidFill>
                  <a:srgbClr val="000000"/>
                </a:solidFill>
              </a:rPr>
              <a:t>其次是非直线偏移，这里强调的是偏移函数的可回溯性，必须存在逆操作，这对于路径的还原和验证至关重要。</a:t>
            </a:r>
          </a:p>
          <a:p>
            <a:pPr algn="l" marL="0" indent="0">
              <a:lnSpc>
                <a:spcPct val="100000"/>
              </a:lnSpc>
            </a:pPr>
            <a:r>
              <a:rPr lang="en-US" b="false" i="false" strike="noStrike" u="none" sz="1400">
                <a:solidFill>
                  <a:srgbClr val="000000"/>
                </a:solidFill>
              </a:rPr>
              <a:t>第三点是替换规则，这是分形生成中的关键，它要求在替换生成元时保持端点不变，并且逆映射可定义，同时路径的度量会按比例收缩，保证了迭代的收敛性。</a:t>
            </a:r>
          </a:p>
          <a:p>
            <a:pPr algn="l" marL="0" indent="0">
              <a:lnSpc>
                <a:spcPct val="100000"/>
              </a:lnSpc>
            </a:pPr>
            <a:r>
              <a:rPr lang="en-US" b="false" i="false" strike="noStrike" u="none" sz="1400">
                <a:solidFill>
                  <a:srgbClr val="000000"/>
                </a:solidFill>
              </a:rPr>
              <a:t>最后是旋转算子，特别是60度的旋转，它通过几何构造来定义，利用两个圆的交点确定第三顶点，这对于构建具有自相似性的分形结构非常重要。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各位好，这一页我们深入探讨二维几何元素的本质定义。</a:t>
            </a:r>
          </a:p>
          <a:p>
            <a:pPr algn="l" marL="0" indent="0">
              <a:lnSpc>
                <a:spcPct val="100000"/>
              </a:lnSpc>
            </a:pPr>
            <a:r>
              <a:rPr lang="en-US" b="false" i="false" strike="noStrike" u="none" sz="1400">
                <a:solidFill>
                  <a:srgbClr val="000000"/>
                </a:solidFill>
              </a:rPr>
              <a:t>大家请看左侧的示意图，这是一个标准的二维平面坐标系。在这个坐标系中，我们定义了一个闭合的四边形平面 P，它由四个顶点 A、B、C、D 以及四条边 X1、X2、Y1、Y2 构成，形成了一个完整的闭合环，这正是我们构建平面几何的基础。</a:t>
            </a:r>
          </a:p>
          <a:p>
            <a:pPr algn="l" marL="0" indent="0">
              <a:lnSpc>
                <a:spcPct val="100000"/>
              </a:lnSpc>
            </a:pPr>
            <a:r>
              <a:rPr lang="en-US" b="false" i="false" strike="noStrike" u="none" sz="1400">
                <a:solidFill>
                  <a:srgbClr val="000000"/>
                </a:solidFill>
              </a:rPr>
              <a:t>那么，如何从数学本质上去理解这些几何元素呢？</a:t>
            </a:r>
          </a:p>
          <a:p>
            <a:pPr algn="l" marL="0" indent="0">
              <a:lnSpc>
                <a:spcPct val="100000"/>
              </a:lnSpc>
            </a:pPr>
            <a:r>
              <a:rPr lang="en-US" b="false" i="false" strike="noStrike" u="none" sz="1400">
                <a:solidFill>
                  <a:srgbClr val="000000"/>
                </a:solidFill>
              </a:rPr>
              <a:t>首先是“点”，它并非单纯的位置标记，而是由判定映射的零纤维所定义的，并且仅适用于可测函数对应的点集合法。</a:t>
            </a:r>
          </a:p>
          <a:p>
            <a:pPr algn="l" marL="0" indent="0">
              <a:lnSpc>
                <a:spcPct val="100000"/>
              </a:lnSpc>
            </a:pPr>
            <a:r>
              <a:rPr lang="en-US" b="false" i="false" strike="noStrike" u="none" sz="1400">
                <a:solidFill>
                  <a:srgbClr val="000000"/>
                </a:solidFill>
              </a:rPr>
              <a:t>接着是“线”，这里的线不是无限延伸的，而是经过了紧致性、互易性和可逆性筛选后的递归闭包，那些无界的直线因为不满足可逆性而被排除在外。</a:t>
            </a:r>
          </a:p>
          <a:p>
            <a:pPr algn="l" marL="0" indent="0">
              <a:lnSpc>
                <a:spcPct val="100000"/>
              </a:lnSpc>
            </a:pPr>
            <a:r>
              <a:rPr lang="en-US" b="false" i="false" strike="noStrike" u="none" sz="1400">
                <a:solidFill>
                  <a:srgbClr val="000000"/>
                </a:solidFill>
              </a:rPr>
              <a:t>然后是“面”，正如左侧图示，它是由四条递归路径首尾闭合形成的平面框架 P。需要注意的是，三角形作为一种退化情形，也被自动包含在这个定义之中。</a:t>
            </a:r>
          </a:p>
          <a:p>
            <a:pPr algn="l" marL="0" indent="0">
              <a:lnSpc>
                <a:spcPct val="100000"/>
              </a:lnSpc>
            </a:pPr>
            <a:r>
              <a:rPr lang="en-US" b="false" i="false" strike="noStrike" u="none" sz="1400">
                <a:solidFill>
                  <a:srgbClr val="000000"/>
                </a:solidFill>
              </a:rPr>
              <a:t>最后是“圆”，它是由对数配对映射定义的，在本质上等价于我们熟知的欧氏圆，并且具备紧致、互易和可逆的特性。</a:t>
            </a:r>
          </a:p>
          <a:p>
            <a:pPr algn="l" marL="0" indent="0">
              <a:lnSpc>
                <a:spcPct val="100000"/>
              </a:lnSpc>
            </a:pPr>
            <a:r>
              <a:rPr lang="en-US" b="false" i="false" strike="noStrike" u="none" sz="1400">
                <a:solidFill>
                  <a:srgbClr val="000000"/>
                </a:solidFill>
              </a:rPr>
              <a:t>理解这些本质定义，对于我们后续深入研究几何拓扑学至关重要。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这一页我们深入探讨对数配对圆的几何意义。</a:t>
            </a:r>
          </a:p>
          <a:p>
            <a:pPr algn="l" marL="0" indent="0">
              <a:lnSpc>
                <a:spcPct val="100000"/>
              </a:lnSpc>
            </a:pPr>
            <a:r>
              <a:rPr lang="en-US" b="false" i="false" strike="noStrike" u="none" sz="1400">
                <a:solidFill>
                  <a:srgbClr val="000000"/>
                </a:solidFill>
              </a:rPr>
              <a:t>大家请看左侧的示意图，这是对数配对映射的几何直观。我们以参照点P1为基准，其映射的核心在于计算两点和的对数范数。</a:t>
            </a:r>
          </a:p>
          <a:p>
            <a:pPr algn="l" marL="0" indent="0">
              <a:lnSpc>
                <a:spcPct val="100000"/>
              </a:lnSpc>
            </a:pPr>
            <a:r>
              <a:rPr lang="en-US" b="false" i="false" strike="noStrike" u="none" sz="1400">
                <a:solidFill>
                  <a:srgbClr val="000000"/>
                </a:solidFill>
              </a:rPr>
              <a:t>当我们固定一个阈值l0时，满足条件的点Q的集合就构成了一个圆。这个圆非常特殊，它的圆心并不在原点，而是在-P1的位置，半径则是e的l0次方。这就将一个对数运算转化为了一个直观的欧氏几何图形。</a:t>
            </a:r>
          </a:p>
          <a:p>
            <a:pPr algn="l" marL="0" indent="0">
              <a:lnSpc>
                <a:spcPct val="100000"/>
              </a:lnSpc>
            </a:pPr>
            <a:r>
              <a:rPr lang="en-US" b="false" i="false" strike="noStrike" u="none" sz="1400">
                <a:solidFill>
                  <a:srgbClr val="000000"/>
                </a:solidFill>
              </a:rPr>
              <a:t>右侧展示了它的核心性质：首先是明确的映射定义，将代数关系转化为几何度量；其次是其独特的构造特征，连接了对数域与欧氏空间；最后，这种结构在数学上是非常优美的，它是紧致的、互易的，并且是完全可逆的，这保证了它在理论上的严密性和应用上的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这一页我们重点探讨积分算子J的并置积分规则。</a:t>
            </a:r>
          </a:p>
          <a:p>
            <a:pPr algn="l" marL="0" indent="0">
              <a:lnSpc>
                <a:spcPct val="100000"/>
              </a:lnSpc>
            </a:pPr>
            <a:r>
              <a:rPr lang="en-US" b="false" i="false" strike="noStrike" u="none" sz="1400">
                <a:solidFill>
                  <a:srgbClr val="000000"/>
                </a:solidFill>
              </a:rPr>
              <a:t>首先，大家需要理解，积分算子J是作用在“合法闭包”的外边界上的，它不会穿透内部结构去计算细节。这是一个非常重要的拓扑性质。</a:t>
            </a:r>
          </a:p>
          <a:p>
            <a:pPr algn="l" marL="0" indent="0">
              <a:lnSpc>
                <a:spcPct val="100000"/>
              </a:lnSpc>
            </a:pPr>
            <a:r>
              <a:rPr lang="en-US" b="false" i="false" strike="noStrike" u="none" sz="1400">
                <a:solidFill>
                  <a:srgbClr val="000000"/>
                </a:solidFill>
              </a:rPr>
              <a:t>我们来看下方的表格，它清晰地展示了不同拓扑关系下的积分结果：</a:t>
            </a:r>
          </a:p>
          <a:p>
            <a:pPr algn="l" marL="0" indent="0">
              <a:lnSpc>
                <a:spcPct val="100000"/>
              </a:lnSpc>
            </a:pPr>
            <a:r>
              <a:rPr lang="en-US" b="false" i="false" strike="noStrike" u="none" sz="1400">
                <a:solidFill>
                  <a:srgbClr val="000000"/>
                </a:solidFill>
              </a:rPr>
              <a:t>无论是全等重叠、内部相交还是边界贴合，只要两个闭包不是完全分开的，先合并再积分，与先积分再相加，结果都是不相等的。这是因为内部的重叠区域会被重复计算，或者共享的边界会因为方向相反而相互抵消。</a:t>
            </a:r>
          </a:p>
          <a:p>
            <a:pPr algn="l" marL="0" indent="0">
              <a:lnSpc>
                <a:spcPct val="100000"/>
              </a:lnSpc>
            </a:pPr>
            <a:r>
              <a:rPr lang="en-US" b="false" i="false" strike="noStrike" u="none" sz="1400">
                <a:solidFill>
                  <a:srgbClr val="000000"/>
                </a:solidFill>
              </a:rPr>
              <a:t>只有在“严格分离”的情况下，两者才相等。这告诉我们，在进行分块计算时，必须确保各个块之间没有任何接触，否则就会产生计算误差。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这一页是第四章的过渡页，我们将进入“三维DCG与q-变形空间”的探讨。</a:t>
            </a:r>
          </a:p>
          <a:p>
            <a:pPr algn="l" marL="0" indent="0">
              <a:lnSpc>
                <a:spcPct val="100000"/>
              </a:lnSpc>
            </a:pPr>
            <a:r>
              <a:rPr lang="en-US" b="false" i="false" strike="noStrike" u="none" sz="1400">
                <a:solidFill>
                  <a:srgbClr val="000000"/>
                </a:solidFill>
              </a:rPr>
              <a:t>在这一章节中，我们将不再局限于传统的二维平面，而是深入到三维数字生成的世界。重点会介绍DCG技术的应用，以及它如何与数学上的q-变形理论相结合，创造出独特的空间美学。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本页重点介绍了q-变形代数元的基本概念及其在复定坐标中的应用。</a:t>
            </a:r>
          </a:p>
          <a:p>
            <a:pPr algn="l" marL="0" indent="0">
              <a:lnSpc>
                <a:spcPct val="100000"/>
              </a:lnSpc>
            </a:pPr>
            <a:r>
              <a:rPr lang="en-US" b="false" i="false" strike="noStrike" u="none" sz="1400">
                <a:solidFill>
                  <a:srgbClr val="000000"/>
                </a:solidFill>
              </a:rPr>
              <a:t>首先，我们从代数定义出发，通过一个二次方程引入了ω_q，并指出了当q取0时，它退化为我们熟悉的三次单位根，这是理解整个变形理论的基础。</a:t>
            </a:r>
          </a:p>
          <a:p>
            <a:pPr algn="l" marL="0" indent="0">
              <a:lnSpc>
                <a:spcPct val="100000"/>
              </a:lnSpc>
            </a:pPr>
            <a:r>
              <a:rPr lang="en-US" b="false" i="false" strike="noStrike" u="none" sz="1400">
                <a:solidFill>
                  <a:srgbClr val="000000"/>
                </a:solidFill>
              </a:rPr>
              <a:t>其次，我们展示了如何利用这个代数元构造复定坐标，将三维空间中的点转化为复数域中的元素，这是一种非常紧凑且优雅的表示方式。</a:t>
            </a:r>
          </a:p>
          <a:p>
            <a:pPr algn="l" marL="0" indent="0">
              <a:lnSpc>
                <a:spcPct val="100000"/>
              </a:lnSpc>
            </a:pPr>
            <a:r>
              <a:rPr lang="en-US" b="false" i="false" strike="noStrike" u="none" sz="1400">
                <a:solidFill>
                  <a:srgbClr val="000000"/>
                </a:solidFill>
              </a:rPr>
              <a:t>最后，从几何角度看，这对应着一个商空间的构造。通过去除映射的核（一个一维子空间），我们得到了一个二维的复平面，这个过程本质上是对三维空间中循环对称性的一种编码，且没有引入额外的维度，保持了理论的简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这一页我们深入探讨广义轮换算子 R_q。</a:t>
            </a:r>
          </a:p>
          <a:p>
            <a:pPr algn="l" marL="0" indent="0">
              <a:lnSpc>
                <a:spcPct val="100000"/>
              </a:lnSpc>
            </a:pPr>
            <a:r>
              <a:rPr lang="en-US" b="false" i="false" strike="noStrike" u="none" sz="1400">
                <a:solidFill>
                  <a:srgbClr val="000000"/>
                </a:solidFill>
              </a:rPr>
              <a:t>大家请看左侧的示意图，这是一个在三维笛卡尔坐标系下的几何直观。紫色的立方体代表了空间中的一个基本单元。R_q 算子本质上是一个线性变换，它不仅仅是简单的坐标轮换，更引入了参数 q 来调节变换的程度。</a:t>
            </a:r>
          </a:p>
          <a:p>
            <a:pPr algn="l" marL="0" indent="0">
              <a:lnSpc>
                <a:spcPct val="100000"/>
              </a:lnSpc>
            </a:pPr>
            <a:r>
              <a:rPr lang="en-US" b="false" i="false" strike="noStrike" u="none" sz="1400">
                <a:solidFill>
                  <a:srgbClr val="000000"/>
                </a:solidFill>
              </a:rPr>
              <a:t>在右侧，我们给出了它的数学定义。其核心定义式揭示了它与特征值 ω_q 的关系。而在显式表达式中，我们可以清晰地看到坐标是如何被重新排列的：x 坐标受到 z 坐标和参数 q 的调制，这使得它不同于普通的置换矩阵。</a:t>
            </a:r>
          </a:p>
          <a:p>
            <a:pPr algn="l" marL="0" indent="0">
              <a:lnSpc>
                <a:spcPct val="100000"/>
              </a:lnSpc>
            </a:pPr>
            <a:r>
              <a:rPr lang="en-US" b="false" i="false" strike="noStrike" u="none" sz="1400">
                <a:solidFill>
                  <a:srgbClr val="000000"/>
                </a:solidFill>
              </a:rPr>
              <a:t>关于它的性质，有几点非常关键：首先，它是一个线性同胚，意味着它是可逆的，并且保持了空间的连续性；其次，当参数 q 取 0 时，它就退化成了我们熟悉的标准循环置换 (z, x, y)；最后，它的雅可比行列式为 1-q，这在研究体积元变换时非常重要。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这一页我们深入探讨三维几何闭包的主要类型及其数学表达。</a:t>
            </a:r>
          </a:p>
          <a:p>
            <a:pPr algn="l" marL="0" indent="0">
              <a:lnSpc>
                <a:spcPct val="100000"/>
              </a:lnSpc>
            </a:pPr>
            <a:r>
              <a:rPr lang="en-US" b="false" i="false" strike="noStrike" u="none" sz="1400">
                <a:solidFill>
                  <a:srgbClr val="000000"/>
                </a:solidFill>
              </a:rPr>
              <a:t>首先看左侧的示意图，我们将二维闭包扩展到三维主要有两种基础方式：上方的“柱状提升”是将二维截面沿Z轴刚性拉伸，形成规则的柱体结构，其特点是各层截面一致；下方的“填充拉伸”则更灵活，通过定义随Z轴变化的边界函数，实现内部的动态填充，适用于非规则的曲面或渐变体。</a:t>
            </a:r>
          </a:p>
          <a:p>
            <a:pPr algn="l" marL="0" indent="0">
              <a:lnSpc>
                <a:spcPct val="100000"/>
              </a:lnSpc>
            </a:pPr>
            <a:r>
              <a:rPr lang="en-US" b="false" i="false" strike="noStrike" u="none" sz="1400">
                <a:solidFill>
                  <a:srgbClr val="000000"/>
                </a:solidFill>
              </a:rPr>
              <a:t>右侧列出了四种核心类型：从基础的q-空间闭包定义出发，衍生出柱状提升与填充拉伸两种构造方法，最后通过闭包簇的概念，实现对复杂三维空间的模块化描述。这些理论为后续的三维建模和空间分析提供了坚实的数学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各位好，现在我们进入第五章的学习。</a:t>
            </a:r>
          </a:p>
          <a:p>
            <a:pPr algn="l" marL="0" indent="0">
              <a:lnSpc>
                <a:spcPct val="100000"/>
              </a:lnSpc>
            </a:pPr>
            <a:r>
              <a:rPr lang="en-US" b="false" i="false" strike="noStrike" u="none" sz="1400">
                <a:solidFill>
                  <a:srgbClr val="000000"/>
                </a:solidFill>
              </a:rPr>
              <a:t>这一章我们将重点探讨“互易性与判据”。互易性是线性无源系统的一个非常重要的特性，它描述了系统输入和输出之间的一种对称关系。</a:t>
            </a:r>
          </a:p>
          <a:p>
            <a:pPr algn="l" marL="0" indent="0">
              <a:lnSpc>
                <a:spcPct val="100000"/>
              </a:lnSpc>
            </a:pPr>
            <a:r>
              <a:rPr lang="en-US" b="false" i="false" strike="noStrike" u="none" sz="1400">
                <a:solidFill>
                  <a:srgbClr val="000000"/>
                </a:solidFill>
              </a:rPr>
              <a:t>我们将从互易定理的基本形式出发，深入理解其物理意义，并学习如何利用判据来快速判断一个系统是否满足互易性。这不仅是理论分析的基础，在实际的电路设计、信号处理以及网络分析中都有着广泛的应用。</a:t>
            </a:r>
          </a:p>
          <a:p>
            <a:pPr algn="l" marL="0" indent="0">
              <a:lnSpc>
                <a:spcPct val="100000"/>
              </a:lnSpc>
            </a:pPr>
            <a:r>
              <a:rPr lang="en-US" b="false" i="false" strike="noStrike" u="none" sz="1400">
                <a:solidFill>
                  <a:srgbClr val="000000"/>
                </a:solidFill>
              </a:rPr>
              <a:t>让我们一起开始这一章的探索。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这一页我们深入探讨复定互易性与柱状提升定理的核心内容。</a:t>
            </a:r>
          </a:p>
          <a:p>
            <a:pPr algn="l" marL="0" indent="0">
              <a:lnSpc>
                <a:spcPct val="100000"/>
              </a:lnSpc>
            </a:pPr>
            <a:r>
              <a:rPr lang="en-US" b="false" i="false" strike="noStrike" u="none" sz="1400">
                <a:solidFill>
                  <a:srgbClr val="000000"/>
                </a:solidFill>
              </a:rPr>
              <a:t>首先，我们看左侧的互补子闭包构造，它是将二维平面的结构向三维进行自然的拓展和继承。中间部分展示了内涵复定积分算子，这是连接曲线与微分形式的关键桥梁。右侧则是定理的核心判定条件，明确了从二维到三维互易性成立的前提。</a:t>
            </a:r>
          </a:p>
          <a:p>
            <a:pPr algn="l" marL="0" indent="0">
              <a:lnSpc>
                <a:spcPct val="100000"/>
              </a:lnSpc>
            </a:pPr>
            <a:r>
              <a:rPr lang="en-US" b="false" i="false" strike="noStrike" u="none" sz="1400">
                <a:solidFill>
                  <a:srgbClr val="000000"/>
                </a:solidFill>
              </a:rPr>
              <a:t>中间的公式给出了定量的数学表达，展示了算子之间的张量积关系。最后，底部的推论非常重要，它指出了这一性质的拓扑不变性，即不依赖于具体的曲率参数q，这为我们后续的高维研究提供了重要的理论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本页重点阐述了线性斜率填充体的数学基础及其参数簇的核心特性。</a:t>
            </a:r>
          </a:p>
          <a:p>
            <a:pPr algn="l" marL="0" indent="0">
              <a:lnSpc>
                <a:spcPct val="100000"/>
              </a:lnSpc>
            </a:pPr>
            <a:r>
              <a:rPr lang="en-US" b="false" i="false" strike="noStrike" u="none" sz="1400">
                <a:solidFill>
                  <a:srgbClr val="000000"/>
                </a:solidFill>
              </a:rPr>
              <a:t>首先，我们定义了一个基础的线性映射 Φ(x, y, z)，它不仅是一个简单的坐标变换，更重要的是它具备了自动吸收线性交叉耦合项的能力，这使得系统在面对耦合干扰时依然能保持结构的稳定性。同时，这个映射的互易性与斜率参数 kx、ky 无关，这为后续参数的动态变化提供了坚实的理论基础。</a:t>
            </a:r>
          </a:p>
          <a:p>
            <a:pPr algn="l" marL="0" indent="0">
              <a:lnSpc>
                <a:spcPct val="100000"/>
              </a:lnSpc>
            </a:pPr>
            <a:r>
              <a:rPr lang="en-US" b="false" i="false" strike="noStrike" u="none" sz="1400">
                <a:solidFill>
                  <a:srgbClr val="000000"/>
                </a:solidFill>
              </a:rPr>
              <a:t>其次，我们引入了参数簇的概念。这里的关键在于参数不再是固定的数值，而是随着递归深度或空间位置动态变化的函数，这直接将参数空间扩展到了无穷维函数空间，大大增强了模型的表达能力。</a:t>
            </a:r>
          </a:p>
          <a:p>
            <a:pPr algn="l" marL="0" indent="0">
              <a:lnSpc>
                <a:spcPct val="100000"/>
              </a:lnSpc>
            </a:pPr>
            <a:r>
              <a:rPr lang="en-US" b="false" i="false" strike="noStrike" u="none" sz="1400">
                <a:solidFill>
                  <a:srgbClr val="000000"/>
                </a:solidFill>
              </a:rPr>
              <a:t>最后，必须强调的是，为了保证数学上的严谨性，特别是在处理无穷递归和极限积分时，必须引入公理 Ⅴ 来确保积分的收敛性，避免出现发散问题，这是构建稳定填充体结构的数学前提。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这一页是我们的第六章，我们将进入“空间域整体变换”的学习。</a:t>
            </a:r>
          </a:p>
          <a:p>
            <a:pPr algn="l" marL="0" indent="0">
              <a:lnSpc>
                <a:spcPct val="100000"/>
              </a:lnSpc>
            </a:pPr>
            <a:r>
              <a:rPr lang="en-US" b="false" i="false" strike="noStrike" u="none" sz="1400">
                <a:solidFill>
                  <a:srgbClr val="000000"/>
                </a:solidFill>
              </a:rPr>
              <a:t>如果说前面的章节关注的是像素值本身的变化，那么这一章我们将关注图像的几何结构变化。空间域变换是图像处理中非常基础且重要的一环，它不仅仅是简单的放大或缩小图片，更深层次地，它涉及到图像坐标系统的映射与重构。</a:t>
            </a:r>
          </a:p>
          <a:p>
            <a:pPr algn="l" marL="0" indent="0">
              <a:lnSpc>
                <a:spcPct val="100000"/>
              </a:lnSpc>
            </a:pPr>
            <a:r>
              <a:rPr lang="en-US" b="false" i="false" strike="noStrike" u="none" sz="1400">
                <a:solidFill>
                  <a:srgbClr val="000000"/>
                </a:solidFill>
              </a:rPr>
              <a:t>在这一章，我们将重点探讨几种核心的变换方式：从最基础的刚性变换（如平移、旋转），到仿射变换，再到更复杂的透视变换。这些技术在实际应用中非常广泛，比如我们日常使用的手机拍照中的防抖、全景拼接，以及高级的计算机视觉任务如目标检测中的图像对齐等，都离不开空间域变换的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这一页我们来深入探讨无穷谱系的四个层级。</a:t>
            </a:r>
          </a:p>
          <a:p>
            <a:pPr algn="l" marL="0" indent="0">
              <a:lnSpc>
                <a:spcPct val="100000"/>
              </a:lnSpc>
            </a:pPr>
            <a:r>
              <a:rPr lang="en-US" b="false" i="false" strike="noStrike" u="none" sz="1400">
                <a:solidFill>
                  <a:srgbClr val="000000"/>
                </a:solidFill>
              </a:rPr>
              <a:t>首先，请看表格中的四个层级，它们分别是递归无穷、参数无穷、并置无穷和表示无穷。每一层级都有其独特的来源、承载空间和控制手段。例如，递归无穷源于迭代深度的无限延伸，而表示无穷则涉及到伽罗瓦表示层的数量递增。</a:t>
            </a:r>
          </a:p>
          <a:p>
            <a:pPr algn="l" marL="0" indent="0">
              <a:lnSpc>
                <a:spcPct val="100000"/>
              </a:lnSpc>
            </a:pPr>
            <a:r>
              <a:rPr lang="en-US" b="false" i="false" strike="noStrike" u="none" sz="1400">
                <a:solidFill>
                  <a:srgbClr val="000000"/>
                </a:solidFill>
              </a:rPr>
              <a:t>大家需要特别注意底部的核心原则：无论层级如何上升，底流形始终固定在三维欧几里得空间R³。这意味着无穷性并非来自空间维度的增加，而是源于规则本身的多样性和自洽性构造。这是我们理解整个谱系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这一页我们来深入探讨子域之间的四种基本拓扑关系，这是理解空间域分解的基础。</a:t>
            </a:r>
          </a:p>
          <a:p>
            <a:pPr algn="l" marL="0" indent="0">
              <a:lnSpc>
                <a:spcPct val="100000"/>
              </a:lnSpc>
            </a:pPr>
            <a:r>
              <a:rPr lang="en-US" b="false" i="false" strike="noStrike" u="none" sz="1400">
                <a:solidFill>
                  <a:srgbClr val="000000"/>
                </a:solidFill>
              </a:rPr>
              <a:t>大家看左边的图示，我们将两个子域D1和D2的关系归纳为四类：</a:t>
            </a:r>
          </a:p>
          <a:p>
            <a:pPr algn="l" marL="0" indent="0">
              <a:lnSpc>
                <a:spcPct val="100000"/>
              </a:lnSpc>
            </a:pPr>
            <a:r>
              <a:rPr lang="en-US" b="false" i="false" strike="noStrike" u="none" sz="1400">
                <a:solidFill>
                  <a:srgbClr val="000000"/>
                </a:solidFill>
              </a:rPr>
              <a:t>第一类是全等重叠，也就是两个区域完全重合，这是一种特殊的等价关系。</a:t>
            </a:r>
          </a:p>
          <a:p>
            <a:pPr algn="l" marL="0" indent="0">
              <a:lnSpc>
                <a:spcPct val="100000"/>
              </a:lnSpc>
            </a:pPr>
            <a:r>
              <a:rPr lang="en-US" b="false" i="false" strike="noStrike" u="none" sz="1400">
                <a:solidFill>
                  <a:srgbClr val="000000"/>
                </a:solidFill>
              </a:rPr>
              <a:t>第二类是内部相交，它们的内部区域有重叠，但边界并没有直接接触。</a:t>
            </a:r>
          </a:p>
          <a:p>
            <a:pPr algn="l" marL="0" indent="0">
              <a:lnSpc>
                <a:spcPct val="100000"/>
              </a:lnSpc>
            </a:pPr>
            <a:r>
              <a:rPr lang="en-US" b="false" i="false" strike="noStrike" u="none" sz="1400">
                <a:solidFill>
                  <a:srgbClr val="000000"/>
                </a:solidFill>
              </a:rPr>
              <a:t>第三类是边界贴合，这是一种邻接关系，它们共享一条边界，但内部并不重叠。</a:t>
            </a:r>
          </a:p>
          <a:p>
            <a:pPr algn="l" marL="0" indent="0">
              <a:lnSpc>
                <a:spcPct val="100000"/>
              </a:lnSpc>
            </a:pPr>
            <a:r>
              <a:rPr lang="en-US" b="false" i="false" strike="noStrike" u="none" sz="1400">
                <a:solidFill>
                  <a:srgbClr val="000000"/>
                </a:solidFill>
              </a:rPr>
              <a:t>第四类是严格分离，两个区域在空间上完全独立，没有任何交集。</a:t>
            </a:r>
          </a:p>
          <a:p>
            <a:pPr algn="l" marL="0" indent="0">
              <a:lnSpc>
                <a:spcPct val="100000"/>
              </a:lnSpc>
            </a:pPr>
            <a:r>
              <a:rPr lang="en-US" b="false" i="false" strike="noStrike" u="none" sz="1400">
                <a:solidFill>
                  <a:srgbClr val="000000"/>
                </a:solidFill>
              </a:rPr>
              <a:t>这四类关系是互斥且穷尽的，构成了我们进行空间拓扑分析的基础。特别是在进行积分运算时，这四类关系决定了计算的方式：只有严格分离的子域，积分才具有可加性；而对于其他三种情况，我们需要特别注意处理它们的公共边界，避免重复计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各位好，这一页我们深入探讨DCG三维无穷空间域的拓扑结构。</a:t>
            </a:r>
          </a:p>
          <a:p>
            <a:pPr algn="l" marL="0" indent="0">
              <a:lnSpc>
                <a:spcPct val="100000"/>
              </a:lnSpc>
            </a:pPr>
            <a:r>
              <a:rPr lang="en-US" b="false" i="false" strike="noStrike" u="none" sz="1400">
                <a:solidFill>
                  <a:srgbClr val="000000"/>
                </a:solidFill>
              </a:rPr>
              <a:t>大家看左侧的示意图，这展示了一个典型的平凡纤维丛结构。底部的方块群代表底空间D，也就是我们的合法子域族；上方的圆形代表每一点对应的纤维，即二维复q-商结构R(ω_q)。它们之间的直积关系构成了整个空间域。</a:t>
            </a:r>
          </a:p>
          <a:p>
            <a:pPr algn="l" marL="0" indent="0">
              <a:lnSpc>
                <a:spcPct val="100000"/>
              </a:lnSpc>
            </a:pPr>
            <a:r>
              <a:rPr lang="en-US" b="false" i="false" strike="noStrike" u="none" sz="1400">
                <a:solidFill>
                  <a:srgbClr val="000000"/>
                </a:solidFill>
              </a:rPr>
              <a:t>右侧的命题6.3给出了严格的数学表述。这种结构的核心在于“平凡性”——因为局部是连通且无阻碍的，所以整体结构是稳定且易于分析的。这为我们后续研究空间域的变换和性质奠定了坚实的拓扑学基础。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本页介绍了空间域高斯消元判定算法的核心步骤。</a:t>
            </a:r>
          </a:p>
          <a:p>
            <a:pPr algn="l" marL="0" indent="0">
              <a:lnSpc>
                <a:spcPct val="100000"/>
              </a:lnSpc>
            </a:pPr>
            <a:r>
              <a:rPr lang="en-US" b="false" i="false" strike="noStrike" u="none" sz="1400">
                <a:solidFill>
                  <a:srgbClr val="000000"/>
                </a:solidFill>
              </a:rPr>
              <a:t>算法分为五个关键步骤：首先构造增广矩阵，然后进行保持拓扑同胚的可逆行化简。接着通过主元分离参数进行粗判定，若处于临界值则进入精细判别阶段，最终输出唯一的拓扑关系。</a:t>
            </a:r>
          </a:p>
          <a:p>
            <a:pPr algn="l" marL="0" indent="0">
              <a:lnSpc>
                <a:spcPct val="100000"/>
              </a:lnSpc>
            </a:pPr>
            <a:r>
              <a:rPr lang="en-US" b="false" i="false" strike="noStrike" u="none" sz="1400">
                <a:solidFill>
                  <a:srgbClr val="000000"/>
                </a:solidFill>
              </a:rPr>
              <a:t>特别强调的是，该算法利用有限支撑约束保证了路径无关性，这是算法鲁棒性的基础。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这一页我们深入探讨表示层筛选器与解陪域的核心概念。</a:t>
            </a:r>
          </a:p>
          <a:p>
            <a:pPr algn="l" marL="0" indent="0">
              <a:lnSpc>
                <a:spcPct val="100000"/>
              </a:lnSpc>
            </a:pPr>
            <a:r>
              <a:rPr lang="en-US" b="false" i="false" strike="noStrike" u="none" sz="1400">
                <a:solidFill>
                  <a:srgbClr val="000000"/>
                </a:solidFill>
              </a:rPr>
              <a:t>首先，伽罗瓦表示层为我们提供了基础框架，每个二维实表示对应特定的子域族，这是筛选器的底层拓扑基础。不同的表示层可以有不同的缩半规则和紧致化程序。</a:t>
            </a:r>
          </a:p>
          <a:p>
            <a:pPr algn="l" marL="0" indent="0">
              <a:lnSpc>
                <a:spcPct val="100000"/>
              </a:lnSpc>
            </a:pPr>
            <a:r>
              <a:rPr lang="en-US" b="false" i="false" strike="noStrike" u="none" sz="1400">
                <a:solidFill>
                  <a:srgbClr val="000000"/>
                </a:solidFill>
              </a:rPr>
              <a:t>其次，我们关注循环上同调粘合障碍。这是判断局部结构能否粘合的关键。如果障碍类为0，说明可以无缝粘合；如果不为0，则必须引入解陪域来消除冲突。</a:t>
            </a:r>
          </a:p>
          <a:p>
            <a:pPr algn="l" marL="0" indent="0">
              <a:lnSpc>
                <a:spcPct val="100000"/>
              </a:lnSpc>
            </a:pPr>
            <a:r>
              <a:rPr lang="en-US" b="false" i="false" strike="noStrike" u="none" sz="1400">
                <a:solidFill>
                  <a:srgbClr val="000000"/>
                </a:solidFill>
              </a:rPr>
              <a:t>最后，解陪域的构造通过引入相位松弛参数，使得提升后的障碍类归零，从而形成合法的DCG闭包。</a:t>
            </a:r>
          </a:p>
          <a:p>
            <a:pPr algn="l" marL="0" indent="0">
              <a:lnSpc>
                <a:spcPct val="100000"/>
              </a:lnSpc>
            </a:pPr>
            <a:r>
              <a:rPr lang="en-US" b="false" i="false" strike="noStrike" u="none" sz="1400">
                <a:solidFill>
                  <a:srgbClr val="000000"/>
                </a:solidFill>
              </a:rPr>
              <a:t>底部的表格总结了三种主要情形：从无需要解陪域的零障碍，到需要有限维构造的挠障碍，再到依赖收敛性的非挠障碍，这为我们判断全局结构的合法性提供了清晰的依据。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各位好，现在我们进入第七个章节：无穷维度的统一构造。</a:t>
            </a:r>
          </a:p>
          <a:p>
            <a:pPr algn="l" marL="0" indent="0">
              <a:lnSpc>
                <a:spcPct val="100000"/>
              </a:lnSpc>
            </a:pPr>
            <a:r>
              <a:rPr lang="en-US" b="false" i="false" strike="noStrike" u="none" sz="1400">
                <a:solidFill>
                  <a:srgbClr val="000000"/>
                </a:solidFill>
              </a:rPr>
              <a:t>在前面的章节中，我们分别探讨了各个独立的维度和理论模型。而在这一章，我们将尝试打破这些界限，寻找它们之间的共性与联系。</a:t>
            </a:r>
          </a:p>
          <a:p>
            <a:pPr algn="l" marL="0" indent="0">
              <a:lnSpc>
                <a:spcPct val="100000"/>
              </a:lnSpc>
            </a:pPr>
            <a:r>
              <a:rPr lang="en-US" b="false" i="false" strike="noStrike" u="none" sz="1400">
                <a:solidFill>
                  <a:srgbClr val="000000"/>
                </a:solidFill>
              </a:rPr>
              <a:t>这里的“统一构造”不仅仅是理论上的整合，更是一种思维方式的升级，帮助我们理解不同尺度、不同领域下的底层规律是如何相互交织、相互印证的。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这一页我们深入探讨等比等差双模递推的数学结构。</a:t>
            </a:r>
          </a:p>
          <a:p>
            <a:pPr algn="l" marL="0" indent="0">
              <a:lnSpc>
                <a:spcPct val="100000"/>
              </a:lnSpc>
            </a:pPr>
            <a:r>
              <a:rPr lang="en-US" b="false" i="false" strike="noStrike" u="none" sz="1400">
                <a:solidFill>
                  <a:srgbClr val="000000"/>
                </a:solidFill>
              </a:rPr>
              <a:t>首先，大家看中间的核心公式，它由两部分组成：等比部分 r的k次方，以及等差部分 k乘以d。其中r是n次单位根，这保证了循环的特性。</a:t>
            </a:r>
          </a:p>
          <a:p>
            <a:pPr algn="l" marL="0" indent="0">
              <a:lnSpc>
                <a:spcPct val="100000"/>
              </a:lnSpc>
            </a:pPr>
            <a:r>
              <a:rPr lang="en-US" b="false" i="false" strike="noStrike" u="none" sz="1400">
                <a:solidFill>
                  <a:srgbClr val="000000"/>
                </a:solidFill>
              </a:rPr>
              <a:t>它有四个关键性质：</a:t>
            </a:r>
          </a:p>
          <a:p>
            <a:pPr algn="l" marL="0" indent="0">
              <a:lnSpc>
                <a:spcPct val="100000"/>
              </a:lnSpc>
            </a:pPr>
            <a:r>
              <a:rPr lang="en-US" b="false" i="false" strike="noStrike" u="none" sz="1400">
                <a:solidFill>
                  <a:srgbClr val="000000"/>
                </a:solidFill>
              </a:rPr>
              <a:t>第一是轮换闭合性，序列在平移后依然保持闭合；</a:t>
            </a:r>
          </a:p>
          <a:p>
            <a:pPr algn="l" marL="0" indent="0">
              <a:lnSpc>
                <a:spcPct val="100000"/>
              </a:lnSpc>
            </a:pPr>
            <a:r>
              <a:rPr lang="en-US" b="false" i="false" strike="noStrike" u="none" sz="1400">
                <a:solidFill>
                  <a:srgbClr val="000000"/>
                </a:solidFill>
              </a:rPr>
              <a:t>第二是循环对称骨架，这是满足公理Ⅱ互易性的几何基础；</a:t>
            </a:r>
          </a:p>
          <a:p>
            <a:pPr algn="l" marL="0" indent="0">
              <a:lnSpc>
                <a:spcPct val="100000"/>
              </a:lnSpc>
            </a:pPr>
            <a:r>
              <a:rPr lang="en-US" b="false" i="false" strike="noStrike" u="none" sz="1400">
                <a:solidFill>
                  <a:srgbClr val="000000"/>
                </a:solidFill>
              </a:rPr>
              <a:t>第三是结构稳定性，平移项不改变核心的对称骨架；</a:t>
            </a:r>
          </a:p>
          <a:p>
            <a:pPr algn="l" marL="0" indent="0">
              <a:lnSpc>
                <a:spcPct val="100000"/>
              </a:lnSpc>
            </a:pPr>
            <a:r>
              <a:rPr lang="en-US" b="false" i="false" strike="noStrike" u="none" sz="1400">
                <a:solidFill>
                  <a:srgbClr val="000000"/>
                </a:solidFill>
              </a:rPr>
              <a:t>第四是解陪域适配，通过参数η来调节不同层级的匹配。</a:t>
            </a:r>
          </a:p>
          <a:p>
            <a:pPr algn="l" marL="0" indent="0">
              <a:lnSpc>
                <a:spcPct val="100000"/>
              </a:lnSpc>
            </a:pPr>
            <a:r>
              <a:rPr lang="en-US" b="false" i="false" strike="noStrike" u="none" sz="1400">
                <a:solidFill>
                  <a:srgbClr val="000000"/>
                </a:solidFill>
              </a:rPr>
              <a:t>最后，请大家记住底部的核心逻辑：公理Ⅱ的判定只关注等比部分的对称性，平移部分是独立调节的。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各位好，我们现在进入第八章的学习。</a:t>
            </a:r>
          </a:p>
          <a:p>
            <a:pPr algn="l" marL="0" indent="0">
              <a:lnSpc>
                <a:spcPct val="100000"/>
              </a:lnSpc>
            </a:pPr>
            <a:r>
              <a:rPr lang="en-US" b="false" i="false" strike="noStrike" u="none" sz="1400">
                <a:solidFill>
                  <a:srgbClr val="000000"/>
                </a:solidFill>
              </a:rPr>
              <a:t>这一章节的主题是“矢量几何与复合构造”。在设计领域，尤其是在数字设计和平面设计中，矢量图形是非常基础且核心的概念。</a:t>
            </a:r>
          </a:p>
          <a:p>
            <a:pPr algn="l" marL="0" indent="0">
              <a:lnSpc>
                <a:spcPct val="100000"/>
              </a:lnSpc>
            </a:pPr>
            <a:r>
              <a:rPr lang="en-US" b="false" i="false" strike="noStrike" u="none" sz="1400">
                <a:solidFill>
                  <a:srgbClr val="000000"/>
                </a:solidFill>
              </a:rPr>
              <a:t>我们将从最基础的几何元素——点、线、面出发，探讨它们的组合逻辑和构造法则。同时，我们也会深入了解如何通过复合的方式，利用这些基础的几何元素构建出更加复杂、富有层次感和设计感的视觉形态。</a:t>
            </a:r>
          </a:p>
          <a:p>
            <a:pPr algn="l" marL="0" indent="0">
              <a:lnSpc>
                <a:spcPct val="100000"/>
              </a:lnSpc>
            </a:pPr>
            <a:r>
              <a:rPr lang="en-US" b="false" i="false" strike="noStrike" u="none" sz="1400">
                <a:solidFill>
                  <a:srgbClr val="000000"/>
                </a:solidFill>
              </a:rPr>
              <a:t>无论是在UI设计、插画创作还是品牌视觉中，掌握矢量几何的构造思维，都能帮助我们更精准、更理性地进行设计创作。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这一页我们深入探讨矢量场的三个关键特性：内蕴表达、互易性以及复合构造。</a:t>
            </a:r>
          </a:p>
          <a:p>
            <a:pPr algn="l" marL="0" indent="0">
              <a:lnSpc>
                <a:spcPct val="100000"/>
              </a:lnSpc>
            </a:pPr>
            <a:r>
              <a:rPr lang="en-US" b="false" i="false" strike="noStrike" u="none" sz="1400">
                <a:solidFill>
                  <a:srgbClr val="000000"/>
                </a:solidFill>
              </a:rPr>
              <a:t>首先看左侧，内蕴矢量场强调的是场在流形上的本征属性，通过切向和法向的分解，我们可以得到不依赖于具体坐标系的离散散度和旋度公式，这是计算几何中避免网格偏差的基础。</a:t>
            </a:r>
          </a:p>
          <a:p>
            <a:pPr algn="l" marL="0" indent="0">
              <a:lnSpc>
                <a:spcPct val="100000"/>
              </a:lnSpc>
            </a:pPr>
            <a:r>
              <a:rPr lang="en-US" b="false" i="false" strike="noStrike" u="none" sz="1400">
                <a:solidFill>
                  <a:srgbClr val="000000"/>
                </a:solidFill>
              </a:rPr>
              <a:t>中间部分是矢量互易性，这是一个非常优美的数学性质。它告诉我们，无论如何对场进行互补分裂，其核心的旋度和散度信息是守恒的，这保证了我们在处理复杂网格对偶性时的信息完整性。</a:t>
            </a:r>
          </a:p>
          <a:p>
            <a:pPr algn="l" marL="0" indent="0">
              <a:lnSpc>
                <a:spcPct val="100000"/>
              </a:lnSpc>
            </a:pPr>
            <a:r>
              <a:rPr lang="en-US" b="false" i="false" strike="noStrike" u="none" sz="1400">
                <a:solidFill>
                  <a:srgbClr val="000000"/>
                </a:solidFill>
              </a:rPr>
              <a:t>最后看右侧的复合构造，这是将理论应用于实际模型的关键。通过混合曲率空间的拼接和分形曲面的递归填充，我们能够构建出具有复杂几何结构的矢量场模型，这在处理非均匀介质或多尺度物理问题时非常有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各位好，接下来我们进入第九个章节——物理场论嵌入。</a:t>
            </a:r>
          </a:p>
          <a:p>
            <a:pPr algn="l" marL="0" indent="0">
              <a:lnSpc>
                <a:spcPct val="100000"/>
              </a:lnSpc>
            </a:pPr>
            <a:r>
              <a:rPr lang="en-US" b="false" i="false" strike="noStrike" u="none" sz="1400">
                <a:solidFill>
                  <a:srgbClr val="000000"/>
                </a:solidFill>
              </a:rPr>
              <a:t>这一章节的核心在于探讨如何将经典的物理场论数学框架，与现代深度学习中的嵌入技术相结合。我们将不再仅仅依赖纯数据驱动的黑盒模型，而是尝试引入物理规律作为先验知识，为嵌入空间赋予更深刻的物理意义和可解释性。</a:t>
            </a:r>
          </a:p>
          <a:p>
            <a:pPr algn="l" marL="0" indent="0">
              <a:lnSpc>
                <a:spcPct val="100000"/>
              </a:lnSpc>
            </a:pPr>
            <a:r>
              <a:rPr lang="en-US" b="false" i="false" strike="noStrike" u="none" sz="1400">
                <a:solidFill>
                  <a:srgbClr val="000000"/>
                </a:solidFill>
              </a:rPr>
              <a:t>这不仅能帮助我们更好地理解高维数据的内在结构，也能为模型的泛化能力和鲁棒性提供坚实的理论支撑。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这一页我们深入探讨离散场论的核心嵌入机制。</a:t>
            </a:r>
          </a:p>
          <a:p>
            <a:pPr algn="l" marL="0" indent="0">
              <a:lnSpc>
                <a:spcPct val="100000"/>
              </a:lnSpc>
            </a:pPr>
            <a:r>
              <a:rPr lang="en-US" b="false" i="false" strike="noStrike" u="none" sz="1400">
                <a:solidFill>
                  <a:srgbClr val="000000"/>
                </a:solidFill>
              </a:rPr>
              <a:t>首先，离散场量将连续的场值映射到离散的几何结构上，这是连接微观结构与宏观物理量的基础。而离散作用量则通过引入离散拉普拉斯算子，刻画了场在局部邻域的变化关系。</a:t>
            </a:r>
          </a:p>
          <a:p>
            <a:pPr algn="l" marL="0" indent="0">
              <a:lnSpc>
                <a:spcPct val="100000"/>
              </a:lnSpc>
            </a:pPr>
            <a:r>
              <a:rPr lang="en-US" b="false" i="false" strike="noStrike" u="none" sz="1400">
                <a:solidFill>
                  <a:srgbClr val="000000"/>
                </a:solidFill>
              </a:rPr>
              <a:t>中间的核心部分展示了一个关键的几何洞察：我们的底流形永远固定在三维空间，无穷性来源于场变量本身的自由度。这与传统的泛函分析不同，DCG空间域实现了从“定域跑态”到“定态跑域”的范式转换。</a:t>
            </a:r>
          </a:p>
          <a:p>
            <a:pPr algn="l" marL="0" indent="0">
              <a:lnSpc>
                <a:spcPct val="100000"/>
              </a:lnSpc>
            </a:pPr>
            <a:r>
              <a:rPr lang="en-US" b="false" i="false" strike="noStrike" u="none" sz="1400">
                <a:solidFill>
                  <a:srgbClr val="000000"/>
                </a:solidFill>
              </a:rPr>
              <a:t>最后，我们通过变分原理推导出运动方程，并强调了场论互易性的重要性，这保证了系统的对称性与物理上的可逆性。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各位好，接下来我们进入附录部分。</a:t>
            </a:r>
          </a:p>
          <a:p>
            <a:pPr algn="l" marL="0" indent="0">
              <a:lnSpc>
                <a:spcPct val="100000"/>
              </a:lnSpc>
            </a:pPr>
            <a:r>
              <a:rPr lang="en-US" b="false" i="false" strike="noStrike" u="none" sz="1400">
                <a:solidFill>
                  <a:srgbClr val="000000"/>
                </a:solidFill>
              </a:rPr>
              <a:t>这一部分为大家整理了全书的精华内容，包括速查表、术语表以及实例对照。无论您是需要快速回顾知识点，还是查阅专业术语的详细解释，亦或是通过实例加深理解，这里都能为您提供便捷的参考。</a:t>
            </a:r>
          </a:p>
          <a:p>
            <a:pPr algn="l" marL="0" indent="0">
              <a:lnSpc>
                <a:spcPct val="100000"/>
              </a:lnSpc>
            </a:pPr>
            <a:r>
              <a:rPr lang="en-US" b="false" i="false" strike="noStrike" u="none" sz="1400">
                <a:solidFill>
                  <a:srgbClr val="000000"/>
                </a:solidFill>
              </a:rPr>
              <a:t>希望这部分内容能成为您学习和工作中的实用工具。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本附录展示了不同层级拓展下的关键参数对照。</a:t>
            </a:r>
          </a:p>
          <a:p>
            <a:pPr algn="l" marL="0" indent="0">
              <a:lnSpc>
                <a:spcPct val="100000"/>
              </a:lnSpc>
            </a:pPr>
            <a:r>
              <a:rPr lang="en-US" b="false" i="false" strike="noStrike" u="none" sz="1400">
                <a:solidFill>
                  <a:srgbClr val="000000"/>
                </a:solidFill>
              </a:rPr>
              <a:t>从标准的零梯度柱状结构，到动态变化的参数簇和复杂的分形曲面，我们可以看到随着结构复杂性的增加，所需的积分算子和互易性判据也在相应地升级。</a:t>
            </a:r>
          </a:p>
          <a:p>
            <a:pPr algn="l" marL="0" indent="0">
              <a:lnSpc>
                <a:spcPct val="100000"/>
              </a:lnSpc>
            </a:pPr>
            <a:r>
              <a:rPr lang="en-US" b="false" i="false" strike="noStrike" u="none" sz="1400">
                <a:solidFill>
                  <a:srgbClr val="000000"/>
                </a:solidFill>
              </a:rPr>
              <a:t>特别是从标准柱状到参数簇的过渡，引入了梅林变换和更复杂的有限部分积分，这也对应着从基础公理到更高阶公理体系的适用范围扩展。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这一页展示了我们在研究中使用的核心术语表。</a:t>
            </a:r>
          </a:p>
          <a:p>
            <a:pPr algn="l" marL="0" indent="0">
              <a:lnSpc>
                <a:spcPct val="100000"/>
              </a:lnSpc>
            </a:pPr>
            <a:r>
              <a:rPr lang="en-US" b="false" i="false" strike="noStrike" u="none" sz="1400">
                <a:solidFill>
                  <a:srgbClr val="000000"/>
                </a:solidFill>
              </a:rPr>
              <a:t>左侧主要涵盖了关于“域”的基本概念，从全域的背景空间到具体的子域，以及描述子域特性的变量和闭包性质。</a:t>
            </a:r>
          </a:p>
          <a:p>
            <a:pPr algn="l" marL="0" indent="0">
              <a:lnSpc>
                <a:spcPct val="100000"/>
              </a:lnSpc>
            </a:pPr>
            <a:r>
              <a:rPr lang="en-US" b="false" i="false" strike="noStrike" u="none" sz="1400">
                <a:solidFill>
                  <a:srgbClr val="000000"/>
                </a:solidFill>
              </a:rPr>
              <a:t>右侧则深入到参数化、拓扑结构的细节，包括参数簇、解决拓扑冲突的解陪域，以及描述系统特性的各种维数概念。</a:t>
            </a:r>
          </a:p>
          <a:p>
            <a:pPr algn="l" marL="0" indent="0">
              <a:lnSpc>
                <a:spcPct val="100000"/>
              </a:lnSpc>
            </a:pPr>
            <a:r>
              <a:rPr lang="en-US" b="false" i="false" strike="noStrike" u="none" sz="1400">
                <a:solidFill>
                  <a:srgbClr val="000000"/>
                </a:solidFill>
              </a:rPr>
              <a:t>理解这些术语对于掌握后续的理论推导和模型构建至关重要。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本页展示了DCG模型与标准数值工具在不同场景下的表现对照。</a:t>
            </a:r>
          </a:p>
          <a:p>
            <a:pPr algn="l" marL="0" indent="0">
              <a:lnSpc>
                <a:spcPct val="100000"/>
              </a:lnSpc>
            </a:pPr>
            <a:r>
              <a:rPr lang="en-US" b="false" i="false" strike="noStrike" u="none" sz="1400">
                <a:solidFill>
                  <a:srgbClr val="000000"/>
                </a:solidFill>
              </a:rPr>
              <a:t>从表格中可以看到，在规则区域和常规变边界场景下，两者表现一致，DCG完全兼容标准工具的计算结果。而在处理分形边界这类复杂几何时，标准工具往往难以直接网格化，而DCG凭借其递归结构能够原生支持，这是其核心优势。</a:t>
            </a:r>
          </a:p>
          <a:p>
            <a:pPr algn="l" marL="0" indent="0">
              <a:lnSpc>
                <a:spcPct val="100000"/>
              </a:lnSpc>
            </a:pPr>
            <a:r>
              <a:rPr lang="en-US" b="false" i="false" strike="noStrike" u="none" sz="1400">
                <a:solidFill>
                  <a:srgbClr val="000000"/>
                </a:solidFill>
              </a:rPr>
              <a:t>此外，针对多体边界贴合的问题，DCG通过公理体系显式处理拓扑关系，避免了手动处理的繁琐。底部展示了实现这一功能的三个关键步骤：基础构造、验证以及自动消重，这保证了计算的严谨性和高效性。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感谢大家的聆听！我们今天探讨了离散构造几何的核心概念，希望这些内容能为大家在几何构造与公理体系的理解上带来新的启发。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5.xml" Type="http://schemas.openxmlformats.org/officeDocument/2006/relationships/notesSlide"/><Relationship Id="rId2" Target="../media/image7.png" Type="http://schemas.openxmlformats.org/officeDocument/2006/relationships/image"/><Relationship Id="rId3" Target="../media/image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4.xml" Type="http://schemas.openxmlformats.org/officeDocument/2006/relationships/notesSlide"/><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3.xml" Type="http://schemas.openxmlformats.org/officeDocument/2006/relationships/notesSlide"/><Relationship Id="rId3" Target="../media/image49.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1016000"/>
            <a:ext cx="3810000" cy="3810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0" y="4445000"/>
            <a:ext cx="5080000" cy="5080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286000"/>
            <a:ext cx="12192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333333"/>
                </a:solidFill>
                <a:latin typeface="Noto Sans SC"/>
                <a:ea typeface="Noto Sans SC"/>
                <a:cs typeface="Noto Sans SC"/>
                <a:sym typeface="Noto Sans SC"/>
              </a:rPr>
              <a:t>离散构造几何</a:t>
            </a:r>
            <a:endParaRPr lang="en-US" sz="1100"/>
          </a:p>
        </p:txBody>
      </p:sp>
      <p:sp>
        <p:nvSpPr>
          <p:cNvPr name="AutoShape 5" id="5"/>
          <p:cNvSpPr/>
          <p:nvPr/>
        </p:nvSpPr>
        <p:spPr>
          <a:xfrm rot="0" flipH="false" flipV="false">
            <a:off x="0" y="3556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5B3FD6"/>
                </a:solidFill>
                <a:latin typeface="Inter"/>
                <a:ea typeface="Inter"/>
                <a:cs typeface="Inter"/>
                <a:sym typeface="Inter"/>
              </a:rPr>
              <a:t>DCG</a:t>
            </a:r>
            <a:endParaRPr lang="en-US" sz="1100"/>
          </a:p>
        </p:txBody>
      </p:sp>
      <p:sp>
        <p:nvSpPr>
          <p:cNvPr name="AutoShape 6" id="6"/>
          <p:cNvSpPr/>
          <p:nvPr/>
        </p:nvSpPr>
        <p:spPr>
          <a:xfrm rot="0" flipH="false" flipV="false">
            <a:off x="2286000" y="5080000"/>
            <a:ext cx="7620000" cy="12700"/>
          </a:xfrm>
          <a:prstGeom prst="roundRect">
            <a:avLst>
              <a:gd name="adj" fmla="val 0"/>
            </a:avLst>
          </a:prstGeom>
          <a:solidFill>
            <a:srgbClr val="E5E5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5461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666666"/>
                </a:solidFill>
                <a:latin typeface="Noto Sans SC"/>
                <a:ea typeface="Noto Sans SC"/>
                <a:cs typeface="Noto Sans SC"/>
                <a:sym typeface="Noto Sans SC"/>
              </a:rPr>
              <a:t>元几何框架 · 五公理合法性体系</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541000" y="-381000"/>
            <a:ext cx="1778000" cy="1778000"/>
          </a:xfrm>
          <a:prstGeom prst="ellipse">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54000" y="5842000"/>
            <a:ext cx="1016000" cy="1016000"/>
          </a:xfrm>
          <a:prstGeom prst="ellipse">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254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5B3FD6"/>
                </a:solidFill>
                <a:latin typeface="Noto Sans SC"/>
                <a:ea typeface="Noto Sans SC"/>
                <a:cs typeface="Noto Sans SC"/>
                <a:sym typeface="Noto Sans SC"/>
              </a:rPr>
              <a:t>目录</a:t>
            </a:r>
            <a:endParaRPr lang="en-US" sz="1100"/>
          </a:p>
        </p:txBody>
      </p:sp>
      <p:sp>
        <p:nvSpPr>
          <p:cNvPr name="AutoShape 5" id="5"/>
          <p:cNvSpPr/>
          <p:nvPr/>
        </p:nvSpPr>
        <p:spPr>
          <a:xfrm rot="0" flipH="false" flipV="false">
            <a:off x="1016000" y="1778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01</a:t>
            </a:r>
            <a:r>
              <a:rPr lang="en-US" b="false" i="false" strike="noStrike" u="none" sz="2000">
                <a:solidFill>
                  <a:srgbClr val="333333"/>
                </a:solidFill>
                <a:latin typeface="Noto Sans SC"/>
                <a:ea typeface="Noto Sans SC"/>
                <a:cs typeface="Noto Sans SC"/>
                <a:sym typeface="Noto Sans SC"/>
              </a:rPr>
              <a:t>声明与公理体系</a:t>
            </a:r>
            <a:endParaRPr lang="en-US" sz="1100"/>
          </a:p>
        </p:txBody>
      </p:sp>
      <p:cxnSp>
        <p:nvCxnSpPr>
          <p:cNvPr name="Connector 6" id="6"/>
          <p:cNvCxnSpPr/>
          <p:nvPr/>
        </p:nvCxnSpPr>
        <p:spPr>
          <a:xfrm rot="-9046" flipH="false" flipV="false">
            <a:off x="1016008" y="24701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7" id="7"/>
          <p:cNvSpPr/>
          <p:nvPr/>
        </p:nvSpPr>
        <p:spPr>
          <a:xfrm rot="0" flipH="false" flipV="false">
            <a:off x="1016000" y="27305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02</a:t>
            </a:r>
            <a:r>
              <a:rPr lang="en-US" b="false" i="false" strike="noStrike" u="none" sz="2000">
                <a:solidFill>
                  <a:srgbClr val="333333"/>
                </a:solidFill>
                <a:latin typeface="Noto Sans SC"/>
                <a:ea typeface="Noto Sans SC"/>
                <a:cs typeface="Noto Sans SC"/>
                <a:sym typeface="Noto Sans SC"/>
              </a:rPr>
              <a:t>几何本体论</a:t>
            </a:r>
            <a:endParaRPr lang="en-US" sz="1100"/>
          </a:p>
        </p:txBody>
      </p:sp>
      <p:cxnSp>
        <p:nvCxnSpPr>
          <p:cNvPr name="Connector 8" id="8"/>
          <p:cNvCxnSpPr/>
          <p:nvPr/>
        </p:nvCxnSpPr>
        <p:spPr>
          <a:xfrm rot="-9046" flipH="false" flipV="false">
            <a:off x="1016008" y="34226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9" id="9"/>
          <p:cNvSpPr/>
          <p:nvPr/>
        </p:nvSpPr>
        <p:spPr>
          <a:xfrm rot="0" flipH="false" flipV="false">
            <a:off x="1016000" y="3683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03</a:t>
            </a:r>
            <a:r>
              <a:rPr lang="en-US" b="false" i="false" strike="noStrike" u="none" sz="2000">
                <a:solidFill>
                  <a:srgbClr val="333333"/>
                </a:solidFill>
                <a:latin typeface="Noto Sans SC"/>
                <a:ea typeface="Noto Sans SC"/>
                <a:cs typeface="Noto Sans SC"/>
                <a:sym typeface="Noto Sans SC"/>
              </a:rPr>
              <a:t>二维 DCG</a:t>
            </a:r>
            <a:endParaRPr lang="en-US" sz="1100"/>
          </a:p>
        </p:txBody>
      </p:sp>
      <p:cxnSp>
        <p:nvCxnSpPr>
          <p:cNvPr name="Connector 10" id="10"/>
          <p:cNvCxnSpPr/>
          <p:nvPr/>
        </p:nvCxnSpPr>
        <p:spPr>
          <a:xfrm rot="-9046" flipH="false" flipV="false">
            <a:off x="1016008" y="43751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1" id="11"/>
          <p:cNvSpPr/>
          <p:nvPr/>
        </p:nvSpPr>
        <p:spPr>
          <a:xfrm rot="0" flipH="false" flipV="false">
            <a:off x="1016000" y="46355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04</a:t>
            </a:r>
            <a:r>
              <a:rPr lang="en-US" b="false" i="false" strike="noStrike" u="none" sz="2000">
                <a:solidFill>
                  <a:srgbClr val="333333"/>
                </a:solidFill>
                <a:latin typeface="Noto Sans SC"/>
                <a:ea typeface="Noto Sans SC"/>
                <a:cs typeface="Noto Sans SC"/>
                <a:sym typeface="Noto Sans SC"/>
              </a:rPr>
              <a:t>三维 DCG 与 q-变形空间</a:t>
            </a:r>
            <a:endParaRPr lang="en-US" sz="1100"/>
          </a:p>
        </p:txBody>
      </p:sp>
      <p:cxnSp>
        <p:nvCxnSpPr>
          <p:cNvPr name="Connector 12" id="12"/>
          <p:cNvCxnSpPr/>
          <p:nvPr/>
        </p:nvCxnSpPr>
        <p:spPr>
          <a:xfrm rot="-9046" flipH="false" flipV="false">
            <a:off x="1016008" y="53276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3" id="13"/>
          <p:cNvSpPr/>
          <p:nvPr/>
        </p:nvSpPr>
        <p:spPr>
          <a:xfrm rot="0" flipH="false" flipV="false">
            <a:off x="1016000" y="5588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05</a:t>
            </a:r>
            <a:r>
              <a:rPr lang="en-US" b="false" i="false" strike="noStrike" u="none" sz="2000">
                <a:solidFill>
                  <a:srgbClr val="333333"/>
                </a:solidFill>
                <a:latin typeface="Noto Sans SC"/>
                <a:ea typeface="Noto Sans SC"/>
                <a:cs typeface="Noto Sans SC"/>
                <a:sym typeface="Noto Sans SC"/>
              </a:rPr>
              <a:t>互易性与判据</a:t>
            </a:r>
            <a:endParaRPr lang="en-US" sz="1100"/>
          </a:p>
        </p:txBody>
      </p:sp>
      <p:sp>
        <p:nvSpPr>
          <p:cNvPr name="AutoShape 14" id="14"/>
          <p:cNvSpPr/>
          <p:nvPr/>
        </p:nvSpPr>
        <p:spPr>
          <a:xfrm rot="0" flipH="false" flipV="false">
            <a:off x="6477000" y="1778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06</a:t>
            </a:r>
            <a:r>
              <a:rPr lang="en-US" b="false" i="false" strike="noStrike" u="none" sz="2000">
                <a:solidFill>
                  <a:srgbClr val="333333"/>
                </a:solidFill>
                <a:latin typeface="Noto Sans SC"/>
                <a:ea typeface="Noto Sans SC"/>
                <a:cs typeface="Noto Sans SC"/>
                <a:sym typeface="Noto Sans SC"/>
              </a:rPr>
              <a:t>空间域整体变换</a:t>
            </a:r>
            <a:endParaRPr lang="en-US" sz="1100"/>
          </a:p>
        </p:txBody>
      </p:sp>
      <p:cxnSp>
        <p:nvCxnSpPr>
          <p:cNvPr name="Connector 15" id="15"/>
          <p:cNvCxnSpPr/>
          <p:nvPr/>
        </p:nvCxnSpPr>
        <p:spPr>
          <a:xfrm rot="-9046" flipH="false" flipV="false">
            <a:off x="6477008" y="24701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6" id="16"/>
          <p:cNvSpPr/>
          <p:nvPr/>
        </p:nvSpPr>
        <p:spPr>
          <a:xfrm rot="0" flipH="false" flipV="false">
            <a:off x="6477000" y="29845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07</a:t>
            </a:r>
            <a:r>
              <a:rPr lang="en-US" b="false" i="false" strike="noStrike" u="none" sz="2000">
                <a:solidFill>
                  <a:srgbClr val="333333"/>
                </a:solidFill>
                <a:latin typeface="Noto Sans SC"/>
                <a:ea typeface="Noto Sans SC"/>
                <a:cs typeface="Noto Sans SC"/>
                <a:sym typeface="Noto Sans SC"/>
              </a:rPr>
              <a:t>无穷维度的统一构造</a:t>
            </a:r>
            <a:endParaRPr lang="en-US" sz="1100"/>
          </a:p>
        </p:txBody>
      </p:sp>
      <p:cxnSp>
        <p:nvCxnSpPr>
          <p:cNvPr name="Connector 17" id="17"/>
          <p:cNvCxnSpPr/>
          <p:nvPr/>
        </p:nvCxnSpPr>
        <p:spPr>
          <a:xfrm rot="-9046" flipH="false" flipV="false">
            <a:off x="6477008" y="36766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8" id="18"/>
          <p:cNvSpPr/>
          <p:nvPr/>
        </p:nvSpPr>
        <p:spPr>
          <a:xfrm rot="0" flipH="false" flipV="false">
            <a:off x="6477000" y="4191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08</a:t>
            </a:r>
            <a:r>
              <a:rPr lang="en-US" b="false" i="false" strike="noStrike" u="none" sz="2000">
                <a:solidFill>
                  <a:srgbClr val="333333"/>
                </a:solidFill>
                <a:latin typeface="Noto Sans SC"/>
                <a:ea typeface="Noto Sans SC"/>
                <a:cs typeface="Noto Sans SC"/>
                <a:sym typeface="Noto Sans SC"/>
              </a:rPr>
              <a:t>矢量几何与复合构造</a:t>
            </a:r>
            <a:endParaRPr lang="en-US" sz="1100"/>
          </a:p>
        </p:txBody>
      </p:sp>
      <p:cxnSp>
        <p:nvCxnSpPr>
          <p:cNvPr name="Connector 19" id="19"/>
          <p:cNvCxnSpPr/>
          <p:nvPr/>
        </p:nvCxnSpPr>
        <p:spPr>
          <a:xfrm rot="-9046" flipH="false" flipV="false">
            <a:off x="6477008" y="4883150"/>
            <a:ext cx="482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0" id="20"/>
          <p:cNvSpPr/>
          <p:nvPr/>
        </p:nvSpPr>
        <p:spPr>
          <a:xfrm rot="0" flipH="false" flipV="false">
            <a:off x="6477000" y="5334000"/>
            <a:ext cx="520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09</a:t>
            </a:r>
            <a:r>
              <a:rPr lang="en-US" b="false" i="false" strike="noStrike" u="none" sz="2000">
                <a:solidFill>
                  <a:srgbClr val="333333"/>
                </a:solidFill>
                <a:latin typeface="Noto Sans SC"/>
                <a:ea typeface="Noto Sans SC"/>
                <a:cs typeface="Noto Sans SC"/>
                <a:sym typeface="Noto Sans SC"/>
              </a:rPr>
              <a:t>物理场论嵌入</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E8E4F8">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E8E4F8">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2794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01</a:t>
            </a:r>
            <a:endParaRPr lang="en-US" sz="1100"/>
          </a:p>
        </p:txBody>
      </p:sp>
      <p:sp>
        <p:nvSpPr>
          <p:cNvPr name="AutoShape 5" id="5"/>
          <p:cNvSpPr/>
          <p:nvPr/>
        </p:nvSpPr>
        <p:spPr>
          <a:xfrm rot="0" flipH="false" flipV="false">
            <a:off x="3556000" y="2603500"/>
            <a:ext cx="25400" cy="2032000"/>
          </a:xfrm>
          <a:prstGeom prst="roundRect">
            <a:avLst>
              <a:gd name="adj" fmla="val 0"/>
            </a:avLst>
          </a:prstGeom>
          <a:solidFill>
            <a:srgbClr val="DCDCD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064000" y="2476500"/>
            <a:ext cx="736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333333"/>
                </a:solidFill>
                <a:latin typeface="Noto Sans SC"/>
                <a:ea typeface="Noto Sans SC"/>
                <a:cs typeface="Noto Sans SC"/>
                <a:sym typeface="Noto Sans SC"/>
              </a:rPr>
              <a:t>声明与公理体系</a:t>
            </a:r>
            <a:endParaRPr lang="en-US" sz="1100"/>
          </a:p>
        </p:txBody>
      </p:sp>
      <p:sp>
        <p:nvSpPr>
          <p:cNvPr name="AutoShape 7" id="7"/>
          <p:cNvSpPr/>
          <p:nvPr/>
        </p:nvSpPr>
        <p:spPr>
          <a:xfrm rot="0" flipH="false" flipV="false">
            <a:off x="4064000" y="3937000"/>
            <a:ext cx="7366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666666"/>
                </a:solidFill>
                <a:latin typeface="Noto Sans SC"/>
                <a:ea typeface="Noto Sans SC"/>
                <a:cs typeface="Noto Sans SC"/>
                <a:sym typeface="Noto Sans SC"/>
              </a:rPr>
              <a:t>公理是构建理论大厦的逻辑基石，声明则是共识达成的起点。本章将从无矛盾的基本假设出发，确立不可动摇的论证前提，为后续的逻辑推演与理论构建提供严密的底层支撑。</a:t>
            </a:r>
            <a:endParaRPr lang="en-US" sz="1100"/>
          </a:p>
        </p:txBody>
      </p:sp>
      <p:sp>
        <p:nvSpPr>
          <p:cNvPr name="AutoShape 8" id="8"/>
          <p:cNvSpPr/>
          <p:nvPr/>
        </p:nvSpPr>
        <p:spPr>
          <a:xfrm rot="0" flipH="false" flipV="false">
            <a:off x="1016000" y="5842000"/>
            <a:ext cx="10160000" cy="38100"/>
          </a:xfrm>
          <a:prstGeom prst="roundRect">
            <a:avLst>
              <a:gd name="adj" fmla="val 0"/>
            </a:avLst>
          </a:prstGeom>
          <a:solidFill>
            <a:srgbClr val="7E57C2">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体系定位与操作原则</a:t>
            </a:r>
            <a:endParaRPr lang="en-US" sz="1100"/>
          </a:p>
        </p:txBody>
      </p:sp>
      <p:sp>
        <p:nvSpPr>
          <p:cNvPr name="AutoShape 5" id="5"/>
          <p:cNvSpPr/>
          <p:nvPr/>
        </p:nvSpPr>
        <p:spPr>
          <a:xfrm rot="0" flipH="false" flipV="false">
            <a:off x="508000" y="1651000"/>
            <a:ext cx="3556000" cy="39370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3556000" cy="508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968500"/>
            <a:ext cx="406400" cy="406400"/>
          </a:xfrm>
          <a:prstGeom prst="rect">
            <a:avLst/>
          </a:prstGeom>
        </p:spPr>
      </p:pic>
      <p:sp>
        <p:nvSpPr>
          <p:cNvPr name="AutoShape 8" id="8"/>
          <p:cNvSpPr/>
          <p:nvPr/>
        </p:nvSpPr>
        <p:spPr>
          <a:xfrm rot="0" flipH="false" flipV="false">
            <a:off x="1270000" y="19685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5B3FD6"/>
                </a:solidFill>
                <a:latin typeface="Noto Sans SC"/>
                <a:ea typeface="Noto Sans SC"/>
                <a:cs typeface="Noto Sans SC"/>
                <a:sym typeface="Noto Sans SC"/>
              </a:rPr>
              <a:t>01 元几何判定框架</a:t>
            </a:r>
            <a:endParaRPr lang="en-US" sz="1100"/>
          </a:p>
        </p:txBody>
      </p:sp>
      <p:cxnSp>
        <p:nvCxnSpPr>
          <p:cNvPr name="Connector 9" id="9"/>
          <p:cNvCxnSpPr/>
          <p:nvPr/>
        </p:nvCxnSpPr>
        <p:spPr>
          <a:xfrm rot="-14323" flipH="false" flipV="false">
            <a:off x="762013" y="2597150"/>
            <a:ext cx="3048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10" id="10"/>
          <p:cNvSpPr/>
          <p:nvPr/>
        </p:nvSpPr>
        <p:spPr>
          <a:xfrm rot="0" flipH="false" flipV="false">
            <a:off x="762000" y="2794000"/>
            <a:ext cx="3048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333333"/>
                </a:solidFill>
                <a:latin typeface="Noto Sans SC"/>
                <a:ea typeface="Noto Sans SC"/>
                <a:cs typeface="Noto Sans SC"/>
                <a:sym typeface="Noto Sans SC"/>
              </a:rPr>
              <a:t>DCG 构建了一套严密的</a:t>
            </a:r>
            <a:r>
              <a:rPr lang="en-US" b="true" i="false" strike="noStrike" u="none" sz="1600">
                <a:solidFill>
                  <a:srgbClr val="5B3FD6"/>
                </a:solidFill>
                <a:latin typeface="Noto Sans SC"/>
                <a:ea typeface="Noto Sans SC"/>
                <a:cs typeface="Noto Sans SC"/>
                <a:sym typeface="Noto Sans SC"/>
              </a:rPr>
              <a:t>元几何框架</a:t>
            </a:r>
            <a:r>
              <a:rPr lang="en-US" b="false" i="false" strike="noStrike" u="none" sz="1600">
                <a:solidFill>
                  <a:srgbClr val="333333"/>
                </a:solidFill>
                <a:latin typeface="Noto Sans SC"/>
                <a:ea typeface="Noto Sans SC"/>
                <a:cs typeface="Noto Sans SC"/>
                <a:sym typeface="Noto Sans SC"/>
              </a:rPr>
              <a:t>，通过五条操作性公理确立了「合法几何闭包」的判定准则。任何几何构造，唯有满足这五条公理的约束条件，方可被体系承认为</a:t>
            </a:r>
            <a:r>
              <a:rPr lang="en-US" b="true" i="false" strike="noStrike" u="none" sz="1600">
                <a:solidFill>
                  <a:srgbClr val="5B3FD6"/>
                </a:solidFill>
                <a:latin typeface="Noto Sans SC"/>
                <a:ea typeface="Noto Sans SC"/>
                <a:cs typeface="Noto Sans SC"/>
                <a:sym typeface="Noto Sans SC"/>
              </a:rPr>
              <a:t>合法几何对象</a:t>
            </a:r>
            <a:r>
              <a:rPr lang="en-US" b="false" i="false" strike="noStrike" u="none" sz="1600">
                <a:solidFill>
                  <a:srgbClr val="333333"/>
                </a:solidFill>
                <a:latin typeface="Noto Sans SC"/>
                <a:ea typeface="Noto Sans SC"/>
                <a:cs typeface="Noto Sans SC"/>
                <a:sym typeface="Noto Sans SC"/>
              </a:rPr>
              <a:t>。</a:t>
            </a:r>
            <a:endParaRPr lang="en-US" sz="1100"/>
          </a:p>
        </p:txBody>
      </p:sp>
      <p:sp>
        <p:nvSpPr>
          <p:cNvPr name="AutoShape 11" id="11"/>
          <p:cNvSpPr/>
          <p:nvPr/>
        </p:nvSpPr>
        <p:spPr>
          <a:xfrm rot="0" flipH="false" flipV="false">
            <a:off x="4318000" y="1651000"/>
            <a:ext cx="3556000" cy="39370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318000" y="1651000"/>
            <a:ext cx="3556000" cy="508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1968500"/>
            <a:ext cx="406400" cy="406400"/>
          </a:xfrm>
          <a:prstGeom prst="rect">
            <a:avLst/>
          </a:prstGeom>
        </p:spPr>
      </p:pic>
      <p:sp>
        <p:nvSpPr>
          <p:cNvPr name="AutoShape 14" id="14"/>
          <p:cNvSpPr/>
          <p:nvPr/>
        </p:nvSpPr>
        <p:spPr>
          <a:xfrm rot="0" flipH="false" flipV="false">
            <a:off x="5080000" y="19685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5B3FD6"/>
                </a:solidFill>
                <a:latin typeface="Noto Sans SC"/>
                <a:ea typeface="Noto Sans SC"/>
                <a:cs typeface="Noto Sans SC"/>
                <a:sym typeface="Noto Sans SC"/>
              </a:rPr>
              <a:t>02 构造先于测量</a:t>
            </a:r>
            <a:endParaRPr lang="en-US" sz="1100"/>
          </a:p>
        </p:txBody>
      </p:sp>
      <p:cxnSp>
        <p:nvCxnSpPr>
          <p:cNvPr name="Connector 15" id="15"/>
          <p:cNvCxnSpPr/>
          <p:nvPr/>
        </p:nvCxnSpPr>
        <p:spPr>
          <a:xfrm rot="-14323" flipH="false" flipV="false">
            <a:off x="4572013" y="2597150"/>
            <a:ext cx="3048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16" id="16"/>
          <p:cNvSpPr/>
          <p:nvPr/>
        </p:nvSpPr>
        <p:spPr>
          <a:xfrm rot="0" flipH="false" flipV="false">
            <a:off x="4572000" y="2794000"/>
            <a:ext cx="3048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333333"/>
                </a:solidFill>
                <a:latin typeface="Noto Sans SC"/>
                <a:ea typeface="Noto Sans SC"/>
                <a:cs typeface="Noto Sans SC"/>
                <a:sym typeface="Noto Sans SC"/>
              </a:rPr>
              <a:t>确立了</a:t>
            </a:r>
            <a:r>
              <a:rPr lang="en-US" b="true" i="false" strike="noStrike" u="none" sz="1600">
                <a:solidFill>
                  <a:srgbClr val="5B3FD6"/>
                </a:solidFill>
                <a:latin typeface="Noto Sans SC"/>
                <a:ea typeface="Noto Sans SC"/>
                <a:cs typeface="Noto Sans SC"/>
                <a:sym typeface="Noto Sans SC"/>
              </a:rPr>
              <a:t>构造优先于测量</a:t>
            </a:r>
            <a:r>
              <a:rPr lang="en-US" b="false" i="false" strike="noStrike" u="none" sz="1600">
                <a:solidFill>
                  <a:srgbClr val="333333"/>
                </a:solidFill>
                <a:latin typeface="Noto Sans SC"/>
                <a:ea typeface="Noto Sans SC"/>
                <a:cs typeface="Noto Sans SC"/>
                <a:sym typeface="Noto Sans SC"/>
              </a:rPr>
              <a:t>的核心操作逻辑。几何闭包必须首先通过公理 Ⅰ–Ⅳ 的形式化检验，成为合格的几何实体后，才具备进行后续积分运算的前提资格，杜绝了对无效构造的直接计算。</a:t>
            </a:r>
            <a:endParaRPr lang="en-US" sz="1100"/>
          </a:p>
        </p:txBody>
      </p:sp>
      <p:sp>
        <p:nvSpPr>
          <p:cNvPr name="AutoShape 17" id="17"/>
          <p:cNvSpPr/>
          <p:nvPr/>
        </p:nvSpPr>
        <p:spPr>
          <a:xfrm rot="0" flipH="false" flipV="false">
            <a:off x="8128000" y="1651000"/>
            <a:ext cx="3556000" cy="39370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1651000"/>
            <a:ext cx="3556000" cy="508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1968500"/>
            <a:ext cx="406400" cy="406400"/>
          </a:xfrm>
          <a:prstGeom prst="rect">
            <a:avLst/>
          </a:prstGeom>
        </p:spPr>
      </p:pic>
      <p:sp>
        <p:nvSpPr>
          <p:cNvPr name="AutoShape 20" id="20"/>
          <p:cNvSpPr/>
          <p:nvPr/>
        </p:nvSpPr>
        <p:spPr>
          <a:xfrm rot="0" flipH="false" flipV="false">
            <a:off x="8890000" y="19685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5B3FD6"/>
                </a:solidFill>
                <a:latin typeface="Noto Sans SC"/>
                <a:ea typeface="Noto Sans SC"/>
                <a:cs typeface="Noto Sans SC"/>
                <a:sym typeface="Noto Sans SC"/>
              </a:rPr>
              <a:t>03 并置积分规范</a:t>
            </a:r>
            <a:endParaRPr lang="en-US" sz="1100"/>
          </a:p>
        </p:txBody>
      </p:sp>
      <p:cxnSp>
        <p:nvCxnSpPr>
          <p:cNvPr name="Connector 21" id="21"/>
          <p:cNvCxnSpPr/>
          <p:nvPr/>
        </p:nvCxnSpPr>
        <p:spPr>
          <a:xfrm rot="-14323" flipH="false" flipV="false">
            <a:off x="8382013" y="2597150"/>
            <a:ext cx="3048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22" id="22"/>
          <p:cNvSpPr/>
          <p:nvPr/>
        </p:nvSpPr>
        <p:spPr>
          <a:xfrm rot="0" flipH="false" flipV="false">
            <a:off x="8382000" y="2794000"/>
            <a:ext cx="3048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333333"/>
                </a:solidFill>
                <a:latin typeface="Noto Sans SC"/>
                <a:ea typeface="Noto Sans SC"/>
                <a:cs typeface="Noto Sans SC"/>
                <a:sym typeface="Noto Sans SC"/>
              </a:rPr>
              <a:t>针对几何并置场景制定严格规则：分离状态下积分可直接相加；若遇</a:t>
            </a:r>
            <a:r>
              <a:rPr lang="en-US" b="true" i="false" strike="noStrike" u="none" sz="1600">
                <a:solidFill>
                  <a:srgbClr val="5B3FD6"/>
                </a:solidFill>
                <a:latin typeface="Noto Sans SC"/>
                <a:ea typeface="Noto Sans SC"/>
                <a:cs typeface="Noto Sans SC"/>
                <a:sym typeface="Noto Sans SC"/>
              </a:rPr>
              <a:t>全等重叠、内部相交或边界贴合</a:t>
            </a:r>
            <a:r>
              <a:rPr lang="en-US" b="false" i="false" strike="noStrike" u="none" sz="1600">
                <a:solidFill>
                  <a:srgbClr val="333333"/>
                </a:solidFill>
                <a:latin typeface="Noto Sans SC"/>
                <a:ea typeface="Noto Sans SC"/>
                <a:cs typeface="Noto Sans SC"/>
                <a:sym typeface="Noto Sans SC"/>
              </a:rPr>
              <a:t>，必须先执行几何合并，消去共享内面与重复边界，再计算合并后的外边界积分，确保结果的唯一性。</a:t>
            </a:r>
            <a:endParaRPr lang="en-US" sz="1100"/>
          </a:p>
        </p:txBody>
      </p:sp>
      <p:sp>
        <p:nvSpPr>
          <p:cNvPr name="AutoShape 23" id="23"/>
          <p:cNvSpPr/>
          <p:nvPr/>
        </p:nvSpPr>
        <p:spPr>
          <a:xfrm rot="0" flipH="false" flipV="false">
            <a:off x="508000" y="5842000"/>
            <a:ext cx="11176000" cy="635000"/>
          </a:xfrm>
          <a:prstGeom prst="roundRect">
            <a:avLst>
              <a:gd name="adj" fmla="val 0"/>
            </a:avLst>
          </a:prstGeom>
          <a:solidFill>
            <a:srgbClr val="5B3FD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969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5B3FD6"/>
                </a:solidFill>
                <a:latin typeface="Noto Sans SC"/>
                <a:ea typeface="Noto Sans SC"/>
                <a:cs typeface="Noto Sans SC"/>
                <a:sym typeface="Noto Sans SC"/>
              </a:rPr>
              <a:t>核心价值：</a:t>
            </a:r>
            <a:r>
              <a:rPr lang="en-US" b="false" i="false" strike="noStrike" u="none" sz="1400">
                <a:solidFill>
                  <a:srgbClr val="555555"/>
                </a:solidFill>
                <a:latin typeface="Noto Sans SC"/>
                <a:ea typeface="Noto Sans SC"/>
                <a:cs typeface="Noto Sans SC"/>
                <a:sym typeface="Noto Sans SC"/>
              </a:rPr>
              <a:t>这套体系通过公理约束消除了几何运算中的逻辑歧义，为物理场分析、几何建模等领域提供了坚实的数学严谨性基础。</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3810000" cy="3810000"/>
          </a:xfrm>
          <a:prstGeom prst="ellipse">
            <a:avLst/>
          </a:prstGeom>
          <a:solidFill>
            <a:srgbClr val="5B3FD6">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795000" y="5080000"/>
            <a:ext cx="2540000" cy="2540000"/>
          </a:xfrm>
          <a:prstGeom prst="ellipse">
            <a:avLst/>
          </a:prstGeom>
          <a:solidFill>
            <a:srgbClr val="5B3FD6">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35000" y="1524000"/>
            <a:ext cx="457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333333"/>
                </a:solidFill>
                <a:latin typeface="Noto Sans SC"/>
                <a:ea typeface="Noto Sans SC"/>
                <a:cs typeface="Noto Sans SC"/>
                <a:sym typeface="Noto Sans SC"/>
              </a:rPr>
              <a:t>紧致闭包拓扑模型</a:t>
            </a:r>
            <a:endParaRPr lang="en-US" sz="1100"/>
          </a:p>
        </p:txBody>
      </p:sp>
      <p:sp>
        <p:nvSpPr>
          <p:cNvPr name="AutoShape 5" id="5"/>
          <p:cNvSpPr/>
          <p:nvPr/>
        </p:nvSpPr>
        <p:spPr>
          <a:xfrm rot="0" flipH="false" flipV="false">
            <a:off x="889000" y="2413000"/>
            <a:ext cx="3556000" cy="2794000"/>
          </a:xfrm>
          <a:prstGeom prst="ellipse">
            <a:avLst/>
          </a:prstGeom>
          <a:solidFill>
            <a:srgbClr val="FFFFFF">
              <a:alpha val="0"/>
            </a:srgbClr>
          </a:solidFill>
          <a:ln w="38100" cmpd="sng" cap="flat">
            <a:solidFill>
              <a:srgbClr val="5B3FD6">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600200" y="2971800"/>
            <a:ext cx="2133600" cy="1676400"/>
          </a:xfrm>
          <a:prstGeom prst="ellipse">
            <a:avLst/>
          </a:prstGeom>
          <a:solidFill>
            <a:srgbClr val="E8E4F8">
              <a:alpha val="100000"/>
            </a:srgbClr>
          </a:solidFill>
          <a:ln w="25400" cmpd="sng" cap="flat">
            <a:solidFill>
              <a:srgbClr val="5B3FD6">
                <a:alpha val="4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5397500"/>
            <a:ext cx="457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外轮廓：O (原几何闭包) | 内填充：H(O) (缩半闭包)</a:t>
            </a:r>
            <a:endParaRPr lang="en-US" sz="1100"/>
          </a:p>
        </p:txBody>
      </p:sp>
      <p:sp>
        <p:nvSpPr>
          <p:cNvPr name="AutoShape 8" id="8"/>
          <p:cNvSpPr/>
          <p:nvPr/>
        </p:nvSpPr>
        <p:spPr>
          <a:xfrm rot="0" flipH="false" flipV="false">
            <a:off x="5842000" y="1651000"/>
            <a:ext cx="6096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公理 Ⅰ 紧致性</a:t>
            </a:r>
            <a:endParaRPr lang="en-US" sz="1100"/>
          </a:p>
        </p:txBody>
      </p:sp>
      <p:cxnSp>
        <p:nvCxnSpPr>
          <p:cNvPr name="Connector 9" id="9"/>
          <p:cNvCxnSpPr/>
          <p:nvPr/>
        </p:nvCxnSpPr>
        <p:spPr>
          <a:xfrm rot="-9046" flipH="false" flipV="false">
            <a:off x="6604008" y="2660650"/>
            <a:ext cx="4826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10" id="10"/>
          <p:cNvSpPr/>
          <p:nvPr/>
        </p:nvSpPr>
        <p:spPr>
          <a:xfrm rot="0" flipH="false" flipV="false">
            <a:off x="5842000" y="2984500"/>
            <a:ext cx="6096000" cy="330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设几何闭包 O = ⟨Γ⟩ 为单一不可分构造。若满足：</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true" i="false" strike="noStrike" u="none" sz="1600">
                <a:solidFill>
                  <a:srgbClr val="5B3FD6"/>
                </a:solidFill>
                <a:latin typeface="Consolas"/>
                <a:ea typeface="Consolas"/>
                <a:cs typeface="Consolas"/>
                <a:sym typeface="Consolas"/>
              </a:rPr>
              <a:t>conv(Γ) = O ∧ dim(O) = rank(Γ)</a:t>
            </a:r>
            <a:r>
              <a:rPr lang="en-US" b="false" i="false" strike="noStrike" u="none" sz="1600">
                <a:solidFill>
                  <a:srgbClr val="1F2329"/>
                </a:solidFill>
                <a:latin typeface="Noto Sans SC"/>
                <a:ea typeface="Noto Sans SC"/>
                <a:cs typeface="Noto Sans SC"/>
                <a:sym typeface="Noto Sans SC"/>
              </a:rPr>
              <a:t/>
            </a:r>
          </a:p>
          <a:p>
            <a:pPr algn="ctr" marL="0" indent="0">
              <a:lnSpc>
                <a:spcPct val="125000"/>
              </a:lnSpc>
            </a:pPr>
            <a:r>
              <a:rPr lang="en-US" b="false" i="false" strike="noStrike" u="none" sz="1600">
                <a:solidFill>
                  <a:srgbClr val="333333"/>
                </a:solidFill>
                <a:latin typeface="Noto Sans SC"/>
                <a:ea typeface="Noto Sans SC"/>
                <a:cs typeface="Noto Sans SC"/>
                <a:sym typeface="Noto Sans SC"/>
              </a:rPr>
              <a:t>且缩半操作 H(O) 完全包含于 O 内部、不触及外部参照系，则称 O 是</a:t>
            </a:r>
            <a:r>
              <a:rPr lang="en-US" b="true" i="false" strike="noStrike" u="none" sz="1600">
                <a:solidFill>
                  <a:srgbClr val="5B3FD6"/>
                </a:solidFill>
                <a:latin typeface="Noto Sans SC"/>
                <a:ea typeface="Noto Sans SC"/>
                <a:cs typeface="Noto Sans SC"/>
                <a:sym typeface="Noto Sans SC"/>
              </a:rPr>
              <a:t>紧致闭包</a:t>
            </a:r>
            <a:r>
              <a:rPr lang="en-US" b="false" i="false" strike="noStrike" u="none" sz="1600">
                <a:solidFill>
                  <a:srgbClr val="333333"/>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ctr" marL="0" indent="0">
              <a:lnSpc>
                <a:spcPct val="125000"/>
              </a:lnSpc>
            </a:pPr>
            <a:r>
              <a:rPr lang="en-US" b="false" i="false" strike="noStrike" u="none" sz="1500">
                <a:solidFill>
                  <a:srgbClr val="808080"/>
                </a:solidFill>
                <a:latin typeface="Noto Sans SC"/>
                <a:ea typeface="Noto Sans SC"/>
                <a:cs typeface="Noto Sans SC"/>
                <a:sym typeface="Noto Sans SC"/>
              </a:rPr>
              <a:t>其核心特征在于构造的内蕴性与边界的封闭性，确保了在进行尺度变换时，结构的完整性不依赖于外部环境。</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1270000"/>
            <a:ext cx="508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555555"/>
                </a:solidFill>
                <a:latin typeface="Noto Sans SC"/>
                <a:ea typeface="Noto Sans SC"/>
                <a:cs typeface="Noto Sans SC"/>
                <a:sym typeface="Noto Sans SC"/>
              </a:rPr>
              <a:t>互补闭包的对称拓扑结构</a:t>
            </a:r>
            <a:endParaRPr lang="en-US" sz="1100"/>
          </a:p>
        </p:txBody>
      </p:sp>
      <p:cxnSp>
        <p:nvCxnSpPr>
          <p:cNvPr name="Connector 3" id="3"/>
          <p:cNvCxnSpPr/>
          <p:nvPr/>
        </p:nvCxnSpPr>
        <p:spPr>
          <a:xfrm rot="5384373" flipH="false" flipV="false">
            <a:off x="1524000" y="3803664"/>
            <a:ext cx="2794000" cy="12700"/>
          </a:xfrm>
          <a:prstGeom prst="line">
            <a:avLst/>
          </a:prstGeom>
          <a:solidFill>
            <a:srgbClr val="DEE0E3">
              <a:alpha val="100000"/>
            </a:srgbClr>
          </a:solidFill>
          <a:ln w="25400" cmpd="sng" cap="flat">
            <a:solidFill>
              <a:srgbClr val="B4B4B4">
                <a:alpha val="100000"/>
              </a:srgbClr>
            </a:solidFill>
            <a:prstDash val="dash"/>
            <a:round/>
            <a:headEnd type="none" w="lg" len="lg"/>
            <a:tailEnd type="none" w="lg" len="lg"/>
          </a:ln>
        </p:spPr>
      </p:cxnSp>
      <p:sp>
        <p:nvSpPr>
          <p:cNvPr name="AutoShape 4" id="4"/>
          <p:cNvSpPr/>
          <p:nvPr/>
        </p:nvSpPr>
        <p:spPr>
          <a:xfrm rot="0" flipH="false" flipV="false">
            <a:off x="1397000" y="2413000"/>
            <a:ext cx="1524000" cy="2794000"/>
          </a:xfrm>
          <a:prstGeom prst="triangle">
            <a:avLst/>
          </a:prstGeom>
          <a:solidFill>
            <a:srgbClr val="A8B8FF">
              <a:alpha val="100000"/>
            </a:srgbClr>
          </a:solidFill>
          <a:ln cmpd="sng" cap="flat">
            <a:solidFill>
              <a:srgbClr val="8093E6">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2921000" y="2413000"/>
            <a:ext cx="1524000" cy="2794000"/>
          </a:xfrm>
          <a:prstGeom prst="triangle">
            <a:avLst/>
          </a:prstGeom>
          <a:solidFill>
            <a:srgbClr val="C8B8FF">
              <a:alpha val="100000"/>
            </a:srgbClr>
          </a:solidFill>
          <a:ln cmpd="sng" cap="flat">
            <a:solidFill>
              <a:srgbClr val="A28FE6">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397000" y="3619500"/>
            <a:ext cx="1524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4154F2"/>
                </a:solidFill>
                <a:latin typeface="Noto Sans SC"/>
                <a:ea typeface="Noto Sans SC"/>
                <a:cs typeface="Noto Sans SC"/>
                <a:sym typeface="Noto Sans SC"/>
              </a:rPr>
              <a:t>O⁺</a:t>
            </a:r>
            <a:endParaRPr lang="en-US" sz="1100"/>
          </a:p>
        </p:txBody>
      </p:sp>
      <p:sp>
        <p:nvSpPr>
          <p:cNvPr name="AutoShape 7" id="7"/>
          <p:cNvSpPr/>
          <p:nvPr/>
        </p:nvSpPr>
        <p:spPr>
          <a:xfrm rot="0" flipH="false" flipV="false">
            <a:off x="2921000" y="3619500"/>
            <a:ext cx="1524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8B5CF6"/>
                </a:solidFill>
                <a:latin typeface="Noto Sans SC"/>
                <a:ea typeface="Noto Sans SC"/>
                <a:cs typeface="Noto Sans SC"/>
                <a:sym typeface="Noto Sans SC"/>
              </a:rPr>
              <a:t>O⁻</a:t>
            </a:r>
            <a:endParaRPr lang="en-US" sz="1100"/>
          </a:p>
        </p:txBody>
      </p:sp>
      <p:sp>
        <p:nvSpPr>
          <p:cNvPr name="AutoShape 8" id="8"/>
          <p:cNvSpPr/>
          <p:nvPr/>
        </p:nvSpPr>
        <p:spPr>
          <a:xfrm rot="0" flipH="false" flipV="false">
            <a:off x="508000" y="5651500"/>
            <a:ext cx="482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888888"/>
                </a:solidFill>
                <a:latin typeface="Noto Sans SC"/>
                <a:ea typeface="Noto Sans SC"/>
                <a:cs typeface="Noto Sans SC"/>
                <a:sym typeface="Noto Sans SC"/>
              </a:rPr>
              <a:t>注：左右两部分形态完全对称，代表度量空间中的镜像互补关系</a:t>
            </a:r>
            <a:endParaRPr lang="en-US" sz="1100"/>
          </a:p>
        </p:txBody>
      </p:sp>
      <p:sp>
        <p:nvSpPr>
          <p:cNvPr name="AutoShape 9" id="9"/>
          <p:cNvSpPr/>
          <p:nvPr/>
        </p:nvSpPr>
        <p:spPr>
          <a:xfrm rot="0" flipH="false" flipV="false">
            <a:off x="6096000" y="1397000"/>
            <a:ext cx="5588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公理 Ⅱ 互易性</a:t>
            </a:r>
            <a:endParaRPr lang="en-US" sz="1100"/>
          </a:p>
        </p:txBody>
      </p:sp>
      <p:sp>
        <p:nvSpPr>
          <p:cNvPr name="AutoShape 10" id="10"/>
          <p:cNvSpPr/>
          <p:nvPr/>
        </p:nvSpPr>
        <p:spPr>
          <a:xfrm rot="0" flipH="false" flipV="false">
            <a:off x="6731000" y="2540000"/>
            <a:ext cx="4318000" cy="25400"/>
          </a:xfrm>
          <a:prstGeom prst="roundRect">
            <a:avLst>
              <a:gd name="adj" fmla="val 0"/>
            </a:avLst>
          </a:prstGeom>
          <a:solidFill>
            <a:srgbClr val="5B3FD6">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096000" y="2857500"/>
            <a:ext cx="5588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设 O 为紧致闭包，其生成规则天然包含内在的分支结构。通过缩半操作 H，可自然诱导出两个互为镜像的互补派生子闭包 O⁺ 与 O⁻。</a:t>
            </a:r>
            <a:endParaRPr lang="en-US" sz="1100"/>
          </a:p>
        </p:txBody>
      </p:sp>
      <p:sp>
        <p:nvSpPr>
          <p:cNvPr name="AutoShape 12" id="12"/>
          <p:cNvSpPr/>
          <p:nvPr/>
        </p:nvSpPr>
        <p:spPr>
          <a:xfrm rot="0" flipH="false" flipV="false">
            <a:off x="6350000" y="4064000"/>
            <a:ext cx="5080000" cy="762000"/>
          </a:xfrm>
          <a:prstGeom prst="roundRect">
            <a:avLst>
              <a:gd name="adj" fmla="val 0"/>
            </a:avLst>
          </a:prstGeom>
          <a:solidFill>
            <a:srgbClr val="5B3FD6">
              <a:alpha val="6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0" y="4216400"/>
            <a:ext cx="508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5B3FD6"/>
                </a:solidFill>
                <a:latin typeface="Source Code Pro"/>
                <a:ea typeface="Source Code Pro"/>
                <a:cs typeface="Source Code Pro"/>
                <a:sym typeface="Source Code Pro"/>
              </a:rPr>
              <a:t>Mₖ(O⁺) = Mₖ(O⁻)</a:t>
            </a:r>
            <a:endParaRPr lang="en-US" sz="1100"/>
          </a:p>
        </p:txBody>
      </p:sp>
      <p:sp>
        <p:nvSpPr>
          <p:cNvPr name="AutoShape 14" id="14"/>
          <p:cNvSpPr/>
          <p:nvPr/>
        </p:nvSpPr>
        <p:spPr>
          <a:xfrm rot="0" flipH="false" flipV="false">
            <a:off x="6096000" y="5080000"/>
            <a:ext cx="5588000" cy="1206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若对规范内在度量族 {Mₖ} 中的每一非平凡度量，上述等式恒成立，则称该闭包 O 具有</a:t>
            </a:r>
            <a:r>
              <a:rPr lang="en-US" b="true" i="false" strike="noStrike" u="none" sz="1600">
                <a:solidFill>
                  <a:srgbClr val="333333"/>
                </a:solidFill>
                <a:latin typeface="Noto Sans SC"/>
                <a:ea typeface="Noto Sans SC"/>
                <a:cs typeface="Noto Sans SC"/>
                <a:sym typeface="Noto Sans SC"/>
              </a:rPr>
              <a:t>自身互易性</a:t>
            </a:r>
            <a:r>
              <a:rPr lang="en-US" b="false" i="false" strike="noStrike" u="none" sz="1600">
                <a:solidFill>
                  <a:srgbClr val="333333"/>
                </a:solidFill>
                <a:latin typeface="Noto Sans SC"/>
                <a:ea typeface="Noto Sans SC"/>
                <a:cs typeface="Noto Sans SC"/>
                <a:sym typeface="Noto Sans SC"/>
              </a:rPr>
              <a:t>。这一性质确保了系统在拓扑变换下的结构稳定性与平衡性。</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8000"/>
            </a:srgbClr>
          </a:solidFill>
          <a:ln cmpd="sng" cap="flat">
            <a:solidFill>
              <a:srgbClr val="4125BD">
                <a:alpha val="8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3175000" cy="3175000"/>
          </a:xfrm>
          <a:prstGeom prst="ellipse">
            <a:avLst/>
          </a:prstGeom>
          <a:solidFill>
            <a:srgbClr val="F97316">
              <a:alpha val="8000"/>
            </a:srgbClr>
          </a:solidFill>
          <a:ln cmpd="sng" cap="flat">
            <a:solidFill>
              <a:srgbClr val="E05C00">
                <a:alpha val="8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54000" y="889000"/>
            <a:ext cx="5080000" cy="5207000"/>
          </a:xfrm>
          <a:prstGeom prst="roundRect">
            <a:avLst>
              <a:gd name="adj" fmla="val 0"/>
            </a:avLst>
          </a:prstGeom>
          <a:solidFill>
            <a:srgbClr val="F3F4F6">
              <a:alpha val="50000"/>
            </a:srgbClr>
          </a:solidFill>
          <a:ln cmpd="sng" cap="flat">
            <a:solidFill>
              <a:srgbClr val="C4CCDD">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381000" y="1143000"/>
            <a:ext cx="482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5B3FD6"/>
                </a:solidFill>
                <a:latin typeface="Noto Sans SC"/>
                <a:ea typeface="Noto Sans SC"/>
                <a:cs typeface="Noto Sans SC"/>
                <a:sym typeface="Noto Sans SC"/>
              </a:rPr>
              <a:t>几何递归的层级演化示意</a:t>
            </a:r>
            <a:endParaRPr lang="en-US" sz="1100"/>
          </a:p>
        </p:txBody>
      </p:sp>
      <p:sp>
        <p:nvSpPr>
          <p:cNvPr name="AutoShape 6" id="6"/>
          <p:cNvSpPr/>
          <p:nvPr/>
        </p:nvSpPr>
        <p:spPr>
          <a:xfrm rot="0" flipH="false" flipV="false">
            <a:off x="508000" y="1841500"/>
            <a:ext cx="4572000" cy="1079500"/>
          </a:xfrm>
          <a:prstGeom prst="roundRect">
            <a:avLst>
              <a:gd name="adj" fmla="val 0"/>
            </a:avLst>
          </a:prstGeom>
          <a:solidFill>
            <a:srgbClr val="FFEDD5">
              <a:alpha val="40000"/>
            </a:srgbClr>
          </a:solidFill>
          <a:ln w="12700" cmpd="sng" cap="flat">
            <a:solidFill>
              <a:srgbClr val="FB923C">
                <a:alpha val="3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2070100"/>
            <a:ext cx="609600" cy="609600"/>
          </a:xfrm>
          <a:prstGeom prst="triangle">
            <a:avLst/>
          </a:prstGeom>
          <a:solidFill>
            <a:srgbClr val="EA580C">
              <a:alpha val="15000"/>
            </a:srgbClr>
          </a:solidFill>
          <a:ln w="25400" cmpd="sng" cap="flat">
            <a:solidFill>
              <a:srgbClr val="EA580C">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460500" y="1930400"/>
            <a:ext cx="355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151"/>
                </a:solidFill>
                <a:latin typeface="Noto Sans SC"/>
                <a:ea typeface="Noto Sans SC"/>
                <a:cs typeface="Noto Sans SC"/>
                <a:sym typeface="Noto Sans SC"/>
              </a:rPr>
              <a:t>O₀ 初始基元</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6B7280"/>
                </a:solidFill>
                <a:latin typeface="Noto Sans SC"/>
                <a:ea typeface="Noto Sans SC"/>
                <a:cs typeface="Noto Sans SC"/>
                <a:sym typeface="Noto Sans SC"/>
              </a:rPr>
              <a:t>递归的起点，具有最基础的拓扑结构与初始度量，是分形生长的种子。</a:t>
            </a:r>
          </a:p>
        </p:txBody>
      </p:sp>
      <p:cxnSp>
        <p:nvCxnSpPr>
          <p:cNvPr name="Connector 9" id="9"/>
          <p:cNvCxnSpPr/>
          <p:nvPr/>
        </p:nvCxnSpPr>
        <p:spPr>
          <a:xfrm rot="5185419" flipH="false" flipV="false">
            <a:off x="2692400" y="3041848"/>
            <a:ext cx="203200" cy="12700"/>
          </a:xfrm>
          <a:prstGeom prst="line">
            <a:avLst/>
          </a:prstGeom>
          <a:solidFill>
            <a:srgbClr val="DEE0E3">
              <a:alpha val="100000"/>
            </a:srgbClr>
          </a:solidFill>
          <a:ln w="25400" cmpd="sng" cap="flat">
            <a:solidFill>
              <a:srgbClr val="5B3FD6">
                <a:alpha val="100000"/>
              </a:srgbClr>
            </a:solidFill>
            <a:prstDash val="solid"/>
            <a:round/>
            <a:headEnd type="arrow" w="sm" len="sm"/>
            <a:tailEnd type="arrow" w="sm" len="sm"/>
          </a:ln>
        </p:spPr>
      </p:cxnSp>
      <p:sp>
        <p:nvSpPr>
          <p:cNvPr name="AutoShape 10" id="10"/>
          <p:cNvSpPr/>
          <p:nvPr/>
        </p:nvSpPr>
        <p:spPr>
          <a:xfrm rot="0" flipH="false" flipV="false">
            <a:off x="2984500" y="2921000"/>
            <a:ext cx="2032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5B3FD6"/>
                </a:solidFill>
                <a:latin typeface="Noto Sans SC"/>
                <a:ea typeface="Noto Sans SC"/>
                <a:cs typeface="Noto Sans SC"/>
                <a:sym typeface="Noto Sans SC"/>
              </a:rPr>
              <a:t>γₙ ⇄ γₙ⁻¹ 映射</a:t>
            </a:r>
            <a:endParaRPr lang="en-US" sz="1100"/>
          </a:p>
        </p:txBody>
      </p:sp>
      <p:sp>
        <p:nvSpPr>
          <p:cNvPr name="AutoShape 11" id="11"/>
          <p:cNvSpPr/>
          <p:nvPr/>
        </p:nvSpPr>
        <p:spPr>
          <a:xfrm rot="0" flipH="false" flipV="false">
            <a:off x="508000" y="3175000"/>
            <a:ext cx="4572000" cy="1079500"/>
          </a:xfrm>
          <a:prstGeom prst="roundRect">
            <a:avLst>
              <a:gd name="adj" fmla="val 0"/>
            </a:avLst>
          </a:prstGeom>
          <a:solidFill>
            <a:srgbClr val="DBEAFE">
              <a:alpha val="40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98500" y="3403600"/>
            <a:ext cx="609600" cy="609600"/>
          </a:xfrm>
          <a:prstGeom prst="diamond">
            <a:avLst/>
          </a:prstGeom>
          <a:solidFill>
            <a:srgbClr val="2563EB">
              <a:alpha val="15000"/>
            </a:srgbClr>
          </a:solidFill>
          <a:ln w="25400" cmpd="sng" cap="flat">
            <a:solidFill>
              <a:srgbClr val="2563EB">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460500" y="3263900"/>
            <a:ext cx="355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151"/>
                </a:solidFill>
                <a:latin typeface="Noto Sans SC"/>
                <a:ea typeface="Noto Sans SC"/>
                <a:cs typeface="Noto Sans SC"/>
                <a:sym typeface="Noto Sans SC"/>
              </a:rPr>
              <a:t>O₁ 一次细分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6B7280"/>
                </a:solidFill>
                <a:latin typeface="Noto Sans SC"/>
                <a:ea typeface="Noto Sans SC"/>
                <a:cs typeface="Noto Sans SC"/>
                <a:sym typeface="Noto Sans SC"/>
              </a:rPr>
              <a:t>经映射变换后的中间状态，结构复杂度提升，继承并保留了初始元的核心属性。</a:t>
            </a:r>
          </a:p>
        </p:txBody>
      </p:sp>
      <p:cxnSp>
        <p:nvCxnSpPr>
          <p:cNvPr name="Connector 14" id="14"/>
          <p:cNvCxnSpPr/>
          <p:nvPr/>
        </p:nvCxnSpPr>
        <p:spPr>
          <a:xfrm rot="5185419" flipH="false" flipV="false">
            <a:off x="2692400" y="4375348"/>
            <a:ext cx="203200" cy="12700"/>
          </a:xfrm>
          <a:prstGeom prst="line">
            <a:avLst/>
          </a:prstGeom>
          <a:solidFill>
            <a:srgbClr val="DEE0E3">
              <a:alpha val="100000"/>
            </a:srgbClr>
          </a:solidFill>
          <a:ln w="25400" cmpd="sng" cap="flat">
            <a:solidFill>
              <a:srgbClr val="5B3FD6">
                <a:alpha val="100000"/>
              </a:srgbClr>
            </a:solidFill>
            <a:prstDash val="solid"/>
            <a:round/>
            <a:headEnd type="arrow" w="sm" len="sm"/>
            <a:tailEnd type="arrow" w="sm" len="sm"/>
          </a:ln>
        </p:spPr>
      </p:cxnSp>
      <p:sp>
        <p:nvSpPr>
          <p:cNvPr name="AutoShape 15" id="15"/>
          <p:cNvSpPr/>
          <p:nvPr/>
        </p:nvSpPr>
        <p:spPr>
          <a:xfrm rot="0" flipH="false" flipV="false">
            <a:off x="2984500" y="4254500"/>
            <a:ext cx="2032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5B3FD6"/>
                </a:solidFill>
                <a:latin typeface="Noto Sans SC"/>
                <a:ea typeface="Noto Sans SC"/>
                <a:cs typeface="Noto Sans SC"/>
                <a:sym typeface="Noto Sans SC"/>
              </a:rPr>
              <a:t>保持拓扑同胚</a:t>
            </a:r>
            <a:endParaRPr lang="en-US" sz="1100"/>
          </a:p>
        </p:txBody>
      </p:sp>
      <p:sp>
        <p:nvSpPr>
          <p:cNvPr name="AutoShape 16" id="16"/>
          <p:cNvSpPr/>
          <p:nvPr/>
        </p:nvSpPr>
        <p:spPr>
          <a:xfrm rot="0" flipH="false" flipV="false">
            <a:off x="508000" y="4508500"/>
            <a:ext cx="4572000" cy="1079500"/>
          </a:xfrm>
          <a:prstGeom prst="roundRect">
            <a:avLst>
              <a:gd name="adj" fmla="val 0"/>
            </a:avLst>
          </a:prstGeom>
          <a:solidFill>
            <a:srgbClr val="D1FAE5">
              <a:alpha val="4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98500" y="4737100"/>
            <a:ext cx="609600" cy="609600"/>
          </a:xfrm>
          <a:prstGeom prst="star12">
            <a:avLst/>
          </a:prstGeom>
          <a:solidFill>
            <a:srgbClr val="059669">
              <a:alpha val="15000"/>
            </a:srgbClr>
          </a:solidFill>
          <a:ln w="25400" cmpd="sng" cap="flat">
            <a:solidFill>
              <a:srgbClr val="059669">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460500" y="4597400"/>
            <a:ext cx="355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151"/>
                </a:solidFill>
                <a:latin typeface="Noto Sans SC"/>
                <a:ea typeface="Noto Sans SC"/>
                <a:cs typeface="Noto Sans SC"/>
                <a:sym typeface="Noto Sans SC"/>
              </a:rPr>
              <a:t>O∞ 极限分形</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6B7280"/>
                </a:solidFill>
                <a:latin typeface="Noto Sans SC"/>
                <a:ea typeface="Noto Sans SC"/>
                <a:cs typeface="Noto Sans SC"/>
                <a:sym typeface="Noto Sans SC"/>
              </a:rPr>
              <a:t>无穷次迭代后的极限形态，展现出自相似性与结构的完整性，映射在此处闭合。</a:t>
            </a:r>
          </a:p>
        </p:txBody>
      </p:sp>
      <p:sp>
        <p:nvSpPr>
          <p:cNvPr name="AutoShape 19" id="19"/>
          <p:cNvSpPr/>
          <p:nvPr/>
        </p:nvSpPr>
        <p:spPr>
          <a:xfrm rot="0" flipH="false" flipV="false">
            <a:off x="5715000" y="1079500"/>
            <a:ext cx="609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公理 Ⅲ 可逆性</a:t>
            </a:r>
            <a:endParaRPr lang="en-US" sz="1100"/>
          </a:p>
        </p:txBody>
      </p:sp>
      <p:sp>
        <p:nvSpPr>
          <p:cNvPr name="AutoShape 20" id="20"/>
          <p:cNvSpPr/>
          <p:nvPr/>
        </p:nvSpPr>
        <p:spPr>
          <a:xfrm rot="0" flipH="false" flipV="false">
            <a:off x="8128000" y="1905000"/>
            <a:ext cx="1016000" cy="50800"/>
          </a:xfrm>
          <a:prstGeom prst="roundRect">
            <a:avLst>
              <a:gd name="adj" fmla="val 0"/>
            </a:avLst>
          </a:prstGeom>
          <a:solidFill>
            <a:srgbClr val="5B3FD6">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842000" y="2286000"/>
            <a:ext cx="5969000" cy="3683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096000" y="2603500"/>
            <a:ext cx="5461000" cy="330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设递归生成序列 {Oₙ} 由映射 γₙ: Oₙ → Oₙ₊₁ 给出。</a:t>
            </a:r>
            <a:r>
              <a:rPr lang="en-US" b="false" i="false" strike="noStrike" u="none" sz="1600">
                <a:solidFill>
                  <a:srgbClr val="333333"/>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600">
                <a:solidFill>
                  <a:srgbClr val="333333"/>
                </a:solidFill>
                <a:latin typeface="Noto Sans SC"/>
                <a:ea typeface="Noto Sans SC"/>
                <a:cs typeface="Noto Sans SC"/>
                <a:sym typeface="Noto Sans SC"/>
              </a:rPr>
              <a:t>若对每个 n 存在逆映射 γₙ⁻¹ 满足：</a:t>
            </a:r>
            <a:r>
              <a:rPr lang="en-US" b="false" i="false" strike="noStrike" u="none" sz="1600">
                <a:solidFill>
                  <a:srgbClr val="333333"/>
                </a:solidFill>
                <a:latin typeface="Noto Sans SC"/>
                <a:ea typeface="Noto Sans SC"/>
                <a:cs typeface="Noto Sans SC"/>
                <a:sym typeface="Noto Sans SC"/>
              </a:rPr>
              <a:t/>
            </a:r>
            <a:br>
              <a:rPr lang="en-US" b="false" i="false" strike="noStrike" u="none" sz="1600">
                <a:solidFill>
                  <a:srgbClr val="333333"/>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γₙ⁻¹ ∘ γₙ = id_Oₙ 且 γₙ ∘ γₙ⁻¹ = id_Oₙ₊₁</a:t>
            </a:r>
            <a:r>
              <a:rPr lang="en-US" b="false" i="false" strike="noStrike" u="none" sz="1600">
                <a:solidFill>
                  <a:srgbClr val="333333"/>
                </a:solidFill>
                <a:latin typeface="Noto Sans SC"/>
                <a:ea typeface="Noto Sans SC"/>
                <a:cs typeface="Noto Sans SC"/>
                <a:sym typeface="Noto Sans SC"/>
              </a:rPr>
              <a:t/>
            </a:r>
          </a:p>
          <a:p>
            <a:pPr algn="ctr" marL="0" indent="0">
              <a:lnSpc>
                <a:spcPct val="125000"/>
              </a:lnSpc>
            </a:pPr>
            <a:r>
              <a:rPr lang="en-US" b="false" i="false" strike="noStrike" u="none" sz="1600">
                <a:solidFill>
                  <a:srgbClr val="333333"/>
                </a:solidFill>
                <a:latin typeface="Noto Sans SC"/>
                <a:ea typeface="Noto Sans SC"/>
                <a:cs typeface="Noto Sans SC"/>
                <a:sym typeface="Noto Sans SC"/>
              </a:rPr>
              <a:t>且该逆映射保持生成基、度量族与配对结构，则称该递归是可逆的。这一性质确保了分形构造在微观与宏观层面的结构一致性与可回溯性。</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334000"/>
            <a:ext cx="1905000" cy="1905000"/>
          </a:xfrm>
          <a:prstGeom prst="triangl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1778000"/>
            <a:ext cx="5080000" cy="3556000"/>
          </a:xfrm>
          <a:prstGeom prst="roundRect">
            <a:avLst>
              <a:gd name="adj" fmla="val 0"/>
            </a:avLst>
          </a:prstGeom>
          <a:solidFill>
            <a:srgbClr val="F3F4F6">
              <a:alpha val="50000"/>
            </a:srgbClr>
          </a:solidFill>
          <a:ln cmpd="sng" cap="flat">
            <a:solidFill>
              <a:srgbClr val="C4CCDD">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540000"/>
            <a:ext cx="4572000" cy="2032000"/>
          </a:xfrm>
          <a:prstGeom prst="roundRect">
            <a:avLst>
              <a:gd name="adj" fmla="val 0"/>
            </a:avLst>
          </a:prstGeom>
          <a:solidFill>
            <a:srgbClr val="FFFFFF">
              <a:alpha val="0"/>
            </a:srgbClr>
          </a:solidFill>
          <a:ln w="25400" cmpd="sng" cap="flat">
            <a:solidFill>
              <a:srgbClr val="5B3FD6">
                <a:alpha val="100000"/>
              </a:srgbClr>
            </a:solidFill>
            <a:prstDash val="dash"/>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79500" y="3048000"/>
            <a:ext cx="1016000" cy="1016000"/>
          </a:xfrm>
          <a:prstGeom prst="ellipse">
            <a:avLst/>
          </a:prstGeom>
          <a:solidFill>
            <a:srgbClr val="3B82F6">
              <a:alpha val="80000"/>
            </a:srgbClr>
          </a:solidFill>
          <a:ln w="12700" cmpd="sng" cap="flat">
            <a:solidFill>
              <a:srgbClr val="2563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603500" y="3048000"/>
            <a:ext cx="1016000" cy="1016000"/>
          </a:xfrm>
          <a:prstGeom prst="roundRect">
            <a:avLst>
              <a:gd name="adj" fmla="val 0"/>
            </a:avLst>
          </a:prstGeom>
          <a:solidFill>
            <a:srgbClr val="10B981">
              <a:alpha val="80000"/>
            </a:srgbClr>
          </a:solidFill>
          <a:ln w="12700" cmpd="sng" cap="flat">
            <a:solidFill>
              <a:srgbClr val="059669">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127500" y="3048000"/>
            <a:ext cx="1016000" cy="1016000"/>
          </a:xfrm>
          <a:prstGeom prst="triangle">
            <a:avLst/>
          </a:prstGeom>
          <a:solidFill>
            <a:srgbClr val="F59E0B">
              <a:alpha val="80000"/>
            </a:srgbClr>
          </a:solidFill>
          <a:ln w="12700" cmpd="sng" cap="flat">
            <a:solidFill>
              <a:srgbClr val="D97706">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08000" y="5461000"/>
            <a:ext cx="508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图示：有限个紧致互易闭包的并置与整体一致性边界</a:t>
            </a:r>
            <a:endParaRPr lang="en-US" sz="1100"/>
          </a:p>
        </p:txBody>
      </p:sp>
      <p:sp>
        <p:nvSpPr>
          <p:cNvPr name="AutoShape 10" id="10"/>
          <p:cNvSpPr/>
          <p:nvPr/>
        </p:nvSpPr>
        <p:spPr>
          <a:xfrm rot="0" flipH="false" flipV="false">
            <a:off x="5969000" y="1651000"/>
            <a:ext cx="6096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公理 Ⅳ 一致性</a:t>
            </a:r>
            <a:endParaRPr lang="en-US" sz="1100"/>
          </a:p>
        </p:txBody>
      </p:sp>
      <p:sp>
        <p:nvSpPr>
          <p:cNvPr name="AutoShape 11" id="11"/>
          <p:cNvSpPr/>
          <p:nvPr/>
        </p:nvSpPr>
        <p:spPr>
          <a:xfrm rot="0" flipH="false" flipV="false">
            <a:off x="8636000" y="2603500"/>
            <a:ext cx="762000" cy="381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096000" y="2984500"/>
            <a:ext cx="5842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设 {O₁, O₂, ..., Oₘ} 为有限个紧致且互易的几何闭包，它们在空间中保持拓扑边界的完整性，且彼此之间不存在空间冲突。</a:t>
            </a:r>
            <a:endParaRPr lang="en-US" sz="1100"/>
          </a:p>
        </p:txBody>
      </p:sp>
      <p:sp>
        <p:nvSpPr>
          <p:cNvPr name="AutoShape 13" id="13"/>
          <p:cNvSpPr/>
          <p:nvPr/>
        </p:nvSpPr>
        <p:spPr>
          <a:xfrm rot="0" flipH="false" flipV="false">
            <a:off x="6096000" y="4064000"/>
            <a:ext cx="5842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若其并置闭包 ∪Oₖ 在合并空间内仍满足紧致性条件，则称该闭包族是“一致的”。这是判定几何系统局部相容性的核心准则。</a:t>
            </a:r>
            <a:endParaRPr lang="en-US" sz="1100"/>
          </a:p>
        </p:txBody>
      </p:sp>
      <p:sp>
        <p:nvSpPr>
          <p:cNvPr name="AutoShape 14" id="14"/>
          <p:cNvSpPr/>
          <p:nvPr/>
        </p:nvSpPr>
        <p:spPr>
          <a:xfrm rot="0" flipH="false" flipV="false">
            <a:off x="6096000" y="5143500"/>
            <a:ext cx="5842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一致族的并置本身构成一个合法的高阶几何闭包单元，可作为基础模块递归参与更复杂的空间构造，确保了从微观单元到宏观系统的逻辑自洽。</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334000"/>
            <a:ext cx="1905000" cy="1905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公理 Ⅴ Dixmier 迹可积性</a:t>
            </a:r>
            <a:endParaRPr lang="en-US" sz="1100"/>
          </a:p>
        </p:txBody>
      </p:sp>
      <p:sp>
        <p:nvSpPr>
          <p:cNvPr name="AutoShape 5" id="5"/>
          <p:cNvSpPr/>
          <p:nvPr/>
        </p:nvSpPr>
        <p:spPr>
          <a:xfrm rot="0" flipH="false" flipV="false">
            <a:off x="508000" y="1524000"/>
            <a:ext cx="11176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800">
                <a:solidFill>
                  <a:srgbClr val="333333"/>
                </a:solidFill>
                <a:latin typeface="Noto Sans SC"/>
                <a:ea typeface="Noto Sans SC"/>
                <a:cs typeface="Noto Sans SC"/>
                <a:sym typeface="Noto Sans SC"/>
              </a:rPr>
              <a:t>设 O∞ 为可逆无穷闭包，由参数簇驱动的非线性填充关联映射 Φ_nl 所诱导的局域配对泛函 ω(t) 通常不满足绝对可数可和性。若存在尺度算子 D 使得该泛函 ω(t) 属于紧算子理想 L^(1,∞)（即 Macaev 理想），则称此闭包具有</a:t>
            </a:r>
            <a:r>
              <a:rPr lang="en-US" b="true" i="false" strike="noStrike" u="none" sz="1800">
                <a:solidFill>
                  <a:srgbClr val="5B3FD6"/>
                </a:solidFill>
                <a:latin typeface="Noto Sans SC"/>
                <a:ea typeface="Noto Sans SC"/>
                <a:cs typeface="Noto Sans SC"/>
                <a:sym typeface="Noto Sans SC"/>
              </a:rPr>
              <a:t>Dixmier 可积性</a:t>
            </a:r>
            <a:r>
              <a:rPr lang="en-US" b="false" i="false" strike="noStrike" u="none" sz="1800">
                <a:solidFill>
                  <a:srgbClr val="333333"/>
                </a:solidFill>
                <a:latin typeface="Noto Sans SC"/>
                <a:ea typeface="Noto Sans SC"/>
                <a:cs typeface="Noto Sans SC"/>
                <a:sym typeface="Noto Sans SC"/>
              </a:rPr>
              <a:t>，这是非交换几何中度量谱维数的关键判据。</a:t>
            </a:r>
            <a:endParaRPr lang="en-US" sz="1100"/>
          </a:p>
        </p:txBody>
      </p:sp>
      <p:sp>
        <p:nvSpPr>
          <p:cNvPr name="AutoShape 6" id="6"/>
          <p:cNvSpPr/>
          <p:nvPr/>
        </p:nvSpPr>
        <p:spPr>
          <a:xfrm rot="0" flipH="false" flipV="false">
            <a:off x="508000" y="3238500"/>
            <a:ext cx="11176000" cy="1079500"/>
          </a:xfrm>
          <a:prstGeom prst="roundRect">
            <a:avLst>
              <a:gd name="adj" fmla="val 0"/>
            </a:avLst>
          </a:prstGeom>
          <a:solidFill>
            <a:srgbClr val="5B3FD6">
              <a:alpha val="8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3429000"/>
            <a:ext cx="1092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Source Code Pro"/>
                <a:ea typeface="Source Code Pro"/>
                <a:cs typeface="Source Code Pro"/>
                <a:sym typeface="Source Code Pro"/>
              </a:rPr>
              <a:t>Tr_ω(A) := lim(N→∞) (1 / log N) · Σ λₙ(A)</a:t>
            </a:r>
            <a:endParaRPr lang="en-US" sz="1100"/>
          </a:p>
        </p:txBody>
      </p:sp>
      <p:cxnSp>
        <p:nvCxnSpPr>
          <p:cNvPr name="Connector 8" id="8"/>
          <p:cNvCxnSpPr/>
          <p:nvPr/>
        </p:nvCxnSpPr>
        <p:spPr>
          <a:xfrm rot="-3906" flipH="false" flipV="false">
            <a:off x="508004" y="4565650"/>
            <a:ext cx="11176000" cy="12700"/>
          </a:xfrm>
          <a:prstGeom prst="line">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9" id="9"/>
          <p:cNvSpPr/>
          <p:nvPr/>
        </p:nvSpPr>
        <p:spPr>
          <a:xfrm rot="0" flipH="false" flipV="false">
            <a:off x="508000" y="4826000"/>
            <a:ext cx="584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5B3FD6"/>
                </a:solidFill>
                <a:latin typeface="Noto Sans SC"/>
                <a:ea typeface="Noto Sans SC"/>
                <a:cs typeface="Noto Sans SC"/>
                <a:sym typeface="Noto Sans SC"/>
              </a:rPr>
              <a:t>解析配对的梅林对偶刻画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600">
                <a:solidFill>
                  <a:srgbClr val="525252"/>
                </a:solidFill>
                <a:latin typeface="Noto Sans SC"/>
                <a:ea typeface="Noto Sans SC"/>
                <a:cs typeface="Noto Sans SC"/>
                <a:sym typeface="Noto Sans SC"/>
              </a:rPr>
              <a:t>Dixmier 迹的存在性等价于梅林生成函数在临界点 s=0 处的有限部分（Finite Part）提取。这种解析延拓的视角将算子代数的可积性问题转化为复分析中的留数计算，建立了非交换几何与解析数论之间的深刻联系。</a:t>
            </a:r>
          </a:p>
        </p:txBody>
      </p:sp>
      <p:sp>
        <p:nvSpPr>
          <p:cNvPr name="AutoShape 10" id="10"/>
          <p:cNvSpPr/>
          <p:nvPr/>
        </p:nvSpPr>
        <p:spPr>
          <a:xfrm rot="0" flipH="false" flipV="false">
            <a:off x="6604000" y="4826000"/>
            <a:ext cx="5080000" cy="1524000"/>
          </a:xfrm>
          <a:prstGeom prst="roundRect">
            <a:avLst>
              <a:gd name="adj" fmla="val 0"/>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731000" y="5016500"/>
            <a:ext cx="4826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2563EB"/>
                </a:solidFill>
                <a:latin typeface="Source Code Pro"/>
                <a:ea typeface="Source Code Pro"/>
                <a:cs typeface="Source Code Pro"/>
                <a:sym typeface="Source Code Pro"/>
              </a:rPr>
              <a:t>Tr_ω = F.P._{s=0} Φ_O(s)</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400">
                <a:solidFill>
                  <a:srgbClr val="6B7280"/>
                </a:solidFill>
                <a:latin typeface="Noto Sans SC"/>
                <a:ea typeface="Noto Sans SC"/>
                <a:cs typeface="Noto Sans SC"/>
                <a:sym typeface="Noto Sans SC"/>
              </a:rPr>
              <a:t>其中 Φ_O(s) 为闭包 O 的梅林生成函数，F.P. 表示有限部分提取</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016000"/>
            <a:ext cx="3810000" cy="3810000"/>
          </a:xfrm>
          <a:prstGeom prst="ellipse">
            <a:avLst/>
          </a:prstGeom>
          <a:solidFill>
            <a:srgbClr val="E8E4F8">
              <a:alpha val="40000"/>
            </a:srgbClr>
          </a:solidFill>
          <a:ln cmpd="sng" cap="flat">
            <a:solidFill>
              <a:srgbClr val="BEB6DF">
                <a:alpha val="4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4826000"/>
            <a:ext cx="2286000" cy="2286000"/>
          </a:xfrm>
          <a:prstGeom prst="ellipse">
            <a:avLst/>
          </a:prstGeom>
          <a:solidFill>
            <a:srgbClr val="E8E4F8">
              <a:alpha val="50000"/>
            </a:srgbClr>
          </a:solidFill>
          <a:ln cmpd="sng" cap="flat">
            <a:solidFill>
              <a:srgbClr val="BEB6DF">
                <a:alpha val="5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413000"/>
            <a:ext cx="3556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02</a:t>
            </a:r>
            <a:endParaRPr lang="en-US" sz="1100"/>
          </a:p>
        </p:txBody>
      </p:sp>
      <p:sp>
        <p:nvSpPr>
          <p:cNvPr name="AutoShape 5" id="5"/>
          <p:cNvSpPr/>
          <p:nvPr/>
        </p:nvSpPr>
        <p:spPr>
          <a:xfrm rot="0" flipH="false" flipV="false">
            <a:off x="4826000" y="2413000"/>
            <a:ext cx="660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333333"/>
                </a:solidFill>
                <a:latin typeface="Noto Sans SC"/>
                <a:ea typeface="Noto Sans SC"/>
                <a:cs typeface="Noto Sans SC"/>
                <a:sym typeface="Noto Sans SC"/>
              </a:rPr>
              <a:t>几何本体论</a:t>
            </a:r>
            <a:endParaRPr lang="en-US" sz="1100"/>
          </a:p>
        </p:txBody>
      </p:sp>
      <p:sp>
        <p:nvSpPr>
          <p:cNvPr name="AutoShape 6" id="6"/>
          <p:cNvSpPr/>
          <p:nvPr/>
        </p:nvSpPr>
        <p:spPr>
          <a:xfrm rot="0" flipH="false" flipV="false">
            <a:off x="4826000" y="3619500"/>
            <a:ext cx="660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spc="200">
                <a:solidFill>
                  <a:srgbClr val="8A4FFF"/>
                </a:solidFill>
                <a:latin typeface="Inter"/>
                <a:ea typeface="Inter"/>
                <a:cs typeface="Inter"/>
                <a:sym typeface="Inter"/>
              </a:rPr>
              <a:t>GEOMETRIC ONTOLOGY</a:t>
            </a:r>
            <a:endParaRPr lang="en-US" sz="1100"/>
          </a:p>
        </p:txBody>
      </p:sp>
      <p:sp>
        <p:nvSpPr>
          <p:cNvPr name="AutoShape 7" id="7"/>
          <p:cNvSpPr/>
          <p:nvPr/>
        </p:nvSpPr>
        <p:spPr>
          <a:xfrm rot="0" flipH="false" flipV="false">
            <a:off x="4826000" y="4381500"/>
            <a:ext cx="1016000" cy="50800"/>
          </a:xfrm>
          <a:prstGeom prst="roundRect">
            <a:avLst>
              <a:gd name="adj" fmla="val 0"/>
            </a:avLst>
          </a:prstGeom>
          <a:solidFill>
            <a:srgbClr val="8A4FFF">
              <a:alpha val="100000"/>
            </a:srgbClr>
          </a:solidFill>
          <a:ln cmpd="sng" cap="flat">
            <a:solidFill>
              <a:srgbClr val="6D30E6">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826000" y="4762500"/>
            <a:ext cx="660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666666"/>
                </a:solidFill>
                <a:latin typeface="Noto Sans SC"/>
                <a:ea typeface="Noto Sans SC"/>
                <a:cs typeface="Noto Sans SC"/>
                <a:sym typeface="Noto Sans SC"/>
              </a:rPr>
              <a:t>几何不仅是空间的度量，更是对存在本质的抽象表达。本章将从几何形态的本源出发，探讨其在设计、哲学与现实世界中的构建逻辑与美学价值，揭示形式背后的秩序与生命力，重新定义空间与形态的共生关系。</a:t>
            </a:r>
            <a:endParaRPr lang="en-US" sz="1100"/>
          </a:p>
        </p:txBody>
      </p:sp>
      <p:sp>
        <p:nvSpPr>
          <p:cNvPr name="AutoShape 9" id="9"/>
          <p:cNvSpPr/>
          <p:nvPr/>
        </p:nvSpPr>
        <p:spPr>
          <a:xfrm rot="0" flipH="false" flipV="false">
            <a:off x="0" y="6350000"/>
            <a:ext cx="12192000" cy="25400"/>
          </a:xfrm>
          <a:prstGeom prst="roundRect">
            <a:avLst>
              <a:gd name="adj" fmla="val 0"/>
            </a:avLst>
          </a:prstGeom>
          <a:solidFill>
            <a:srgbClr val="8A4FFF">
              <a:alpha val="20000"/>
            </a:srgbClr>
          </a:solidFill>
          <a:ln cmpd="sng" cap="flat">
            <a:solidFill>
              <a:srgbClr val="6D30E6">
                <a:alpha val="20000"/>
              </a:srgbClr>
            </a:solid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381000" y="1016000"/>
            <a:ext cx="5334000" cy="5334000"/>
          </a:xfrm>
          <a:prstGeom prst="roundRect">
            <a:avLst>
              <a:gd name="adj" fmla="val 0"/>
            </a:avLst>
          </a:prstGeom>
          <a:solidFill>
            <a:srgbClr val="F5F5F5">
              <a:alpha val="50000"/>
            </a:srgbClr>
          </a:solidFill>
          <a:ln cmpd="sng" cap="flat">
            <a:solidFill>
              <a:srgbClr val="DCC6C6">
                <a:alpha val="50000"/>
              </a:srgbClr>
            </a:solidFill>
            <a:prstDash val="solid"/>
            <a:round/>
          </a:ln>
        </p:spPr>
        <p:txBody>
          <a:bodyPr anchor="ctr" rtlCol="false" vert="horz" wrap="square" lIns="63500" rIns="63500" tIns="63500" bIns="63500"/>
          <a:lstStyle/>
          <a:p>
            <a:pPr algn="ctr">
              <a:defRPr/>
            </a:pPr>
            <a:endParaRPr/>
          </a:p>
        </p:txBody>
      </p:sp>
      <p:cxnSp>
        <p:nvCxnSpPr>
          <p:cNvPr name="Connector 3" id="3"/>
          <p:cNvCxnSpPr/>
          <p:nvPr/>
        </p:nvCxnSpPr>
        <p:spPr>
          <a:xfrm rot="-10742" flipH="false" flipV="false">
            <a:off x="1016010" y="4565650"/>
            <a:ext cx="4064000" cy="12700"/>
          </a:xfrm>
          <a:prstGeom prst="line">
            <a:avLst/>
          </a:prstGeom>
          <a:solidFill>
            <a:srgbClr val="DEE0E3">
              <a:alpha val="100000"/>
            </a:srgbClr>
          </a:solidFill>
          <a:ln w="25400" cmpd="sng" cap="flat">
            <a:solidFill>
              <a:srgbClr val="A0A0A0">
                <a:alpha val="100000"/>
              </a:srgbClr>
            </a:solidFill>
            <a:prstDash val="solid"/>
            <a:round/>
            <a:headEnd type="none" w="lg" len="lg"/>
            <a:tailEnd type="arrow" w="med" len="med"/>
          </a:ln>
        </p:spPr>
      </p:cxnSp>
      <p:cxnSp>
        <p:nvCxnSpPr>
          <p:cNvPr name="Connector 4" id="4"/>
          <p:cNvCxnSpPr/>
          <p:nvPr/>
        </p:nvCxnSpPr>
        <p:spPr>
          <a:xfrm rot="-5417188" flipH="false" flipV="false">
            <a:off x="-254000" y="3295634"/>
            <a:ext cx="2540000" cy="12700"/>
          </a:xfrm>
          <a:prstGeom prst="line">
            <a:avLst/>
          </a:prstGeom>
          <a:solidFill>
            <a:srgbClr val="DEE0E3">
              <a:alpha val="100000"/>
            </a:srgbClr>
          </a:solidFill>
          <a:ln w="25400" cmpd="sng" cap="flat">
            <a:solidFill>
              <a:srgbClr val="A0A0A0">
                <a:alpha val="100000"/>
              </a:srgbClr>
            </a:solidFill>
            <a:prstDash val="solid"/>
            <a:round/>
            <a:headEnd type="none" w="lg" len="lg"/>
            <a:tailEnd type="arrow" w="med" len="med"/>
          </a:ln>
        </p:spPr>
      </p:cxnSp>
      <p:cxnSp>
        <p:nvCxnSpPr>
          <p:cNvPr name="Connector 5" id="5"/>
          <p:cNvCxnSpPr/>
          <p:nvPr/>
        </p:nvCxnSpPr>
        <p:spPr>
          <a:xfrm rot="-2362306" flipH="false" flipV="false">
            <a:off x="722926" y="3740140"/>
            <a:ext cx="2618172" cy="12700"/>
          </a:xfrm>
          <a:prstGeom prst="line">
            <a:avLst/>
          </a:prstGeom>
          <a:solidFill>
            <a:srgbClr val="DEE0E3">
              <a:alpha val="100000"/>
            </a:srgbClr>
          </a:solidFill>
          <a:ln w="25400" cmpd="sng" cap="flat">
            <a:solidFill>
              <a:srgbClr val="A0A0A0">
                <a:alpha val="100000"/>
              </a:srgbClr>
            </a:solidFill>
            <a:prstDash val="solid"/>
            <a:round/>
            <a:headEnd type="none" w="lg" len="lg"/>
            <a:tailEnd type="arrow" w="med" len="med"/>
          </a:ln>
        </p:spPr>
      </p:cxnSp>
      <p:sp>
        <p:nvSpPr>
          <p:cNvPr name="AutoShape 6" id="6"/>
          <p:cNvSpPr/>
          <p:nvPr/>
        </p:nvSpPr>
        <p:spPr>
          <a:xfrm rot="0" flipH="false" flipV="false">
            <a:off x="5080000" y="4445000"/>
            <a:ext cx="38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46464"/>
                </a:solidFill>
                <a:latin typeface="Noto Sans SC"/>
                <a:ea typeface="Noto Sans SC"/>
                <a:cs typeface="Noto Sans SC"/>
                <a:sym typeface="Noto Sans SC"/>
              </a:rPr>
              <a:t>X</a:t>
            </a:r>
            <a:endParaRPr lang="en-US" sz="1100"/>
          </a:p>
        </p:txBody>
      </p:sp>
      <p:sp>
        <p:nvSpPr>
          <p:cNvPr name="AutoShape 7" id="7"/>
          <p:cNvSpPr/>
          <p:nvPr/>
        </p:nvSpPr>
        <p:spPr>
          <a:xfrm rot="0" flipH="false" flipV="false">
            <a:off x="762000" y="1778000"/>
            <a:ext cx="38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46464"/>
                </a:solidFill>
                <a:latin typeface="Noto Sans SC"/>
                <a:ea typeface="Noto Sans SC"/>
                <a:cs typeface="Noto Sans SC"/>
                <a:sym typeface="Noto Sans SC"/>
              </a:rPr>
              <a:t>Y</a:t>
            </a:r>
            <a:endParaRPr lang="en-US" sz="1100"/>
          </a:p>
        </p:txBody>
      </p:sp>
      <p:sp>
        <p:nvSpPr>
          <p:cNvPr name="AutoShape 8" id="8"/>
          <p:cNvSpPr/>
          <p:nvPr/>
        </p:nvSpPr>
        <p:spPr>
          <a:xfrm rot="0" flipH="false" flipV="false">
            <a:off x="3048000" y="2667000"/>
            <a:ext cx="38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46464"/>
                </a:solidFill>
                <a:latin typeface="Noto Sans SC"/>
                <a:ea typeface="Noto Sans SC"/>
                <a:cs typeface="Noto Sans SC"/>
                <a:sym typeface="Noto Sans SC"/>
              </a:rPr>
              <a:t>Z</a:t>
            </a:r>
            <a:endParaRPr lang="en-US" sz="1100"/>
          </a:p>
        </p:txBody>
      </p:sp>
      <p:sp>
        <p:nvSpPr>
          <p:cNvPr name="AutoShape 9" id="9"/>
          <p:cNvSpPr/>
          <p:nvPr/>
        </p:nvSpPr>
        <p:spPr>
          <a:xfrm rot="0" flipH="false" flipV="false">
            <a:off x="1651000" y="2857500"/>
            <a:ext cx="1905000" cy="1143000"/>
          </a:xfrm>
          <a:prstGeom prst="roundRect">
            <a:avLst>
              <a:gd name="adj" fmla="val 0"/>
            </a:avLst>
          </a:prstGeom>
          <a:solidFill>
            <a:srgbClr val="5B3FD6">
              <a:alpha val="10000"/>
            </a:srgbClr>
          </a:solidFill>
          <a:ln w="38100" cmpd="sng" cap="flat">
            <a:solidFill>
              <a:srgbClr val="5B3FD6">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83000" y="3238500"/>
            <a:ext cx="127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子域 D</a:t>
            </a:r>
            <a:endParaRPr lang="en-US" sz="1100"/>
          </a:p>
        </p:txBody>
      </p:sp>
      <p:cxnSp>
        <p:nvCxnSpPr>
          <p:cNvPr name="Connector 11" id="11"/>
          <p:cNvCxnSpPr/>
          <p:nvPr/>
        </p:nvCxnSpPr>
        <p:spPr>
          <a:xfrm rot="10685450" flipH="false" flipV="false">
            <a:off x="3174894" y="3422650"/>
            <a:ext cx="381000" cy="12700"/>
          </a:xfrm>
          <a:prstGeom prst="line">
            <a:avLst/>
          </a:prstGeom>
          <a:solidFill>
            <a:srgbClr val="DEE0E3">
              <a:alpha val="100000"/>
            </a:srgbClr>
          </a:solidFill>
          <a:ln w="12700" cmpd="sng" cap="flat">
            <a:solidFill>
              <a:srgbClr val="5B3FD6">
                <a:alpha val="100000"/>
              </a:srgbClr>
            </a:solidFill>
            <a:prstDash val="solid"/>
            <a:round/>
            <a:headEnd type="none" w="med" len="med"/>
            <a:tailEnd type="arrow" w="sm" len="sm"/>
          </a:ln>
        </p:spPr>
      </p:cxnSp>
      <p:sp>
        <p:nvSpPr>
          <p:cNvPr name="AutoShape 12" id="12"/>
          <p:cNvSpPr/>
          <p:nvPr/>
        </p:nvSpPr>
        <p:spPr>
          <a:xfrm rot="0" flipH="false" flipV="false">
            <a:off x="635000" y="5461000"/>
            <a:ext cx="482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500">
                <a:solidFill>
                  <a:srgbClr val="787878"/>
                </a:solidFill>
                <a:latin typeface="Noto Sans SC"/>
                <a:ea typeface="Noto Sans SC"/>
                <a:cs typeface="Noto Sans SC"/>
                <a:sym typeface="Noto Sans SC"/>
              </a:rPr>
              <a:t>图示：三维全域空间 R³ 中的有界约束子域 D</a:t>
            </a:r>
            <a:endParaRPr lang="en-US" sz="1100"/>
          </a:p>
        </p:txBody>
      </p:sp>
      <p:sp>
        <p:nvSpPr>
          <p:cNvPr name="AutoShape 13" id="13"/>
          <p:cNvSpPr/>
          <p:nvPr/>
        </p:nvSpPr>
        <p:spPr>
          <a:xfrm rot="0" flipH="false" flipV="false">
            <a:off x="6096000" y="1016000"/>
            <a:ext cx="584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全域与子域</a:t>
            </a:r>
            <a:endParaRPr lang="en-US" sz="1100"/>
          </a:p>
        </p:txBody>
      </p:sp>
      <p:cxnSp>
        <p:nvCxnSpPr>
          <p:cNvPr name="Connector 14" id="14"/>
          <p:cNvCxnSpPr/>
          <p:nvPr/>
        </p:nvCxnSpPr>
        <p:spPr>
          <a:xfrm rot="-9046" flipH="false" flipV="false">
            <a:off x="6731008" y="2025650"/>
            <a:ext cx="4826000" cy="12700"/>
          </a:xfrm>
          <a:prstGeom prst="line">
            <a:avLst/>
          </a:prstGeom>
          <a:solidFill>
            <a:srgbClr val="DEE0E3">
              <a:alpha val="100000"/>
            </a:srgbClr>
          </a:solidFill>
          <a:ln w="25400" cmpd="sng" cap="flat">
            <a:solidFill>
              <a:srgbClr val="5B3FD6">
                <a:alpha val="20000"/>
              </a:srgbClr>
            </a:solidFill>
            <a:prstDash val="solid"/>
            <a:round/>
            <a:headEnd type="none" w="lg" len="lg"/>
            <a:tailEnd type="none" w="lg" len="lg"/>
          </a:ln>
        </p:spPr>
      </p:cxnSp>
      <p:sp>
        <p:nvSpPr>
          <p:cNvPr name="AutoShape 15" id="15"/>
          <p:cNvSpPr/>
          <p:nvPr/>
        </p:nvSpPr>
        <p:spPr>
          <a:xfrm rot="0" flipH="false" flipV="false">
            <a:off x="6223000" y="2413000"/>
            <a:ext cx="5588000" cy="1206500"/>
          </a:xfrm>
          <a:prstGeom prst="roundRect">
            <a:avLst>
              <a:gd name="adj" fmla="val 0"/>
            </a:avLst>
          </a:prstGeom>
          <a:solidFill>
            <a:srgbClr val="5B3FD6">
              <a:alpha val="4000"/>
            </a:srgbClr>
          </a:solidFill>
          <a:ln cmpd="sng" cap="flat">
            <a:solidFill>
              <a:srgbClr val="4125BD">
                <a:alpha val="4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2514600"/>
            <a:ext cx="5334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全域 R³ 是由三条相互垂直的无限刻度线 X、Y、Z 张成的背景地址空间，它仅用于提供绝对位置的参照基准，本身不参与任何几何形体的闭合构造。</a:t>
            </a:r>
            <a:endParaRPr lang="en-US" sz="1100"/>
          </a:p>
        </p:txBody>
      </p:sp>
      <p:sp>
        <p:nvSpPr>
          <p:cNvPr name="AutoShape 17" id="17"/>
          <p:cNvSpPr/>
          <p:nvPr/>
        </p:nvSpPr>
        <p:spPr>
          <a:xfrm rot="0" flipH="false" flipV="false">
            <a:off x="6223000" y="3810000"/>
            <a:ext cx="5588000" cy="1206500"/>
          </a:xfrm>
          <a:prstGeom prst="roundRect">
            <a:avLst>
              <a:gd name="adj" fmla="val 0"/>
            </a:avLst>
          </a:prstGeom>
          <a:solidFill>
            <a:srgbClr val="5B3FD6">
              <a:alpha val="4000"/>
            </a:srgbClr>
          </a:solidFill>
          <a:ln cmpd="sng" cap="flat">
            <a:solidFill>
              <a:srgbClr val="4125BD">
                <a:alpha val="4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0" y="3911600"/>
            <a:ext cx="5334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合法子域 D 是从全域中切分出的有限空间，由三轴上的有界实数区间构成：D = I_X × I_Y × I_Z，是进行空间索引与数据存储的基本单元。</a:t>
            </a:r>
            <a:endParaRPr lang="en-US" sz="1100"/>
          </a:p>
        </p:txBody>
      </p:sp>
      <p:sp>
        <p:nvSpPr>
          <p:cNvPr name="AutoShape 19" id="19"/>
          <p:cNvSpPr/>
          <p:nvPr/>
        </p:nvSpPr>
        <p:spPr>
          <a:xfrm rot="0" flipH="false" flipV="false">
            <a:off x="6223000" y="5207000"/>
            <a:ext cx="5588000" cy="1143000"/>
          </a:xfrm>
          <a:prstGeom prst="roundRect">
            <a:avLst>
              <a:gd name="adj" fmla="val 0"/>
            </a:avLst>
          </a:prstGeom>
          <a:solidFill>
            <a:srgbClr val="5B3FD6">
              <a:alpha val="4000"/>
            </a:srgbClr>
          </a:solidFill>
          <a:ln cmpd="sng" cap="flat">
            <a:solidFill>
              <a:srgbClr val="4125BD">
                <a:alpha val="4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350000" y="5308600"/>
            <a:ext cx="5334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333333"/>
                </a:solidFill>
                <a:latin typeface="Noto Sans SC"/>
                <a:ea typeface="Noto Sans SC"/>
                <a:cs typeface="Noto Sans SC"/>
                <a:sym typeface="Noto Sans SC"/>
              </a:rPr>
              <a:t>满足“轴对齐”与“区间可二分”条件的子域被称为合法子域，这是实现八叉树等空间划分算法的核心前提。</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维度的严格区分</a:t>
            </a:r>
            <a:endParaRPr lang="en-US" sz="1100"/>
          </a:p>
        </p:txBody>
      </p:sp>
      <p:graphicFrame>
        <p:nvGraphicFramePr>
          <p:cNvPr name="Table 5" id="5"/>
          <p:cNvGraphicFramePr>
            <a:graphicFrameLocks noGrp="true"/>
          </p:cNvGraphicFramePr>
          <p:nvPr/>
        </p:nvGraphicFramePr>
        <p:xfrm>
          <a:off x="508000" y="1524000"/>
          <a:ext cx="11176000" cy="2794000"/>
        </p:xfrm>
        <a:graphic>
          <a:graphicData uri="http://schemas.openxmlformats.org/drawingml/2006/table">
            <a:tbl>
              <a:tblPr>
                <a:effectLst/>
              </a:tblPr>
              <a:tblGrid>
                <a:gridCol w="2286000"/>
                <a:gridCol w="4826000"/>
                <a:gridCol w="4064000"/>
              </a:tblGrid>
              <a:tr h="635000">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维度类型</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定义内涵</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DCG 中的取值特征</a:t>
                      </a:r>
                      <a:endParaRPr lang="en-US" sz="1100"/>
                    </a:p>
                  </a:txBody>
                  <a:tcPr anchor="ctr" anchorCtr="false" marL="101600" marR="101600" marT="101600" marB="101600">
                    <a:lnL>
                      <a:noFill/>
                    </a:lnL>
                    <a:lnR>
                      <a:noFill/>
                    </a:lnR>
                    <a:lnT>
                      <a:noFill/>
                    </a:lnT>
                    <a:lnB>
                      <a:noFill/>
                    </a:lnB>
                    <a:solidFill>
                      <a:srgbClr val="5B3FD6">
                        <a:alpha val="100000"/>
                      </a:srgbClr>
                    </a:solidFill>
                  </a:tcPr>
                </a:tc>
              </a:tr>
              <a:tr h="1079500">
                <a:tc>
                  <a:txBody>
                    <a:bodyPr anchor="t" rtlCol="false"/>
                    <a:lstStyle/>
                    <a:p>
                      <a:pPr algn="ctr" marL="0" indent="0">
                        <a:lnSpc>
                          <a:spcPct val="100000"/>
                        </a:lnSpc>
                        <a:defRPr/>
                      </a:pPr>
                      <a:r>
                        <a:rPr lang="en-US" b="true" i="false" strike="noStrike" u="none" sz="1400">
                          <a:solidFill>
                            <a:srgbClr val="333333"/>
                          </a:solidFill>
                          <a:latin typeface="Noto Sans SC"/>
                          <a:ea typeface="Noto Sans SC"/>
                          <a:cs typeface="Noto Sans SC"/>
                          <a:sym typeface="Noto Sans SC"/>
                        </a:rPr>
                        <a:t>几何拓扑维数</a:t>
                      </a:r>
                      <a:endParaRPr lang="en-US" sz="1100"/>
                    </a:p>
                  </a:txBody>
                  <a:tcPr anchor="ctr" anchorCtr="false" marL="101600" marR="101600" marT="101600" marB="101600">
                    <a:lnL>
                      <a:noFill/>
                    </a:lnL>
                    <a:lnR>
                      <a:noFill/>
                    </a:lnR>
                    <a:lnT>
                      <a:noFill/>
                    </a:lnT>
                    <a:lnB>
                      <a:noFill/>
                    </a:lnB>
                    <a:solidFill>
                      <a:srgbClr val="5B3FD6">
                        <a:alpha val="8000"/>
                      </a:srgbClr>
                    </a:solidFill>
                  </a:tcPr>
                </a:tc>
                <a:tc>
                  <a:txBody>
                    <a:bodyPr anchor="t" rtlCol="false"/>
                    <a:lstStyle/>
                    <a:p>
                      <a:pPr algn="l" marL="0" indent="0">
                        <a:lnSpc>
                          <a:spcPct val="108333"/>
                        </a:lnSpc>
                        <a:defRPr/>
                      </a:pPr>
                      <a:r>
                        <a:rPr lang="en-US" b="false" i="false" strike="noStrike" u="none" sz="1400">
                          <a:solidFill>
                            <a:srgbClr val="525252"/>
                          </a:solidFill>
                          <a:latin typeface="Noto Sans SC"/>
                          <a:ea typeface="Noto Sans SC"/>
                          <a:cs typeface="Noto Sans SC"/>
                          <a:sym typeface="Noto Sans SC"/>
                        </a:rPr>
                        <a:t>承载闭包的空间流形的固有拓扑属性，描述了几何对象在空间中延展的基本维度特征。</a:t>
                      </a:r>
                      <a:endParaRPr lang="en-US" sz="1100"/>
                    </a:p>
                  </a:txBody>
                  <a:tcPr anchor="ctr" anchorCtr="false" marL="190500" marR="101600" marT="101600" marB="101600">
                    <a:lnL>
                      <a:noFill/>
                    </a:lnL>
                    <a:lnR>
                      <a:noFill/>
                    </a:lnR>
                    <a:lnT>
                      <a:noFill/>
                    </a:lnT>
                    <a:lnB>
                      <a:noFill/>
                    </a:lnB>
                    <a:solidFill>
                      <a:srgbClr val="5B3FD6">
                        <a:alpha val="8000"/>
                      </a:srgbClr>
                    </a:solidFill>
                  </a:tcPr>
                </a:tc>
                <a:tc>
                  <a:txBody>
                    <a:bodyPr anchor="t" rtlCol="false"/>
                    <a:lstStyle/>
                    <a:p>
                      <a:pPr algn="l" marL="0" indent="0">
                        <a:lnSpc>
                          <a:spcPct val="108333"/>
                        </a:lnSpc>
                        <a:defRPr/>
                      </a:pPr>
                      <a:r>
                        <a:rPr lang="en-US" b="false" i="false" strike="noStrike" u="none" sz="1400">
                          <a:solidFill>
                            <a:srgbClr val="525252"/>
                          </a:solidFill>
                          <a:latin typeface="Noto Sans SC"/>
                          <a:ea typeface="Noto Sans SC"/>
                          <a:cs typeface="Noto Sans SC"/>
                          <a:sym typeface="Noto Sans SC"/>
                        </a:rPr>
                        <a:t>恒为有限值（通常为3）；商去 kerζ_q 后，其复结构的实维数约化为2，始终保持有限维。</a:t>
                      </a:r>
                      <a:endParaRPr lang="en-US" sz="1100"/>
                    </a:p>
                  </a:txBody>
                  <a:tcPr anchor="ctr" anchorCtr="false" marL="190500" marR="101600" marT="101600" marB="101600">
                    <a:lnL>
                      <a:noFill/>
                    </a:lnL>
                    <a:lnR>
                      <a:noFill/>
                    </a:lnR>
                    <a:lnT>
                      <a:noFill/>
                    </a:lnT>
                    <a:lnB>
                      <a:noFill/>
                    </a:lnB>
                    <a:solidFill>
                      <a:srgbClr val="5B3FD6">
                        <a:alpha val="8000"/>
                      </a:srgbClr>
                    </a:solidFill>
                  </a:tcPr>
                </a:tc>
              </a:tr>
              <a:tr h="1079500">
                <a:tc>
                  <a:txBody>
                    <a:bodyPr anchor="t" rtlCol="false"/>
                    <a:lstStyle/>
                    <a:p>
                      <a:pPr algn="ctr" marL="0" indent="0">
                        <a:lnSpc>
                          <a:spcPct val="100000"/>
                        </a:lnSpc>
                        <a:defRPr/>
                      </a:pPr>
                      <a:r>
                        <a:rPr lang="en-US" b="true" i="false" strike="noStrike" u="none" sz="1400">
                          <a:solidFill>
                            <a:srgbClr val="333333"/>
                          </a:solidFill>
                          <a:latin typeface="Noto Sans SC"/>
                          <a:ea typeface="Noto Sans SC"/>
                          <a:cs typeface="Noto Sans SC"/>
                          <a:sym typeface="Noto Sans SC"/>
                        </a:rPr>
                        <a:t>域变量维数</a:t>
                      </a:r>
                      <a:endParaRPr lang="en-US" sz="1100"/>
                    </a:p>
                  </a:txBody>
                  <a:tcPr anchor="ctr" anchorCtr="false" marL="101600" marR="101600" marT="101600" marB="101600">
                    <a:lnL>
                      <a:noFill/>
                    </a:lnL>
                    <a:lnR>
                      <a:noFill/>
                    </a:lnR>
                    <a:lnT>
                      <a:noFill/>
                    </a:lnT>
                    <a:lnB>
                      <a:noFill/>
                    </a:lnB>
                    <a:solidFill>
                      <a:srgbClr val="000000">
                        <a:alpha val="5000"/>
                      </a:srgbClr>
                    </a:solidFill>
                  </a:tcPr>
                </a:tc>
                <a:tc>
                  <a:txBody>
                    <a:bodyPr anchor="t" rtlCol="false"/>
                    <a:lstStyle/>
                    <a:p>
                      <a:pPr algn="l" marL="0" indent="0">
                        <a:lnSpc>
                          <a:spcPct val="108333"/>
                        </a:lnSpc>
                        <a:defRPr/>
                      </a:pPr>
                      <a:r>
                        <a:rPr lang="en-US" b="false" i="false" strike="noStrike" u="none" sz="1400">
                          <a:solidFill>
                            <a:srgbClr val="525252"/>
                          </a:solidFill>
                          <a:latin typeface="Noto Sans SC"/>
                          <a:ea typeface="Noto Sans SC"/>
                          <a:cs typeface="Noto Sans SC"/>
                          <a:sym typeface="Noto Sans SC"/>
                        </a:rPr>
                        <a:t>刻画子域“切法”的独立参数个数，反映了子域在整体空间中被选取或变化的自由度。</a:t>
                      </a:r>
                      <a:endParaRPr lang="en-US" sz="1100"/>
                    </a:p>
                  </a:txBody>
                  <a:tcPr anchor="ctr" anchorCtr="false" marL="190500" marR="101600" marT="101600" marB="101600">
                    <a:lnL>
                      <a:noFill/>
                    </a:lnL>
                    <a:lnR>
                      <a:noFill/>
                    </a:lnR>
                    <a:lnT>
                      <a:noFill/>
                    </a:lnT>
                    <a:lnB>
                      <a:noFill/>
                    </a:lnB>
                    <a:solidFill>
                      <a:srgbClr val="000000">
                        <a:alpha val="5000"/>
                      </a:srgbClr>
                    </a:solidFill>
                  </a:tcPr>
                </a:tc>
                <a:tc>
                  <a:txBody>
                    <a:bodyPr anchor="t" rtlCol="false"/>
                    <a:lstStyle/>
                    <a:p>
                      <a:pPr algn="l" marL="0" indent="0">
                        <a:lnSpc>
                          <a:spcPct val="108333"/>
                        </a:lnSpc>
                        <a:defRPr/>
                      </a:pPr>
                      <a:r>
                        <a:rPr lang="en-US" b="false" i="false" strike="noStrike" u="none" sz="1400">
                          <a:solidFill>
                            <a:srgbClr val="525252"/>
                          </a:solidFill>
                          <a:latin typeface="Noto Sans SC"/>
                          <a:ea typeface="Noto Sans SC"/>
                          <a:cs typeface="Noto Sans SC"/>
                          <a:sym typeface="Noto Sans SC"/>
                        </a:rPr>
                        <a:t>由子域 D 的具体构造决定，取值灵活，既可以是有限维（如离散参数族），也可以是无穷维。</a:t>
                      </a:r>
                      <a:endParaRPr lang="en-US" sz="1100"/>
                    </a:p>
                  </a:txBody>
                  <a:tcPr anchor="ctr" anchorCtr="false" marL="190500" marR="101600" marT="101600" marB="101600">
                    <a:lnL>
                      <a:noFill/>
                    </a:lnL>
                    <a:lnR>
                      <a:noFill/>
                    </a:lnR>
                    <a:lnT>
                      <a:noFill/>
                    </a:lnT>
                    <a:lnB>
                      <a:noFill/>
                    </a:lnB>
                    <a:solidFill>
                      <a:srgbClr val="000000">
                        <a:alpha val="5000"/>
                      </a:srgbClr>
                    </a:solidFill>
                  </a:tcPr>
                </a:tc>
              </a:tr>
            </a:tbl>
          </a:graphicData>
        </a:graphic>
      </p:graphicFrame>
      <p:sp>
        <p:nvSpPr>
          <p:cNvPr name="AutoShape 6" id="6"/>
          <p:cNvSpPr/>
          <p:nvPr/>
        </p:nvSpPr>
        <p:spPr>
          <a:xfrm rot="0" flipH="false" flipV="false">
            <a:off x="508000" y="4508500"/>
            <a:ext cx="3556000" cy="1841500"/>
          </a:xfrm>
          <a:prstGeom prst="roundRect">
            <a:avLst>
              <a:gd name="adj" fmla="val 0"/>
            </a:avLst>
          </a:prstGeom>
          <a:solidFill>
            <a:srgbClr val="5B3FD6">
              <a:alpha val="6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4699000"/>
            <a:ext cx="304800" cy="304800"/>
          </a:xfrm>
          <a:prstGeom prst="rect">
            <a:avLst/>
          </a:prstGeom>
        </p:spPr>
      </p:pic>
      <p:sp>
        <p:nvSpPr>
          <p:cNvPr name="AutoShape 8" id="8"/>
          <p:cNvSpPr/>
          <p:nvPr/>
        </p:nvSpPr>
        <p:spPr>
          <a:xfrm rot="0" flipH="false" flipV="false">
            <a:off x="1143000" y="46736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几何闭包的绝对有限性</a:t>
            </a:r>
            <a:endParaRPr lang="en-US" sz="1100"/>
          </a:p>
        </p:txBody>
      </p:sp>
      <p:sp>
        <p:nvSpPr>
          <p:cNvPr name="AutoShape 9" id="9"/>
          <p:cNvSpPr/>
          <p:nvPr/>
        </p:nvSpPr>
        <p:spPr>
          <a:xfrm rot="0" flipH="false" flipV="false">
            <a:off x="711200" y="5143500"/>
            <a:ext cx="31496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几何闭包自身永远是有限维的（维度上限为3），这是由其流形本质决定的，不会因外部参数化而改变。</a:t>
            </a:r>
            <a:endParaRPr lang="en-US" sz="1100"/>
          </a:p>
        </p:txBody>
      </p:sp>
      <p:sp>
        <p:nvSpPr>
          <p:cNvPr name="AutoShape 10" id="10"/>
          <p:cNvSpPr/>
          <p:nvPr/>
        </p:nvSpPr>
        <p:spPr>
          <a:xfrm rot="0" flipH="false" flipV="false">
            <a:off x="4318000" y="4508500"/>
            <a:ext cx="3556000" cy="1841500"/>
          </a:xfrm>
          <a:prstGeom prst="roundRect">
            <a:avLst>
              <a:gd name="adj" fmla="val 0"/>
            </a:avLst>
          </a:prstGeom>
          <a:solidFill>
            <a:srgbClr val="5B3FD6">
              <a:alpha val="6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21200" y="4699000"/>
            <a:ext cx="304800" cy="304800"/>
          </a:xfrm>
          <a:prstGeom prst="rect">
            <a:avLst/>
          </a:prstGeom>
        </p:spPr>
      </p:pic>
      <p:sp>
        <p:nvSpPr>
          <p:cNvPr name="AutoShape 12" id="12"/>
          <p:cNvSpPr/>
          <p:nvPr/>
        </p:nvSpPr>
        <p:spPr>
          <a:xfrm rot="0" flipH="false" flipV="false">
            <a:off x="4953000" y="46736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无穷维的本质是自由度</a:t>
            </a:r>
            <a:endParaRPr lang="en-US" sz="1100"/>
          </a:p>
        </p:txBody>
      </p:sp>
      <p:sp>
        <p:nvSpPr>
          <p:cNvPr name="AutoShape 13" id="13"/>
          <p:cNvSpPr/>
          <p:nvPr/>
        </p:nvSpPr>
        <p:spPr>
          <a:xfrm rot="0" flipH="false" flipV="false">
            <a:off x="4521200" y="5143500"/>
            <a:ext cx="31496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空间域的“无穷维”并非指空间本身无限，而是指描述子域切法的独立参数具有无穷多的选择可能性。</a:t>
            </a:r>
            <a:endParaRPr lang="en-US" sz="1100"/>
          </a:p>
        </p:txBody>
      </p:sp>
      <p:sp>
        <p:nvSpPr>
          <p:cNvPr name="AutoShape 14" id="14"/>
          <p:cNvSpPr/>
          <p:nvPr/>
        </p:nvSpPr>
        <p:spPr>
          <a:xfrm rot="0" flipH="false" flipV="false">
            <a:off x="8128000" y="4508500"/>
            <a:ext cx="3556000" cy="1841500"/>
          </a:xfrm>
          <a:prstGeom prst="roundRect">
            <a:avLst>
              <a:gd name="adj" fmla="val 0"/>
            </a:avLst>
          </a:prstGeom>
          <a:solidFill>
            <a:srgbClr val="5B3FD6">
              <a:alpha val="6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31200" y="4699000"/>
            <a:ext cx="304800" cy="304800"/>
          </a:xfrm>
          <a:prstGeom prst="rect">
            <a:avLst/>
          </a:prstGeom>
        </p:spPr>
      </p:pic>
      <p:sp>
        <p:nvSpPr>
          <p:cNvPr name="AutoShape 16" id="16"/>
          <p:cNvSpPr/>
          <p:nvPr/>
        </p:nvSpPr>
        <p:spPr>
          <a:xfrm rot="0" flipH="false" flipV="false">
            <a:off x="8763000" y="46736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DCG 术语的默认约定</a:t>
            </a:r>
            <a:endParaRPr lang="en-US" sz="1100"/>
          </a:p>
        </p:txBody>
      </p:sp>
      <p:sp>
        <p:nvSpPr>
          <p:cNvPr name="AutoShape 17" id="17"/>
          <p:cNvSpPr/>
          <p:nvPr/>
        </p:nvSpPr>
        <p:spPr>
          <a:xfrm rot="0" flipH="false" flipV="false">
            <a:off x="8331200" y="5143500"/>
            <a:ext cx="31496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在DCG理论体系的标准表述中，若未特别声明，“无穷”这一概念默认专指“域变量维数”的无穷性。</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1270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5080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固有参数与派生参数</a:t>
            </a:r>
            <a:endParaRPr lang="en-US" sz="1100"/>
          </a:p>
        </p:txBody>
      </p:sp>
      <p:sp>
        <p:nvSpPr>
          <p:cNvPr name="AutoShape 5" id="5"/>
          <p:cNvSpPr/>
          <p:nvPr/>
        </p:nvSpPr>
        <p:spPr>
          <a:xfrm rot="0" flipH="false" flipV="false">
            <a:off x="508000" y="1651000"/>
            <a:ext cx="539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01 固有参数 Int(E)</a:t>
            </a:r>
            <a:endParaRPr lang="en-US" sz="1100"/>
          </a:p>
        </p:txBody>
      </p:sp>
      <p:cxnSp>
        <p:nvCxnSpPr>
          <p:cNvPr name="Connector 6" id="6"/>
          <p:cNvCxnSpPr/>
          <p:nvPr/>
        </p:nvCxnSpPr>
        <p:spPr>
          <a:xfrm rot="-8088" flipH="false" flipV="false">
            <a:off x="508007" y="2216150"/>
            <a:ext cx="5397500" cy="12700"/>
          </a:xfrm>
          <a:prstGeom prst="line">
            <a:avLst/>
          </a:prstGeom>
          <a:solidFill>
            <a:srgbClr val="DEE0E3">
              <a:alpha val="100000"/>
            </a:srgbClr>
          </a:solidFill>
          <a:ln w="12700" cmpd="sng" cap="flat">
            <a:solidFill>
              <a:srgbClr val="5B3FD6">
                <a:alpha val="15000"/>
              </a:srgbClr>
            </a:solidFill>
            <a:prstDash val="solid"/>
            <a:round/>
            <a:headEnd type="none" w="med" len="med"/>
            <a:tailEnd type="none" w="med" len="med"/>
          </a:ln>
        </p:spPr>
      </p:cxnSp>
      <p:sp>
        <p:nvSpPr>
          <p:cNvPr name="AutoShape 7" id="7"/>
          <p:cNvSpPr/>
          <p:nvPr/>
        </p:nvSpPr>
        <p:spPr>
          <a:xfrm rot="0" flipH="false" flipV="false">
            <a:off x="508000" y="2413000"/>
            <a:ext cx="5397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 直接参与实体构造的底层定义，是几何对象存在的本质锚点。</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374151"/>
                </a:solidFill>
                <a:latin typeface="Noto Sans SC"/>
                <a:ea typeface="Noto Sans SC"/>
                <a:cs typeface="Noto Sans SC"/>
                <a:sym typeface="Noto Sans SC"/>
              </a:rPr>
              <a:t>• 具有强约束性：参数值的任何变更都会直接导致几何结构的拓扑或度量性质发生实质性改变。</a:t>
            </a:r>
          </a:p>
        </p:txBody>
      </p:sp>
      <p:sp>
        <p:nvSpPr>
          <p:cNvPr name="AutoShape 8" id="8"/>
          <p:cNvSpPr/>
          <p:nvPr/>
        </p:nvSpPr>
        <p:spPr>
          <a:xfrm rot="0" flipH="false" flipV="false">
            <a:off x="508000" y="3810000"/>
            <a:ext cx="5397500" cy="1079500"/>
          </a:xfrm>
          <a:prstGeom prst="roundRect">
            <a:avLst>
              <a:gd name="adj" fmla="val 0"/>
            </a:avLst>
          </a:prstGeom>
          <a:solidFill>
            <a:srgbClr val="5B3FD6">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98500" y="3937000"/>
            <a:ext cx="5016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5B3FD6"/>
                </a:solidFill>
                <a:latin typeface="Noto Sans SC"/>
                <a:ea typeface="Noto Sans SC"/>
                <a:cs typeface="Noto Sans SC"/>
                <a:sym typeface="Noto Sans SC"/>
              </a:rPr>
              <a:t>典型实例：</a:t>
            </a:r>
            <a:r>
              <a:rPr lang="en-US" b="false" i="false" strike="noStrike" u="none" sz="1400">
                <a:solidFill>
                  <a:srgbClr val="4B5563"/>
                </a:solidFill>
                <a:latin typeface="Noto Sans SC"/>
                <a:ea typeface="Noto Sans SC"/>
                <a:cs typeface="Noto Sans SC"/>
                <a:sym typeface="Noto Sans SC"/>
              </a:rPr>
              <a:t>区间端点坐标、曲率控制参数 q、分形递归深度 n、等差数列公差 d。这类参数决定了对象的生成规则，是不可剥离的构成要素。</a:t>
            </a:r>
            <a:endParaRPr lang="en-US" sz="1100"/>
          </a:p>
        </p:txBody>
      </p:sp>
      <p:sp>
        <p:nvSpPr>
          <p:cNvPr name="AutoShape 10" id="10"/>
          <p:cNvSpPr/>
          <p:nvPr/>
        </p:nvSpPr>
        <p:spPr>
          <a:xfrm rot="0" flipH="false" flipV="false">
            <a:off x="6286500" y="1651000"/>
            <a:ext cx="539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02 派生参数 Der(E)</a:t>
            </a:r>
            <a:endParaRPr lang="en-US" sz="1100"/>
          </a:p>
        </p:txBody>
      </p:sp>
      <p:cxnSp>
        <p:nvCxnSpPr>
          <p:cNvPr name="Connector 11" id="11"/>
          <p:cNvCxnSpPr/>
          <p:nvPr/>
        </p:nvCxnSpPr>
        <p:spPr>
          <a:xfrm rot="-8088" flipH="false" flipV="false">
            <a:off x="6286507" y="2216150"/>
            <a:ext cx="5397500" cy="12700"/>
          </a:xfrm>
          <a:prstGeom prst="line">
            <a:avLst/>
          </a:prstGeom>
          <a:solidFill>
            <a:srgbClr val="DEE0E3">
              <a:alpha val="100000"/>
            </a:srgbClr>
          </a:solidFill>
          <a:ln w="12700" cmpd="sng" cap="flat">
            <a:solidFill>
              <a:srgbClr val="5B3FD6">
                <a:alpha val="15000"/>
              </a:srgbClr>
            </a:solidFill>
            <a:prstDash val="solid"/>
            <a:round/>
            <a:headEnd type="none" w="med" len="med"/>
            <a:tailEnd type="none" w="med" len="med"/>
          </a:ln>
        </p:spPr>
      </p:cxnSp>
      <p:sp>
        <p:nvSpPr>
          <p:cNvPr name="AutoShape 12" id="12"/>
          <p:cNvSpPr/>
          <p:nvPr/>
        </p:nvSpPr>
        <p:spPr>
          <a:xfrm rot="0" flipH="false" flipV="false">
            <a:off x="6286500" y="2413000"/>
            <a:ext cx="5397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 由固有参数通过确定的数学规则（函数、变换、运算）间接推导而出。</a:t>
            </a:r>
            <a:r>
              <a:rPr lang="en-US" b="false" i="false" strike="noStrike" u="none" sz="1400">
                <a:solidFill>
                  <a:srgbClr val="374151"/>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374151"/>
                </a:solidFill>
                <a:latin typeface="Noto Sans SC"/>
                <a:ea typeface="Noto Sans SC"/>
                <a:cs typeface="Noto Sans SC"/>
                <a:sym typeface="Noto Sans SC"/>
              </a:rPr>
              <a:t>• 具有弱约束性：数值变化仅反映属性度量的差异，不会改变实体本身的几何拓扑结构。</a:t>
            </a:r>
          </a:p>
        </p:txBody>
      </p:sp>
      <p:sp>
        <p:nvSpPr>
          <p:cNvPr name="AutoShape 13" id="13"/>
          <p:cNvSpPr/>
          <p:nvPr/>
        </p:nvSpPr>
        <p:spPr>
          <a:xfrm rot="0" flipH="false" flipV="false">
            <a:off x="6286500" y="3810000"/>
            <a:ext cx="5397500" cy="1079500"/>
          </a:xfrm>
          <a:prstGeom prst="roundRect">
            <a:avLst>
              <a:gd name="adj" fmla="val 0"/>
            </a:avLst>
          </a:prstGeom>
          <a:solidFill>
            <a:srgbClr val="5B3FD6">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3937000"/>
            <a:ext cx="5016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5B3FD6"/>
                </a:solidFill>
                <a:latin typeface="Noto Sans SC"/>
                <a:ea typeface="Noto Sans SC"/>
                <a:cs typeface="Noto Sans SC"/>
                <a:sym typeface="Noto Sans SC"/>
              </a:rPr>
              <a:t>典型实例：</a:t>
            </a:r>
            <a:r>
              <a:rPr lang="en-US" b="false" i="false" strike="noStrike" u="none" sz="1400">
                <a:solidFill>
                  <a:srgbClr val="4B5563"/>
                </a:solidFill>
                <a:latin typeface="Noto Sans SC"/>
                <a:ea typeface="Noto Sans SC"/>
                <a:cs typeface="Noto Sans SC"/>
                <a:sym typeface="Noto Sans SC"/>
              </a:rPr>
              <a:t>路径积分值 Z_q、矢量场的散度/旋度、梅林生成函数、拓扑障碍类。它们是对结构的“描述”而非“定义”，是实体的表象特征。</a:t>
            </a:r>
            <a:endParaRPr lang="en-US" sz="1100"/>
          </a:p>
        </p:txBody>
      </p:sp>
      <p:sp>
        <p:nvSpPr>
          <p:cNvPr name="AutoShape 15" id="15"/>
          <p:cNvSpPr/>
          <p:nvPr/>
        </p:nvSpPr>
        <p:spPr>
          <a:xfrm rot="0" flipH="false" flipV="false">
            <a:off x="508000" y="5207000"/>
            <a:ext cx="11176000" cy="1206500"/>
          </a:xfrm>
          <a:prstGeom prst="roundRect">
            <a:avLst>
              <a:gd name="adj" fmla="val 0"/>
            </a:avLst>
          </a:prstGeom>
          <a:solidFill>
            <a:srgbClr val="F5F3FF">
              <a:alpha val="100000"/>
            </a:srgbClr>
          </a:solidFill>
          <a:ln w="12700" cmpd="sng" cap="flat">
            <a:solidFill>
              <a:srgbClr val="5B3FD6">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5461000"/>
            <a:ext cx="406400" cy="406400"/>
          </a:xfrm>
          <a:prstGeom prst="rect">
            <a:avLst/>
          </a:prstGeom>
        </p:spPr>
      </p:pic>
      <p:sp>
        <p:nvSpPr>
          <p:cNvPr name="AutoShape 17" id="17"/>
          <p:cNvSpPr/>
          <p:nvPr/>
        </p:nvSpPr>
        <p:spPr>
          <a:xfrm rot="0" flipH="false" flipV="false">
            <a:off x="1270000" y="5359400"/>
            <a:ext cx="10223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5B3FD6"/>
                </a:solidFill>
                <a:latin typeface="Noto Sans SC"/>
                <a:ea typeface="Noto Sans SC"/>
                <a:cs typeface="Noto Sans SC"/>
                <a:sym typeface="Noto Sans SC"/>
              </a:rPr>
              <a:t>本体论层级隔离原则</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374151"/>
                </a:solidFill>
                <a:latin typeface="Noto Sans SC"/>
                <a:ea typeface="Noto Sans SC"/>
                <a:cs typeface="Noto Sans SC"/>
                <a:sym typeface="Noto Sans SC"/>
              </a:rPr>
              <a:t>派生参数的语义解释域必须严格限定在其所属层级之内，不可将其作为实体存在的依据或跨层级归因。这是维护模型逻辑自洽性的基石，任何越界操作都将构成“范畴错误”，导致对几何实体本质的认知偏差。</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762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334000"/>
            <a:ext cx="1905000" cy="1905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与标准泛函分析的对照</a:t>
            </a:r>
            <a:endParaRPr lang="en-US" sz="1100"/>
          </a:p>
        </p:txBody>
      </p:sp>
      <p:graphicFrame>
        <p:nvGraphicFramePr>
          <p:cNvPr name="Table 5" id="5"/>
          <p:cNvGraphicFramePr>
            <a:graphicFrameLocks noGrp="true"/>
          </p:cNvGraphicFramePr>
          <p:nvPr/>
        </p:nvGraphicFramePr>
        <p:xfrm>
          <a:off x="508000" y="1524000"/>
          <a:ext cx="11176000" cy="3937000"/>
        </p:xfrm>
        <a:graphic>
          <a:graphicData uri="http://schemas.openxmlformats.org/drawingml/2006/table">
            <a:tbl>
              <a:tblPr>
                <a:effectLst/>
              </a:tblPr>
              <a:tblGrid>
                <a:gridCol w="2286000"/>
                <a:gridCol w="4445000"/>
                <a:gridCol w="4445000"/>
              </a:tblGrid>
              <a:tr h="635000">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核心特征</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标准泛函分析</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600">
                          <a:solidFill>
                            <a:srgbClr val="FFFFFF"/>
                          </a:solidFill>
                          <a:latin typeface="Noto Sans SC"/>
                          <a:ea typeface="Noto Sans SC"/>
                          <a:cs typeface="Noto Sans SC"/>
                          <a:sym typeface="Noto Sans SC"/>
                        </a:rPr>
                        <a:t>DCG 空间域理论</a:t>
                      </a:r>
                      <a:endParaRPr lang="en-US" sz="1100"/>
                    </a:p>
                  </a:txBody>
                  <a:tcPr anchor="ctr" anchorCtr="false" marL="101600" marR="101600" marT="101600" marB="101600">
                    <a:lnL>
                      <a:noFill/>
                    </a:lnL>
                    <a:lnR>
                      <a:noFill/>
                    </a:lnR>
                    <a:lnT>
                      <a:noFill/>
                    </a:lnT>
                    <a:lnB>
                      <a:noFill/>
                    </a:lnB>
                    <a:solidFill>
                      <a:srgbClr val="5B3FD6">
                        <a:alpha val="100000"/>
                      </a:srgbClr>
                    </a:solidFill>
                  </a:tcPr>
                </a:tc>
              </a:tr>
              <a:tr h="660400">
                <a:tc>
                  <a:txBody>
                    <a:bodyPr anchor="t" rtlCol="false"/>
                    <a:lstStyle/>
                    <a:p>
                      <a:pPr algn="ctr" marL="0" indent="0">
                        <a:lnSpc>
                          <a:spcPct val="100000"/>
                        </a:lnSpc>
                        <a:defRPr/>
                      </a:pPr>
                      <a:r>
                        <a:rPr lang="en-US" b="true" i="false" strike="noStrike" u="none" sz="1400">
                          <a:solidFill>
                            <a:srgbClr val="374151"/>
                          </a:solidFill>
                          <a:latin typeface="Noto Sans SC"/>
                          <a:ea typeface="Noto Sans SC"/>
                          <a:cs typeface="Noto Sans SC"/>
                          <a:sym typeface="Noto Sans SC"/>
                        </a:rPr>
                        <a:t>空间中的“点”</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抽象映射关系：函数 f: X → R，强调数值的分布与变化</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物理几何实体：几何点 P ∈ D ⊂ R³，强调空间位置与形态</a:t>
                      </a:r>
                      <a:endParaRPr lang="en-US" sz="1100"/>
                    </a:p>
                  </a:txBody>
                  <a:tcPr anchor="ctr" anchorCtr="false" marL="101600" marR="101600" marT="101600" marB="101600">
                    <a:lnL>
                      <a:noFill/>
                    </a:lnL>
                    <a:lnR>
                      <a:noFill/>
                    </a:lnR>
                    <a:lnT>
                      <a:noFill/>
                    </a:lnT>
                    <a:lnB>
                      <a:noFill/>
                    </a:lnB>
                    <a:solidFill>
                      <a:srgbClr val="F3F4F6">
                        <a:alpha val="100000"/>
                      </a:srgbClr>
                    </a:solidFill>
                  </a:tcPr>
                </a:tc>
              </a:tr>
              <a:tr h="660400">
                <a:tc>
                  <a:txBody>
                    <a:bodyPr anchor="t" rtlCol="false"/>
                    <a:lstStyle/>
                    <a:p>
                      <a:pPr algn="ctr" marL="0" indent="0">
                        <a:lnSpc>
                          <a:spcPct val="100000"/>
                        </a:lnSpc>
                        <a:defRPr/>
                      </a:pPr>
                      <a:r>
                        <a:rPr lang="en-US" b="true" i="false" strike="noStrike" u="none" sz="1400">
                          <a:solidFill>
                            <a:srgbClr val="374151"/>
                          </a:solidFill>
                          <a:latin typeface="Noto Sans SC"/>
                          <a:ea typeface="Noto Sans SC"/>
                          <a:cs typeface="Noto Sans SC"/>
                          <a:sym typeface="Noto Sans SC"/>
                        </a:rPr>
                        <a:t>无穷的来源</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源于函数值在无穷多点处的独立变化，体现函数空间的自由度</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源于子域 D 的边界“切法”、拓扑结构及分形特征的复杂演化</a:t>
                      </a:r>
                      <a:endParaRPr lang="en-US" sz="1100"/>
                    </a:p>
                  </a:txBody>
                  <a:tcPr anchor="ctr" anchorCtr="false" marL="101600" marR="101600" marT="101600" marB="101600">
                    <a:lnL>
                      <a:noFill/>
                    </a:lnL>
                    <a:lnR>
                      <a:noFill/>
                    </a:lnR>
                    <a:lnT>
                      <a:noFill/>
                    </a:lnT>
                    <a:lnB>
                      <a:noFill/>
                    </a:lnB>
                    <a:solidFill>
                      <a:srgbClr val="FFFFFF">
                        <a:alpha val="100000"/>
                      </a:srgbClr>
                    </a:solidFill>
                  </a:tcPr>
                </a:tc>
              </a:tr>
              <a:tr h="660400">
                <a:tc>
                  <a:txBody>
                    <a:bodyPr anchor="t" rtlCol="false"/>
                    <a:lstStyle/>
                    <a:p>
                      <a:pPr algn="ctr" marL="0" indent="0">
                        <a:lnSpc>
                          <a:spcPct val="100000"/>
                        </a:lnSpc>
                        <a:defRPr/>
                      </a:pPr>
                      <a:r>
                        <a:rPr lang="en-US" b="true" i="false" strike="noStrike" u="none" sz="1400">
                          <a:solidFill>
                            <a:srgbClr val="374151"/>
                          </a:solidFill>
                          <a:latin typeface="Noto Sans SC"/>
                          <a:ea typeface="Noto Sans SC"/>
                          <a:cs typeface="Noto Sans SC"/>
                          <a:sym typeface="Noto Sans SC"/>
                        </a:rPr>
                        <a:t>底空间设定</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定义域通常固定（如紧集 [0,1] 或特定流形），作为背景存在</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全域 R³ 保持固定，重点研究子域 D 的动态划分与组合方式</a:t>
                      </a:r>
                      <a:endParaRPr lang="en-US" sz="1100"/>
                    </a:p>
                  </a:txBody>
                  <a:tcPr anchor="ctr" anchorCtr="false" marL="101600" marR="101600" marT="101600" marB="101600">
                    <a:lnL>
                      <a:noFill/>
                    </a:lnL>
                    <a:lnR>
                      <a:noFill/>
                    </a:lnR>
                    <a:lnT>
                      <a:noFill/>
                    </a:lnT>
                    <a:lnB>
                      <a:noFill/>
                    </a:lnB>
                    <a:solidFill>
                      <a:srgbClr val="F3F4F6">
                        <a:alpha val="100000"/>
                      </a:srgbClr>
                    </a:solidFill>
                  </a:tcPr>
                </a:tc>
              </a:tr>
              <a:tr h="660400">
                <a:tc>
                  <a:txBody>
                    <a:bodyPr anchor="t" rtlCol="false"/>
                    <a:lstStyle/>
                    <a:p>
                      <a:pPr algn="ctr" marL="0" indent="0">
                        <a:lnSpc>
                          <a:spcPct val="100000"/>
                        </a:lnSpc>
                        <a:defRPr/>
                      </a:pPr>
                      <a:r>
                        <a:rPr lang="en-US" b="true" i="false" strike="noStrike" u="none" sz="1400">
                          <a:solidFill>
                            <a:srgbClr val="374151"/>
                          </a:solidFill>
                          <a:latin typeface="Noto Sans SC"/>
                          <a:ea typeface="Noto Sans SC"/>
                          <a:cs typeface="Noto Sans SC"/>
                          <a:sym typeface="Noto Sans SC"/>
                        </a:rPr>
                        <a:t>无穷维对应</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对应于函数空间 {f} 的维度，即基函数系的张成能力</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对应于子域族 {D} 的几何参数维数，反映空间划分的复杂度</a:t>
                      </a:r>
                      <a:endParaRPr lang="en-US" sz="1100"/>
                    </a:p>
                  </a:txBody>
                  <a:tcPr anchor="ctr" anchorCtr="false" marL="101600" marR="101600" marT="101600" marB="101600">
                    <a:lnL>
                      <a:noFill/>
                    </a:lnL>
                    <a:lnR>
                      <a:noFill/>
                    </a:lnR>
                    <a:lnT>
                      <a:noFill/>
                    </a:lnT>
                    <a:lnB>
                      <a:noFill/>
                    </a:lnB>
                    <a:solidFill>
                      <a:srgbClr val="FFFFFF">
                        <a:alpha val="100000"/>
                      </a:srgbClr>
                    </a:solidFill>
                  </a:tcPr>
                </a:tc>
              </a:tr>
              <a:tr h="660400">
                <a:tc>
                  <a:txBody>
                    <a:bodyPr anchor="t" rtlCol="false"/>
                    <a:lstStyle/>
                    <a:p>
                      <a:pPr algn="ctr" marL="0" indent="0">
                        <a:lnSpc>
                          <a:spcPct val="100000"/>
                        </a:lnSpc>
                        <a:defRPr/>
                      </a:pPr>
                      <a:r>
                        <a:rPr lang="en-US" b="true" i="false" strike="noStrike" u="none" sz="1400">
                          <a:solidFill>
                            <a:srgbClr val="374151"/>
                          </a:solidFill>
                          <a:latin typeface="Noto Sans SC"/>
                          <a:ea typeface="Noto Sans SC"/>
                          <a:cs typeface="Noto Sans SC"/>
                          <a:sym typeface="Noto Sans SC"/>
                        </a:rPr>
                        <a:t>核心叠加操作</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代数求和：Σ an en，严格依赖级数的收敛性与正交性</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l" marL="127000" indent="0">
                        <a:lnSpc>
                          <a:spcPct val="100000"/>
                        </a:lnSpc>
                        <a:defRPr/>
                      </a:pPr>
                      <a:r>
                        <a:rPr lang="en-US" b="false" i="false" strike="noStrike" u="none" sz="1400">
                          <a:solidFill>
                            <a:srgbClr val="4B5563"/>
                          </a:solidFill>
                          <a:latin typeface="Noto Sans SC"/>
                          <a:ea typeface="Noto Sans SC"/>
                          <a:cs typeface="Noto Sans SC"/>
                          <a:sym typeface="Noto Sans SC"/>
                        </a:rPr>
                        <a:t>几何并置：∪ S_q(D)，强调集合的覆盖、拼接与拓扑组合</a:t>
                      </a:r>
                      <a:endParaRPr lang="en-US" sz="1100"/>
                    </a:p>
                  </a:txBody>
                  <a:tcPr anchor="ctr" anchorCtr="false" marL="101600" marR="101600" marT="101600" marB="101600">
                    <a:lnL>
                      <a:noFill/>
                    </a:lnL>
                    <a:lnR>
                      <a:noFill/>
                    </a:lnR>
                    <a:lnT>
                      <a:noFill/>
                    </a:lnT>
                    <a:lnB>
                      <a:noFill/>
                    </a:lnB>
                    <a:solidFill>
                      <a:srgbClr val="F3F4F6">
                        <a:alpha val="100000"/>
                      </a:srgbClr>
                    </a:solidFill>
                  </a:tcPr>
                </a:tc>
              </a:tr>
            </a:tbl>
          </a:graphicData>
        </a:graphic>
      </p:graphicFrame>
      <p:sp>
        <p:nvSpPr>
          <p:cNvPr name="AutoShape 6" id="6"/>
          <p:cNvSpPr/>
          <p:nvPr/>
        </p:nvSpPr>
        <p:spPr>
          <a:xfrm rot="0" flipH="false" flipV="false">
            <a:off x="508000" y="5461000"/>
            <a:ext cx="5461000" cy="1016000"/>
          </a:xfrm>
          <a:prstGeom prst="roundRect">
            <a:avLst>
              <a:gd name="adj" fmla="val 0"/>
            </a:avLst>
          </a:prstGeom>
          <a:solidFill>
            <a:srgbClr val="5B3FD6">
              <a:alpha val="8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5562600"/>
            <a:ext cx="5207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5B3FD6"/>
                </a:solidFill>
                <a:latin typeface="Noto Sans SC"/>
                <a:ea typeface="Noto Sans SC"/>
                <a:cs typeface="Noto Sans SC"/>
                <a:sym typeface="Noto Sans SC"/>
              </a:rPr>
              <a:t>传统范式：</a:t>
            </a:r>
            <a:r>
              <a:rPr lang="en-US" b="false" i="false" strike="noStrike" u="none" sz="1300">
                <a:solidFill>
                  <a:srgbClr val="374151"/>
                </a:solidFill>
                <a:latin typeface="Noto Sans SC"/>
                <a:ea typeface="Noto Sans SC"/>
                <a:cs typeface="Noto Sans SC"/>
                <a:sym typeface="Noto Sans SC"/>
              </a:rPr>
              <a:t>固定定义域，让“函数”在其上跑。关注映射的光滑性、积分变换及泛函极值，是分析学的基础语言。</a:t>
            </a:r>
            <a:endParaRPr lang="en-US" sz="1100"/>
          </a:p>
        </p:txBody>
      </p:sp>
      <p:sp>
        <p:nvSpPr>
          <p:cNvPr name="AutoShape 8" id="8"/>
          <p:cNvSpPr/>
          <p:nvPr/>
        </p:nvSpPr>
        <p:spPr>
          <a:xfrm rot="0" flipH="false" flipV="false">
            <a:off x="6223000" y="5461000"/>
            <a:ext cx="5461000" cy="10160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0" y="5562600"/>
            <a:ext cx="5207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0B981"/>
                </a:solidFill>
                <a:latin typeface="Noto Sans SC"/>
                <a:ea typeface="Noto Sans SC"/>
                <a:cs typeface="Noto Sans SC"/>
                <a:sym typeface="Noto Sans SC"/>
              </a:rPr>
              <a:t>DCG 范式：</a:t>
            </a:r>
            <a:r>
              <a:rPr lang="en-US" b="false" i="false" strike="noStrike" u="none" sz="1300">
                <a:solidFill>
                  <a:srgbClr val="374151"/>
                </a:solidFill>
                <a:latin typeface="Noto Sans SC"/>
                <a:ea typeface="Noto Sans SC"/>
                <a:cs typeface="Noto Sans SC"/>
                <a:sym typeface="Noto Sans SC"/>
              </a:rPr>
              <a:t>固定映射规则，让“定义域”跑。将分析问题几何化，通过子域的演化与组合来重构空间结构，为复杂系统建模提供新视角。</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414000" y="-381000"/>
            <a:ext cx="1524000" cy="1524000"/>
          </a:xfrm>
          <a:prstGeom prst="ellipse">
            <a:avLst/>
          </a:prstGeom>
          <a:solidFill>
            <a:srgbClr val="E8E4F8">
              <a:alpha val="60000"/>
            </a:srgbClr>
          </a:solidFill>
          <a:ln cmpd="sng" cap="flat">
            <a:solidFill>
              <a:srgbClr val="BEB6DF">
                <a:alpha val="6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334000"/>
            <a:ext cx="2286000" cy="2286000"/>
          </a:xfrm>
          <a:prstGeom prst="ellipse">
            <a:avLst/>
          </a:prstGeom>
          <a:solidFill>
            <a:srgbClr val="E8E4F8">
              <a:alpha val="40000"/>
            </a:srgbClr>
          </a:solidFill>
          <a:ln cmpd="sng" cap="flat">
            <a:solidFill>
              <a:srgbClr val="BEB6DF">
                <a:alpha val="4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413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03</a:t>
            </a:r>
            <a:endParaRPr lang="en-US" sz="1100"/>
          </a:p>
        </p:txBody>
      </p:sp>
      <p:sp>
        <p:nvSpPr>
          <p:cNvPr name="AutoShape 5" id="5"/>
          <p:cNvSpPr/>
          <p:nvPr/>
        </p:nvSpPr>
        <p:spPr>
          <a:xfrm rot="0" flipH="false" flipV="false">
            <a:off x="4064000" y="2857500"/>
            <a:ext cx="76200" cy="1397000"/>
          </a:xfrm>
          <a:prstGeom prst="roundRect">
            <a:avLst>
              <a:gd name="adj" fmla="val 0"/>
            </a:avLst>
          </a:prstGeom>
          <a:solidFill>
            <a:srgbClr val="8B5CF6">
              <a:alpha val="100000"/>
            </a:srgbClr>
          </a:solidFill>
          <a:ln cmpd="sng" cap="flat">
            <a:solidFill>
              <a:srgbClr val="6D3CDD">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572000" y="2794000"/>
            <a:ext cx="685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333333"/>
                </a:solidFill>
                <a:latin typeface="Noto Sans SC"/>
                <a:ea typeface="Noto Sans SC"/>
                <a:cs typeface="Noto Sans SC"/>
                <a:sym typeface="Noto Sans SC"/>
              </a:rPr>
              <a:t>二维 DCG</a:t>
            </a:r>
            <a:endParaRPr lang="en-US" sz="1100"/>
          </a:p>
        </p:txBody>
      </p:sp>
      <p:sp>
        <p:nvSpPr>
          <p:cNvPr name="AutoShape 7" id="7"/>
          <p:cNvSpPr/>
          <p:nvPr/>
        </p:nvSpPr>
        <p:spPr>
          <a:xfrm rot="0" flipH="false" flipV="false">
            <a:off x="4572000" y="4064000"/>
            <a:ext cx="685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6B7280"/>
                </a:solidFill>
                <a:latin typeface="Noto Sans SC"/>
                <a:ea typeface="Noto Sans SC"/>
                <a:cs typeface="Noto Sans SC"/>
                <a:sym typeface="Noto Sans SC"/>
              </a:rPr>
              <a:t>从平面构成法则到数字生成艺术的视觉重构，探索矢量图形、像素艺术与程序化设计的底层逻辑，构建兼具理性与美学的二维数字内容生成体系。</a:t>
            </a:r>
            <a:endParaRPr lang="en-US" sz="1100"/>
          </a:p>
        </p:txBody>
      </p:sp>
      <p:sp>
        <p:nvSpPr>
          <p:cNvPr name="AutoShape 8" id="8"/>
          <p:cNvSpPr/>
          <p:nvPr/>
        </p:nvSpPr>
        <p:spPr>
          <a:xfrm rot="0" flipH="false" flipV="false">
            <a:off x="762000" y="5842000"/>
            <a:ext cx="10668000" cy="25400"/>
          </a:xfrm>
          <a:prstGeom prst="roundRect">
            <a:avLst>
              <a:gd name="adj" fmla="val 0"/>
            </a:avLst>
          </a:prstGeom>
          <a:solidFill>
            <a:srgbClr val="8B5CF6">
              <a:alpha val="100000"/>
            </a:srgbClr>
          </a:solidFill>
          <a:ln cmpd="sng" cap="flat">
            <a:solidFill>
              <a:srgbClr val="6D3CDD">
                <a:alpha val="100000"/>
              </a:srgbClr>
            </a:solid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二维操作基底</a:t>
            </a:r>
            <a:endParaRPr lang="en-US" sz="1100"/>
          </a:p>
        </p:txBody>
      </p:sp>
      <p:sp>
        <p:nvSpPr>
          <p:cNvPr name="AutoShape 5" id="5"/>
          <p:cNvSpPr/>
          <p:nvPr/>
        </p:nvSpPr>
        <p:spPr>
          <a:xfrm rot="0" flipH="false" flipV="false">
            <a:off x="508000" y="1524000"/>
            <a:ext cx="5461000" cy="2222500"/>
          </a:xfrm>
          <a:prstGeom prst="roundRect">
            <a:avLst>
              <a:gd name="adj" fmla="val 0"/>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841500"/>
            <a:ext cx="101600" cy="101600"/>
          </a:xfrm>
          <a:prstGeom prst="ellipse">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1778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01 直线递归闭包</a:t>
            </a:r>
            <a:endParaRPr lang="en-US" sz="1100"/>
          </a:p>
        </p:txBody>
      </p:sp>
      <p:sp>
        <p:nvSpPr>
          <p:cNvPr name="AutoShape 8" id="8"/>
          <p:cNvSpPr/>
          <p:nvPr/>
        </p:nvSpPr>
        <p:spPr>
          <a:xfrm rot="0" flipH="false" flipV="false">
            <a:off x="762000" y="2286000"/>
            <a:ext cx="495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800">
                <a:solidFill>
                  <a:srgbClr val="374151"/>
                </a:solidFill>
                <a:latin typeface="Noto Sans SC"/>
                <a:ea typeface="Noto Sans SC"/>
                <a:cs typeface="Noto Sans SC"/>
                <a:sym typeface="Noto Sans SC"/>
              </a:rPr>
              <a:t>给定两点 P1、P2，所有仿射组合构成直线 L(P1,P2)。无界闭包仅在受拓扑约束或几何边界限制时才具备合法性，是构建连续路径的底层基础。</a:t>
            </a:r>
            <a:endParaRPr lang="en-US" sz="1100"/>
          </a:p>
        </p:txBody>
      </p:sp>
      <p:sp>
        <p:nvSpPr>
          <p:cNvPr name="AutoShape 9" id="9"/>
          <p:cNvSpPr/>
          <p:nvPr/>
        </p:nvSpPr>
        <p:spPr>
          <a:xfrm rot="0" flipH="false" flipV="false">
            <a:off x="6223000" y="1524000"/>
            <a:ext cx="5461000" cy="2222500"/>
          </a:xfrm>
          <a:prstGeom prst="roundRect">
            <a:avLst>
              <a:gd name="adj" fmla="val 0"/>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1841500"/>
            <a:ext cx="101600" cy="101600"/>
          </a:xfrm>
          <a:prstGeom prst="ellipse">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731000" y="1778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02 非直线偏移</a:t>
            </a:r>
            <a:endParaRPr lang="en-US" sz="1100"/>
          </a:p>
        </p:txBody>
      </p:sp>
      <p:sp>
        <p:nvSpPr>
          <p:cNvPr name="AutoShape 12" id="12"/>
          <p:cNvSpPr/>
          <p:nvPr/>
        </p:nvSpPr>
        <p:spPr>
          <a:xfrm rot="0" flipH="false" flipV="false">
            <a:off x="6477000" y="2286000"/>
            <a:ext cx="495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800">
                <a:solidFill>
                  <a:srgbClr val="374151"/>
                </a:solidFill>
                <a:latin typeface="Noto Sans SC"/>
                <a:ea typeface="Noto Sans SC"/>
                <a:cs typeface="Noto Sans SC"/>
                <a:sym typeface="Noto Sans SC"/>
              </a:rPr>
              <a:t>偏移函数 δ(t) 需预先取定且支持回溯机制，必须存在对应的逆操作使路径可完全还原。这一特性确保了路径生成过程的可逆性与可验证性。</a:t>
            </a:r>
            <a:endParaRPr lang="en-US" sz="1100"/>
          </a:p>
        </p:txBody>
      </p:sp>
      <p:sp>
        <p:nvSpPr>
          <p:cNvPr name="AutoShape 13" id="13"/>
          <p:cNvSpPr/>
          <p:nvPr/>
        </p:nvSpPr>
        <p:spPr>
          <a:xfrm rot="0" flipH="false" flipV="false">
            <a:off x="508000" y="4000500"/>
            <a:ext cx="5461000" cy="2222500"/>
          </a:xfrm>
          <a:prstGeom prst="roundRect">
            <a:avLst>
              <a:gd name="adj" fmla="val 0"/>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318000"/>
            <a:ext cx="101600" cy="101600"/>
          </a:xfrm>
          <a:prstGeom prst="ellipse">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42545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03 替换规则</a:t>
            </a:r>
            <a:endParaRPr lang="en-US" sz="1100"/>
          </a:p>
        </p:txBody>
      </p:sp>
      <p:sp>
        <p:nvSpPr>
          <p:cNvPr name="AutoShape 16" id="16"/>
          <p:cNvSpPr/>
          <p:nvPr/>
        </p:nvSpPr>
        <p:spPr>
          <a:xfrm rot="0" flipH="false" flipV="false">
            <a:off x="762000" y="4762500"/>
            <a:ext cx="495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800">
                <a:solidFill>
                  <a:srgbClr val="374151"/>
                </a:solidFill>
                <a:latin typeface="Noto Sans SC"/>
                <a:ea typeface="Noto Sans SC"/>
                <a:cs typeface="Noto Sans SC"/>
                <a:sym typeface="Noto Sans SC"/>
              </a:rPr>
              <a:t>生成映射将基本生成元替换为首尾相接的子路径，严格满足端点不变性；同时逆映射可明确定义，且路径度量按比例收缩，保证迭代的收敛性。</a:t>
            </a:r>
            <a:endParaRPr lang="en-US" sz="1100"/>
          </a:p>
        </p:txBody>
      </p:sp>
      <p:sp>
        <p:nvSpPr>
          <p:cNvPr name="AutoShape 17" id="17"/>
          <p:cNvSpPr/>
          <p:nvPr/>
        </p:nvSpPr>
        <p:spPr>
          <a:xfrm rot="0" flipH="false" flipV="false">
            <a:off x="6223000" y="4000500"/>
            <a:ext cx="5461000" cy="2222500"/>
          </a:xfrm>
          <a:prstGeom prst="roundRect">
            <a:avLst>
              <a:gd name="adj" fmla="val 0"/>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4318000"/>
            <a:ext cx="101600" cy="101600"/>
          </a:xfrm>
          <a:prstGeom prst="ellipse">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731000" y="42545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04 旋转算子 (R_60°)</a:t>
            </a:r>
            <a:endParaRPr lang="en-US" sz="1100"/>
          </a:p>
        </p:txBody>
      </p:sp>
      <p:sp>
        <p:nvSpPr>
          <p:cNvPr name="AutoShape 20" id="20"/>
          <p:cNvSpPr/>
          <p:nvPr/>
        </p:nvSpPr>
        <p:spPr>
          <a:xfrm rot="0" flipH="false" flipV="false">
            <a:off x="6477000" y="4762500"/>
            <a:ext cx="495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800">
                <a:solidFill>
                  <a:srgbClr val="374151"/>
                </a:solidFill>
                <a:latin typeface="Noto Sans SC"/>
                <a:ea typeface="Noto Sans SC"/>
                <a:cs typeface="Noto Sans SC"/>
                <a:sym typeface="Noto Sans SC"/>
              </a:rPr>
              <a:t>由等边三角形第三顶点的几何构造定义：以给定两点为圆心、两点间距为半径作两圆，交点即为第三顶点。该算子是构建分形与对称图形的核心。</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2286000"/>
            <a:ext cx="3810000" cy="3810000"/>
          </a:xfrm>
          <a:prstGeom prst="ellipse">
            <a:avLst/>
          </a:prstGeom>
          <a:solidFill>
            <a:srgbClr val="5B3FD6">
              <a:alpha val="3000"/>
            </a:srgbClr>
          </a:solidFill>
          <a:ln cmpd="sng" cap="flat">
            <a:solidFill>
              <a:srgbClr val="4125BD">
                <a:alpha val="3000"/>
              </a:srgbClr>
            </a:solidFill>
            <a:prstDash val="solid"/>
            <a:round/>
          </a:ln>
        </p:spPr>
        <p:txBody>
          <a:bodyPr anchor="ctr" rtlCol="false" vert="horz" wrap="square" lIns="63500" rIns="63500" tIns="63500" bIns="63500"/>
          <a:lstStyle/>
          <a:p>
            <a:pPr algn="ctr">
              <a:defRPr/>
            </a:pPr>
            <a:endParaRPr/>
          </a:p>
        </p:txBody>
      </p:sp>
      <p:cxnSp>
        <p:nvCxnSpPr>
          <p:cNvPr name="Connector 3" id="3"/>
          <p:cNvCxnSpPr/>
          <p:nvPr/>
        </p:nvCxnSpPr>
        <p:spPr>
          <a:xfrm rot="-10110" flipH="false" flipV="false">
            <a:off x="762009" y="4946650"/>
            <a:ext cx="4318000" cy="12700"/>
          </a:xfrm>
          <a:prstGeom prst="straightConnector1">
            <a:avLst/>
          </a:prstGeom>
          <a:solidFill>
            <a:srgbClr val="DEE0E3">
              <a:alpha val="100000"/>
            </a:srgbClr>
          </a:solidFill>
          <a:ln w="25400" cmpd="sng" cap="flat">
            <a:solidFill>
              <a:srgbClr val="646464">
                <a:alpha val="100000"/>
              </a:srgbClr>
            </a:solidFill>
            <a:prstDash val="solid"/>
            <a:round/>
            <a:headEnd type="none" w="lg" len="lg"/>
            <a:tailEnd type="arrow" w="med" len="med"/>
          </a:ln>
        </p:spPr>
      </p:cxnSp>
      <p:sp>
        <p:nvSpPr>
          <p:cNvPr name="AutoShape 4" id="4"/>
          <p:cNvSpPr/>
          <p:nvPr/>
        </p:nvSpPr>
        <p:spPr>
          <a:xfrm rot="0" flipH="false" flipV="false">
            <a:off x="5143500" y="4851400"/>
            <a:ext cx="317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46464"/>
                </a:solidFill>
                <a:latin typeface="Noto Sans SC"/>
                <a:ea typeface="Noto Sans SC"/>
                <a:cs typeface="Noto Sans SC"/>
                <a:sym typeface="Noto Sans SC"/>
              </a:rPr>
              <a:t>X</a:t>
            </a:r>
            <a:endParaRPr lang="en-US" sz="1100"/>
          </a:p>
        </p:txBody>
      </p:sp>
      <p:cxnSp>
        <p:nvCxnSpPr>
          <p:cNvPr name="Connector 5" id="5"/>
          <p:cNvCxnSpPr/>
          <p:nvPr/>
        </p:nvCxnSpPr>
        <p:spPr>
          <a:xfrm rot="-5414946" flipH="false" flipV="false">
            <a:off x="-698500" y="3486136"/>
            <a:ext cx="2921000" cy="12700"/>
          </a:xfrm>
          <a:prstGeom prst="straightConnector1">
            <a:avLst/>
          </a:prstGeom>
          <a:solidFill>
            <a:srgbClr val="DEE0E3">
              <a:alpha val="100000"/>
            </a:srgbClr>
          </a:solidFill>
          <a:ln w="25400" cmpd="sng" cap="flat">
            <a:solidFill>
              <a:srgbClr val="646464">
                <a:alpha val="100000"/>
              </a:srgbClr>
            </a:solidFill>
            <a:prstDash val="solid"/>
            <a:round/>
            <a:headEnd type="none" w="lg" len="lg"/>
            <a:tailEnd type="arrow" w="med" len="med"/>
          </a:ln>
        </p:spPr>
      </p:cxnSp>
      <p:sp>
        <p:nvSpPr>
          <p:cNvPr name="AutoShape 6" id="6"/>
          <p:cNvSpPr/>
          <p:nvPr/>
        </p:nvSpPr>
        <p:spPr>
          <a:xfrm rot="0" flipH="false" flipV="false">
            <a:off x="381000" y="2032000"/>
            <a:ext cx="317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46464"/>
                </a:solidFill>
                <a:latin typeface="Noto Sans SC"/>
                <a:ea typeface="Noto Sans SC"/>
                <a:cs typeface="Noto Sans SC"/>
                <a:sym typeface="Noto Sans SC"/>
              </a:rPr>
              <a:t>Y</a:t>
            </a:r>
            <a:endParaRPr lang="en-US" sz="1100"/>
          </a:p>
        </p:txBody>
      </p:sp>
      <p:cxnSp>
        <p:nvCxnSpPr>
          <p:cNvPr name="Connector 7" id="7"/>
          <p:cNvCxnSpPr/>
          <p:nvPr/>
        </p:nvCxnSpPr>
        <p:spPr>
          <a:xfrm rot="-22917" flipH="false" flipV="false">
            <a:off x="1651021" y="4184650"/>
            <a:ext cx="1905000" cy="12700"/>
          </a:xfrm>
          <a:prstGeom prst="straightConnector1">
            <a:avLst/>
          </a:prstGeom>
          <a:solidFill>
            <a:srgbClr val="DEE0E3">
              <a:alpha val="100000"/>
            </a:srgbClr>
          </a:solidFill>
          <a:ln w="38100" cmpd="sng" cap="flat">
            <a:solidFill>
              <a:srgbClr val="5B3FD6">
                <a:alpha val="100000"/>
              </a:srgbClr>
            </a:solidFill>
            <a:prstDash val="solid"/>
            <a:round/>
            <a:headEnd type="none" w="lg" len="lg"/>
            <a:tailEnd type="none" w="lg" len="lg"/>
          </a:ln>
        </p:spPr>
      </p:cxnSp>
      <p:cxnSp>
        <p:nvCxnSpPr>
          <p:cNvPr name="Connector 8" id="8"/>
          <p:cNvCxnSpPr/>
          <p:nvPr/>
        </p:nvCxnSpPr>
        <p:spPr>
          <a:xfrm rot="-4430971" flipH="false" flipV="false">
            <a:off x="3083549" y="3549621"/>
            <a:ext cx="1325919" cy="12700"/>
          </a:xfrm>
          <a:prstGeom prst="straightConnector1">
            <a:avLst/>
          </a:prstGeom>
          <a:solidFill>
            <a:srgbClr val="DEE0E3">
              <a:alpha val="100000"/>
            </a:srgbClr>
          </a:solidFill>
          <a:ln w="38100" cmpd="sng" cap="flat">
            <a:solidFill>
              <a:srgbClr val="5B3FD6">
                <a:alpha val="100000"/>
              </a:srgbClr>
            </a:solidFill>
            <a:prstDash val="solid"/>
            <a:round/>
            <a:headEnd type="none" w="lg" len="lg"/>
            <a:tailEnd type="none" w="lg" len="lg"/>
          </a:ln>
        </p:spPr>
      </p:cxnSp>
      <p:cxnSp>
        <p:nvCxnSpPr>
          <p:cNvPr name="Connector 9" id="9"/>
          <p:cNvCxnSpPr/>
          <p:nvPr/>
        </p:nvCxnSpPr>
        <p:spPr>
          <a:xfrm rot="10777082" flipH="false" flipV="false">
            <a:off x="2031979" y="2914650"/>
            <a:ext cx="1905000" cy="12700"/>
          </a:xfrm>
          <a:prstGeom prst="straightConnector1">
            <a:avLst/>
          </a:prstGeom>
          <a:solidFill>
            <a:srgbClr val="DEE0E3">
              <a:alpha val="100000"/>
            </a:srgbClr>
          </a:solidFill>
          <a:ln w="38100" cmpd="sng" cap="flat">
            <a:solidFill>
              <a:srgbClr val="5B3FD6">
                <a:alpha val="100000"/>
              </a:srgbClr>
            </a:solidFill>
            <a:prstDash val="solid"/>
            <a:round/>
            <a:headEnd type="none" w="lg" len="lg"/>
            <a:tailEnd type="none" w="lg" len="lg"/>
          </a:ln>
        </p:spPr>
      </p:cxnSp>
      <p:cxnSp>
        <p:nvCxnSpPr>
          <p:cNvPr name="Connector 10" id="10"/>
          <p:cNvCxnSpPr/>
          <p:nvPr/>
        </p:nvCxnSpPr>
        <p:spPr>
          <a:xfrm rot="6369028" flipH="false" flipV="false">
            <a:off x="1178532" y="3549679"/>
            <a:ext cx="1325919" cy="12700"/>
          </a:xfrm>
          <a:prstGeom prst="straightConnector1">
            <a:avLst/>
          </a:prstGeom>
          <a:solidFill>
            <a:srgbClr val="DEE0E3">
              <a:alpha val="100000"/>
            </a:srgbClr>
          </a:solidFill>
          <a:ln w="38100" cmpd="sng" cap="flat">
            <a:solidFill>
              <a:srgbClr val="5B3FD6">
                <a:alpha val="100000"/>
              </a:srgbClr>
            </a:solidFill>
            <a:prstDash val="solid"/>
            <a:round/>
            <a:headEnd type="none" w="lg" len="lg"/>
            <a:tailEnd type="none" w="lg" len="lg"/>
          </a:ln>
        </p:spPr>
      </p:cxnSp>
      <p:sp>
        <p:nvSpPr>
          <p:cNvPr name="AutoShape 11" id="11"/>
          <p:cNvSpPr/>
          <p:nvPr/>
        </p:nvSpPr>
        <p:spPr>
          <a:xfrm rot="0" flipH="false" flipV="false">
            <a:off x="1397000" y="4254500"/>
            <a:ext cx="317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A</a:t>
            </a:r>
            <a:endParaRPr lang="en-US" sz="1100"/>
          </a:p>
        </p:txBody>
      </p:sp>
      <p:sp>
        <p:nvSpPr>
          <p:cNvPr name="AutoShape 12" id="12"/>
          <p:cNvSpPr/>
          <p:nvPr/>
        </p:nvSpPr>
        <p:spPr>
          <a:xfrm rot="0" flipH="false" flipV="false">
            <a:off x="3581400" y="4254500"/>
            <a:ext cx="317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B</a:t>
            </a:r>
            <a:endParaRPr lang="en-US" sz="1100"/>
          </a:p>
        </p:txBody>
      </p:sp>
      <p:sp>
        <p:nvSpPr>
          <p:cNvPr name="AutoShape 13" id="13"/>
          <p:cNvSpPr/>
          <p:nvPr/>
        </p:nvSpPr>
        <p:spPr>
          <a:xfrm rot="0" flipH="false" flipV="false">
            <a:off x="3962400" y="2730500"/>
            <a:ext cx="317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a:t>
            </a:r>
            <a:endParaRPr lang="en-US" sz="1100"/>
          </a:p>
        </p:txBody>
      </p:sp>
      <p:sp>
        <p:nvSpPr>
          <p:cNvPr name="AutoShape 14" id="14"/>
          <p:cNvSpPr/>
          <p:nvPr/>
        </p:nvSpPr>
        <p:spPr>
          <a:xfrm rot="0" flipH="false" flipV="false">
            <a:off x="1714500" y="2730500"/>
            <a:ext cx="317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D</a:t>
            </a:r>
            <a:endParaRPr lang="en-US" sz="1100"/>
          </a:p>
        </p:txBody>
      </p:sp>
      <p:sp>
        <p:nvSpPr>
          <p:cNvPr name="AutoShape 15" id="15"/>
          <p:cNvSpPr/>
          <p:nvPr/>
        </p:nvSpPr>
        <p:spPr>
          <a:xfrm rot="0" flipH="false" flipV="false">
            <a:off x="2349500" y="3810000"/>
            <a:ext cx="50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5B3FD6"/>
                </a:solidFill>
                <a:latin typeface="Noto Sans SC"/>
                <a:ea typeface="Noto Sans SC"/>
                <a:cs typeface="Noto Sans SC"/>
                <a:sym typeface="Noto Sans SC"/>
              </a:rPr>
              <a:t>X₁</a:t>
            </a:r>
            <a:endParaRPr lang="en-US" sz="1100"/>
          </a:p>
        </p:txBody>
      </p:sp>
      <p:sp>
        <p:nvSpPr>
          <p:cNvPr name="AutoShape 16" id="16"/>
          <p:cNvSpPr/>
          <p:nvPr/>
        </p:nvSpPr>
        <p:spPr>
          <a:xfrm rot="0" flipH="false" flipV="false">
            <a:off x="3746500" y="3429000"/>
            <a:ext cx="50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5B3FD6"/>
                </a:solidFill>
                <a:latin typeface="Noto Sans SC"/>
                <a:ea typeface="Noto Sans SC"/>
                <a:cs typeface="Noto Sans SC"/>
                <a:sym typeface="Noto Sans SC"/>
              </a:rPr>
              <a:t>Y₁</a:t>
            </a:r>
            <a:endParaRPr lang="en-US" sz="1100"/>
          </a:p>
        </p:txBody>
      </p:sp>
      <p:sp>
        <p:nvSpPr>
          <p:cNvPr name="AutoShape 17" id="17"/>
          <p:cNvSpPr/>
          <p:nvPr/>
        </p:nvSpPr>
        <p:spPr>
          <a:xfrm rot="0" flipH="false" flipV="false">
            <a:off x="2730500" y="2984500"/>
            <a:ext cx="50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5B3FD6"/>
                </a:solidFill>
                <a:latin typeface="Noto Sans SC"/>
                <a:ea typeface="Noto Sans SC"/>
                <a:cs typeface="Noto Sans SC"/>
                <a:sym typeface="Noto Sans SC"/>
              </a:rPr>
              <a:t>X₂</a:t>
            </a:r>
            <a:endParaRPr lang="en-US" sz="1100"/>
          </a:p>
        </p:txBody>
      </p:sp>
      <p:sp>
        <p:nvSpPr>
          <p:cNvPr name="AutoShape 18" id="18"/>
          <p:cNvSpPr/>
          <p:nvPr/>
        </p:nvSpPr>
        <p:spPr>
          <a:xfrm rot="0" flipH="false" flipV="false">
            <a:off x="1206500" y="3429000"/>
            <a:ext cx="50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5B3FD6"/>
                </a:solidFill>
                <a:latin typeface="Noto Sans SC"/>
                <a:ea typeface="Noto Sans SC"/>
                <a:cs typeface="Noto Sans SC"/>
                <a:sym typeface="Noto Sans SC"/>
              </a:rPr>
              <a:t>Y₂</a:t>
            </a:r>
            <a:endParaRPr lang="en-US" sz="1100"/>
          </a:p>
        </p:txBody>
      </p:sp>
      <p:sp>
        <p:nvSpPr>
          <p:cNvPr name="AutoShape 19" id="19"/>
          <p:cNvSpPr/>
          <p:nvPr/>
        </p:nvSpPr>
        <p:spPr>
          <a:xfrm rot="0" flipH="false" flipV="false">
            <a:off x="2540000" y="3365500"/>
            <a:ext cx="635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true" strike="noStrike" u="none" sz="2000">
                <a:solidFill>
                  <a:srgbClr val="333333"/>
                </a:solidFill>
                <a:latin typeface="Noto Sans SC"/>
                <a:ea typeface="Noto Sans SC"/>
                <a:cs typeface="Noto Sans SC"/>
                <a:sym typeface="Noto Sans SC"/>
              </a:rPr>
              <a:t>P</a:t>
            </a:r>
            <a:endParaRPr lang="en-US" sz="1100"/>
          </a:p>
        </p:txBody>
      </p:sp>
      <p:sp>
        <p:nvSpPr>
          <p:cNvPr name="AutoShape 20" id="20"/>
          <p:cNvSpPr/>
          <p:nvPr/>
        </p:nvSpPr>
        <p:spPr>
          <a:xfrm rot="0" flipH="false" flipV="false">
            <a:off x="5715000" y="1016000"/>
            <a:ext cx="6223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二维几何元素</a:t>
            </a:r>
            <a:endParaRPr lang="en-US" sz="1100"/>
          </a:p>
        </p:txBody>
      </p:sp>
      <p:sp>
        <p:nvSpPr>
          <p:cNvPr name="AutoShape 21" id="21"/>
          <p:cNvSpPr/>
          <p:nvPr/>
        </p:nvSpPr>
        <p:spPr>
          <a:xfrm rot="0" flipH="false" flipV="false">
            <a:off x="5842000" y="2032000"/>
            <a:ext cx="5969000" cy="9906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969000" y="2133600"/>
            <a:ext cx="5715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【点】</a:t>
            </a:r>
            <a:r>
              <a:rPr lang="en-US" b="false" i="false" strike="noStrike" u="none" sz="1500">
                <a:solidFill>
                  <a:srgbClr val="333333"/>
                </a:solidFill>
                <a:latin typeface="Noto Sans SC"/>
                <a:ea typeface="Noto Sans SC"/>
                <a:cs typeface="Noto Sans SC"/>
                <a:sym typeface="Noto Sans SC"/>
              </a:rPr>
              <a:t>由判定映射 Φ 的零纤维定义，仅可测函数对应的点集合法，是构成空间拓扑的基础离散单元。</a:t>
            </a:r>
            <a:endParaRPr lang="en-US" sz="1100"/>
          </a:p>
        </p:txBody>
      </p:sp>
      <p:sp>
        <p:nvSpPr>
          <p:cNvPr name="AutoShape 23" id="23"/>
          <p:cNvSpPr/>
          <p:nvPr/>
        </p:nvSpPr>
        <p:spPr>
          <a:xfrm rot="0" flipH="false" flipV="false">
            <a:off x="5842000" y="3111500"/>
            <a:ext cx="5969000" cy="9906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5969000" y="3213100"/>
            <a:ext cx="5715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【线】</a:t>
            </a:r>
            <a:r>
              <a:rPr lang="en-US" b="false" i="false" strike="noStrike" u="none" sz="1500">
                <a:solidFill>
                  <a:srgbClr val="333333"/>
                </a:solidFill>
                <a:latin typeface="Noto Sans SC"/>
                <a:ea typeface="Noto Sans SC"/>
                <a:cs typeface="Noto Sans SC"/>
                <a:sym typeface="Noto Sans SC"/>
              </a:rPr>
              <a:t>经紧致性、互易性与可逆性严格筛选后的递归闭包结构。无界直线因不满足可逆性条件被排斥，仅保留有限连续路径。</a:t>
            </a:r>
            <a:endParaRPr lang="en-US" sz="1100"/>
          </a:p>
        </p:txBody>
      </p:sp>
      <p:sp>
        <p:nvSpPr>
          <p:cNvPr name="AutoShape 25" id="25"/>
          <p:cNvSpPr/>
          <p:nvPr/>
        </p:nvSpPr>
        <p:spPr>
          <a:xfrm rot="0" flipH="false" flipV="false">
            <a:off x="5842000" y="4191000"/>
            <a:ext cx="5969000" cy="9906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5969000" y="4292600"/>
            <a:ext cx="5715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【面】</a:t>
            </a:r>
            <a:r>
              <a:rPr lang="en-US" b="false" i="false" strike="noStrike" u="none" sz="1500">
                <a:solidFill>
                  <a:srgbClr val="333333"/>
                </a:solidFill>
                <a:latin typeface="Noto Sans SC"/>
                <a:ea typeface="Noto Sans SC"/>
                <a:cs typeface="Noto Sans SC"/>
                <a:sym typeface="Noto Sans SC"/>
              </a:rPr>
              <a:t>由四条递归路径首尾闭合形成的平面框架 P。三角形作为边数减少的退化情形被自动包含，构成完整的二维闭合拓扑域。</a:t>
            </a:r>
            <a:endParaRPr lang="en-US" sz="1100"/>
          </a:p>
        </p:txBody>
      </p:sp>
      <p:sp>
        <p:nvSpPr>
          <p:cNvPr name="AutoShape 27" id="27"/>
          <p:cNvSpPr/>
          <p:nvPr/>
        </p:nvSpPr>
        <p:spPr>
          <a:xfrm rot="0" flipH="false" flipV="false">
            <a:off x="5842000" y="5270500"/>
            <a:ext cx="5969000" cy="9906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5969000" y="5372100"/>
            <a:ext cx="5715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【圆】</a:t>
            </a:r>
            <a:r>
              <a:rPr lang="en-US" b="false" i="false" strike="noStrike" u="none" sz="1500">
                <a:solidFill>
                  <a:srgbClr val="333333"/>
                </a:solidFill>
                <a:latin typeface="Noto Sans SC"/>
                <a:ea typeface="Noto Sans SC"/>
                <a:cs typeface="Noto Sans SC"/>
                <a:sym typeface="Noto Sans SC"/>
              </a:rPr>
              <a:t>由对数配对映射定义的几何结构，等价于传统欧氏几何中的圆。它天然满足紧致性、互易性与可逆性，是完美的闭合曲线。</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1778000"/>
            <a:ext cx="4572000" cy="3810000"/>
          </a:xfrm>
          <a:prstGeom prst="ellipse">
            <a:avLst/>
          </a:prstGeom>
          <a:solidFill>
            <a:srgbClr val="F3F4F6">
              <a:alpha val="50000"/>
            </a:srgbClr>
          </a:solidFill>
          <a:ln cmpd="sng" cap="flat">
            <a:solidFill>
              <a:srgbClr val="C4CCDD">
                <a:alpha val="50000"/>
              </a:srgbClr>
            </a:solidFill>
            <a:prstDash val="solid"/>
            <a:round/>
          </a:ln>
        </p:spPr>
        <p:txBody>
          <a:bodyPr anchor="ctr" rtlCol="false" vert="horz" wrap="square" lIns="63500" rIns="63500" tIns="63500" bIns="63500"/>
          <a:lstStyle/>
          <a:p>
            <a:pPr algn="ctr">
              <a:defRPr/>
            </a:pPr>
            <a:endParaRPr/>
          </a:p>
        </p:txBody>
      </p:sp>
      <p:cxnSp>
        <p:nvCxnSpPr>
          <p:cNvPr name="Connector 3" id="3"/>
          <p:cNvCxnSpPr/>
          <p:nvPr/>
        </p:nvCxnSpPr>
        <p:spPr>
          <a:xfrm rot="-10742" flipH="false" flipV="false">
            <a:off x="762010" y="3803650"/>
            <a:ext cx="4064000" cy="12700"/>
          </a:xfrm>
          <a:prstGeom prst="straightConnector1">
            <a:avLst/>
          </a:prstGeom>
          <a:solidFill>
            <a:srgbClr val="DEE0E3">
              <a:alpha val="100000"/>
            </a:srgbClr>
          </a:solidFill>
          <a:ln w="25400" cmpd="sng" cap="flat">
            <a:solidFill>
              <a:srgbClr val="D1D5DB">
                <a:alpha val="100000"/>
              </a:srgbClr>
            </a:solidFill>
            <a:prstDash val="solid"/>
            <a:round/>
            <a:headEnd type="none" w="lg" len="lg"/>
            <a:tailEnd type="arrow" w="med" len="med"/>
          </a:ln>
        </p:spPr>
      </p:cxnSp>
      <p:cxnSp>
        <p:nvCxnSpPr>
          <p:cNvPr name="Connector 4" id="4"/>
          <p:cNvCxnSpPr/>
          <p:nvPr/>
        </p:nvCxnSpPr>
        <p:spPr>
          <a:xfrm rot="-5413222" flipH="false" flipV="false">
            <a:off x="1079500" y="3676638"/>
            <a:ext cx="3302000" cy="12700"/>
          </a:xfrm>
          <a:prstGeom prst="straightConnector1">
            <a:avLst/>
          </a:prstGeom>
          <a:solidFill>
            <a:srgbClr val="DEE0E3">
              <a:alpha val="100000"/>
            </a:srgbClr>
          </a:solidFill>
          <a:ln w="25400" cmpd="sng" cap="flat">
            <a:solidFill>
              <a:srgbClr val="D1D5DB">
                <a:alpha val="100000"/>
              </a:srgbClr>
            </a:solidFill>
            <a:prstDash val="solid"/>
            <a:round/>
            <a:headEnd type="none" w="lg" len="lg"/>
            <a:tailEnd type="arrow" w="med" len="med"/>
          </a:ln>
        </p:spPr>
      </p:cxnSp>
      <p:sp>
        <p:nvSpPr>
          <p:cNvPr name="AutoShape 5" id="5"/>
          <p:cNvSpPr/>
          <p:nvPr/>
        </p:nvSpPr>
        <p:spPr>
          <a:xfrm rot="0" flipH="false" flipV="false">
            <a:off x="2730500" y="3873500"/>
            <a:ext cx="381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9CA3AF"/>
                </a:solidFill>
                <a:latin typeface="Noto Sans SC"/>
                <a:ea typeface="Noto Sans SC"/>
                <a:cs typeface="Noto Sans SC"/>
                <a:sym typeface="Noto Sans SC"/>
              </a:rPr>
              <a:t>O</a:t>
            </a:r>
            <a:endParaRPr lang="en-US" sz="1100"/>
          </a:p>
        </p:txBody>
      </p:sp>
      <p:sp>
        <p:nvSpPr>
          <p:cNvPr name="AutoShape 6" id="6"/>
          <p:cNvSpPr/>
          <p:nvPr/>
        </p:nvSpPr>
        <p:spPr>
          <a:xfrm rot="0" flipH="false" flipV="false">
            <a:off x="3683000" y="3721100"/>
            <a:ext cx="177800" cy="177800"/>
          </a:xfrm>
          <a:prstGeom prst="ellipse">
            <a:avLst/>
          </a:prstGeom>
          <a:solidFill>
            <a:srgbClr val="3B82F6">
              <a:alpha val="100000"/>
            </a:srgbClr>
          </a:solidFill>
          <a:ln cmpd="sng" cap="flat">
            <a:solidFill>
              <a:srgbClr val="1F67DD">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3937000" y="3657600"/>
            <a:ext cx="114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B82F6"/>
                </a:solidFill>
                <a:latin typeface="Noto Sans SC"/>
                <a:ea typeface="Noto Sans SC"/>
                <a:cs typeface="Noto Sans SC"/>
                <a:sym typeface="Noto Sans SC"/>
              </a:rPr>
              <a:t>P₁ (参照)</a:t>
            </a:r>
            <a:endParaRPr lang="en-US" sz="1100"/>
          </a:p>
        </p:txBody>
      </p:sp>
      <p:sp>
        <p:nvSpPr>
          <p:cNvPr name="AutoShape 8" id="8"/>
          <p:cNvSpPr/>
          <p:nvPr/>
        </p:nvSpPr>
        <p:spPr>
          <a:xfrm rot="0" flipH="false" flipV="false">
            <a:off x="1651000" y="3721100"/>
            <a:ext cx="177800" cy="177800"/>
          </a:xfrm>
          <a:prstGeom prst="ellipse">
            <a:avLst/>
          </a:prstGeom>
          <a:solidFill>
            <a:srgbClr val="9CA3AF">
              <a:alpha val="100000"/>
            </a:srgbClr>
          </a:solidFill>
          <a:ln cmpd="sng" cap="flat">
            <a:solidFill>
              <a:srgbClr val="768296">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3657600"/>
            <a:ext cx="1016000" cy="508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1300">
                <a:solidFill>
                  <a:srgbClr val="6B7280"/>
                </a:solidFill>
                <a:latin typeface="Noto Sans SC"/>
                <a:ea typeface="Noto Sans SC"/>
                <a:cs typeface="Noto Sans SC"/>
                <a:sym typeface="Noto Sans SC"/>
              </a:rPr>
              <a:t>-P₁ (圆心)</a:t>
            </a:r>
            <a:endParaRPr lang="en-US" sz="1100"/>
          </a:p>
        </p:txBody>
      </p:sp>
      <p:sp>
        <p:nvSpPr>
          <p:cNvPr name="AutoShape 10" id="10"/>
          <p:cNvSpPr/>
          <p:nvPr/>
        </p:nvSpPr>
        <p:spPr>
          <a:xfrm rot="0" flipH="false" flipV="false">
            <a:off x="444500" y="2540000"/>
            <a:ext cx="2540000" cy="2540000"/>
          </a:xfrm>
          <a:prstGeom prst="ellipse">
            <a:avLst/>
          </a:prstGeom>
          <a:solidFill>
            <a:srgbClr val="5B3FD6">
              <a:alpha val="4000"/>
            </a:srgbClr>
          </a:solidFill>
          <a:ln w="25400" cmpd="sng" cap="flat">
            <a:solidFill>
              <a:srgbClr val="5B3FD6">
                <a:alpha val="100000"/>
              </a:srgbClr>
            </a:solidFill>
            <a:prstDash val="solid"/>
            <a:round/>
          </a:ln>
        </p:spPr>
        <p:txBody>
          <a:bodyPr anchor="ctr" rtlCol="false" vert="horz" wrap="square" lIns="63500" rIns="63500" tIns="63500" bIns="63500"/>
          <a:lstStyle/>
          <a:p>
            <a:pPr algn="ctr">
              <a:defRPr/>
            </a:pPr>
            <a:endParaRPr/>
          </a:p>
        </p:txBody>
      </p:sp>
      <p:cxnSp>
        <p:nvCxnSpPr>
          <p:cNvPr name="Connector 11" id="11"/>
          <p:cNvCxnSpPr/>
          <p:nvPr/>
        </p:nvCxnSpPr>
        <p:spPr>
          <a:xfrm rot="-36963" flipH="false" flipV="false">
            <a:off x="1739934" y="3803650"/>
            <a:ext cx="1181100" cy="12700"/>
          </a:xfrm>
          <a:prstGeom prst="straightConnector1">
            <a:avLst/>
          </a:prstGeom>
          <a:solidFill>
            <a:srgbClr val="DEE0E3">
              <a:alpha val="100000"/>
            </a:srgbClr>
          </a:solidFill>
          <a:ln w="12700" cmpd="sng" cap="flat">
            <a:solidFill>
              <a:srgbClr val="EF4444">
                <a:alpha val="100000"/>
              </a:srgbClr>
            </a:solidFill>
            <a:prstDash val="dash"/>
            <a:round/>
            <a:headEnd type="none" w="med" len="med"/>
            <a:tailEnd type="none" w="med" len="med"/>
          </a:ln>
        </p:spPr>
      </p:cxnSp>
      <p:sp>
        <p:nvSpPr>
          <p:cNvPr name="AutoShape 12" id="12"/>
          <p:cNvSpPr/>
          <p:nvPr/>
        </p:nvSpPr>
        <p:spPr>
          <a:xfrm rot="0" flipH="false" flipV="false">
            <a:off x="1905000" y="3454400"/>
            <a:ext cx="1143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EF4444"/>
                </a:solidFill>
                <a:latin typeface="Noto Sans SC"/>
                <a:ea typeface="Noto Sans SC"/>
                <a:cs typeface="Noto Sans SC"/>
                <a:sym typeface="Noto Sans SC"/>
              </a:rPr>
              <a:t>R = e^ℓ₀</a:t>
            </a:r>
            <a:endParaRPr lang="en-US" sz="1100"/>
          </a:p>
        </p:txBody>
      </p:sp>
      <p:sp>
        <p:nvSpPr>
          <p:cNvPr name="AutoShape 13" id="13"/>
          <p:cNvSpPr/>
          <p:nvPr/>
        </p:nvSpPr>
        <p:spPr>
          <a:xfrm rot="0" flipH="false" flipV="false">
            <a:off x="1663700" y="2540000"/>
            <a:ext cx="152400" cy="152400"/>
          </a:xfrm>
          <a:prstGeom prst="ellipse">
            <a:avLst/>
          </a:prstGeom>
          <a:solidFill>
            <a:srgbClr val="EF4444">
              <a:alpha val="100000"/>
            </a:srgbClr>
          </a:solidFill>
          <a:ln cmpd="sng" cap="flat">
            <a:solidFill>
              <a:srgbClr val="D52727">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879600" y="2463800"/>
            <a:ext cx="127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EF4444"/>
                </a:solidFill>
                <a:latin typeface="Noto Sans SC"/>
                <a:ea typeface="Noto Sans SC"/>
                <a:cs typeface="Noto Sans SC"/>
                <a:sym typeface="Noto Sans SC"/>
              </a:rPr>
              <a:t>Q ∈ C_ℓ₀</a:t>
            </a:r>
            <a:endParaRPr lang="en-US" sz="1100"/>
          </a:p>
        </p:txBody>
      </p:sp>
      <p:sp>
        <p:nvSpPr>
          <p:cNvPr name="AutoShape 15" id="15"/>
          <p:cNvSpPr/>
          <p:nvPr/>
        </p:nvSpPr>
        <p:spPr>
          <a:xfrm rot="0" flipH="false" flipV="false">
            <a:off x="508000" y="5651500"/>
            <a:ext cx="482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300">
                <a:solidFill>
                  <a:srgbClr val="6B7280"/>
                </a:solidFill>
                <a:latin typeface="Noto Sans SC"/>
                <a:ea typeface="Noto Sans SC"/>
                <a:cs typeface="Noto Sans SC"/>
                <a:sym typeface="Noto Sans SC"/>
              </a:rPr>
              <a:t>几何直观：通过对数变换将距离度量转化为</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以 -P₁ 为中心的欧氏圆结构，实现非线性映射的线性可视化</a:t>
            </a:r>
            <a:endParaRPr lang="en-US" sz="1100"/>
          </a:p>
        </p:txBody>
      </p:sp>
      <p:sp>
        <p:nvSpPr>
          <p:cNvPr name="AutoShape 16" id="16"/>
          <p:cNvSpPr/>
          <p:nvPr/>
        </p:nvSpPr>
        <p:spPr>
          <a:xfrm rot="0" flipH="false" flipV="false">
            <a:off x="5715000" y="1016000"/>
            <a:ext cx="6223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对数配对圆</a:t>
            </a:r>
            <a:endParaRPr lang="en-US" sz="1100"/>
          </a:p>
        </p:txBody>
      </p:sp>
      <p:sp>
        <p:nvSpPr>
          <p:cNvPr name="AutoShape 17" id="17"/>
          <p:cNvSpPr/>
          <p:nvPr/>
        </p:nvSpPr>
        <p:spPr>
          <a:xfrm rot="0" flipH="false" flipV="false">
            <a:off x="5715000" y="2032000"/>
            <a:ext cx="6223000" cy="13335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905500" y="2184400"/>
            <a:ext cx="584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5B3FD6"/>
                </a:solidFill>
                <a:latin typeface="Noto Sans SC"/>
                <a:ea typeface="Noto Sans SC"/>
                <a:cs typeface="Noto Sans SC"/>
                <a:sym typeface="Noto Sans SC"/>
              </a:rPr>
              <a:t>01 核心映射定义</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500">
                <a:solidFill>
                  <a:srgbClr val="333333"/>
                </a:solidFill>
                <a:latin typeface="Noto Sans SC"/>
                <a:ea typeface="Noto Sans SC"/>
                <a:cs typeface="Noto Sans SC"/>
                <a:sym typeface="Noto Sans SC"/>
              </a:rPr>
              <a:t>定义映射 Λ_P₁: Γ×Γ → ℝ，将点对 (Pᵢ,Pⱼ) 映射为对数距离：</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500">
                <a:solidFill>
                  <a:srgbClr val="333333"/>
                </a:solidFill>
                <a:latin typeface="Source Code Pro"/>
                <a:ea typeface="Source Code Pro"/>
                <a:cs typeface="Source Code Pro"/>
                <a:sym typeface="Source Code Pro"/>
              </a:rPr>
              <a:t>Λ(Pᵢ,Pⱼ) = ln||Pᵢ + Pⱼ||</a:t>
            </a:r>
            <a:r>
              <a:rPr lang="en-US" b="false" i="false" strike="noStrike" u="none" sz="1500">
                <a:solidFill>
                  <a:srgbClr val="333333"/>
                </a:solidFill>
                <a:latin typeface="Noto Sans SC"/>
                <a:ea typeface="Noto Sans SC"/>
                <a:cs typeface="Noto Sans SC"/>
                <a:sym typeface="Noto Sans SC"/>
              </a:rPr>
              <a:t>，以此建立代数关系与几何度量的对偶桥梁。</a:t>
            </a:r>
          </a:p>
        </p:txBody>
      </p:sp>
      <p:sp>
        <p:nvSpPr>
          <p:cNvPr name="AutoShape 19" id="19"/>
          <p:cNvSpPr/>
          <p:nvPr/>
        </p:nvSpPr>
        <p:spPr>
          <a:xfrm rot="0" flipH="false" flipV="false">
            <a:off x="5715000" y="3492500"/>
            <a:ext cx="6223000" cy="13335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5905500" y="3644900"/>
            <a:ext cx="584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5B3FD6"/>
                </a:solidFill>
                <a:latin typeface="Noto Sans SC"/>
                <a:ea typeface="Noto Sans SC"/>
                <a:cs typeface="Noto Sans SC"/>
                <a:sym typeface="Noto Sans SC"/>
              </a:rPr>
              <a:t>02 几何构造特征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500">
                <a:solidFill>
                  <a:srgbClr val="333333"/>
                </a:solidFill>
                <a:latin typeface="Noto Sans SC"/>
                <a:ea typeface="Noto Sans SC"/>
                <a:cs typeface="Noto Sans SC"/>
                <a:sym typeface="Noto Sans SC"/>
              </a:rPr>
              <a:t>给定阈值 ℓ₀，构造点集 C_ℓ₀ = { Q | ln||Q + P₁|| = ℓ₀ }。</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该集合在欧氏空间中等价于以 -P₁ 为圆心、半径 R = e^ℓ₀ 的闭合圆周，实现了对数域到几何空间的直观转化。</a:t>
            </a:r>
          </a:p>
        </p:txBody>
      </p:sp>
      <p:sp>
        <p:nvSpPr>
          <p:cNvPr name="AutoShape 21" id="21"/>
          <p:cNvSpPr/>
          <p:nvPr/>
        </p:nvSpPr>
        <p:spPr>
          <a:xfrm rot="0" flipH="false" flipV="false">
            <a:off x="5715000" y="4953000"/>
            <a:ext cx="6223000" cy="13335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905500" y="5105400"/>
            <a:ext cx="584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5B3FD6"/>
                </a:solidFill>
                <a:latin typeface="Noto Sans SC"/>
                <a:ea typeface="Noto Sans SC"/>
                <a:cs typeface="Noto Sans SC"/>
                <a:sym typeface="Noto Sans SC"/>
              </a:rPr>
              <a:t>03 空间性质与合法性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500">
                <a:solidFill>
                  <a:srgbClr val="333333"/>
                </a:solidFill>
                <a:latin typeface="Noto Sans SC"/>
                <a:ea typeface="Noto Sans SC"/>
                <a:cs typeface="Noto Sans SC"/>
                <a:sym typeface="Noto Sans SC"/>
              </a:rPr>
              <a:t>该结构作为闭包满足紧致性、互易性与完全可逆性，符合拓扑空间的分离公理与代数运算的封闭性要求，通过了理论体系的完备性与自洽性检验。</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积分算子 J 与并置积分规则</a:t>
            </a:r>
            <a:endParaRPr lang="en-US" sz="1100"/>
          </a:p>
        </p:txBody>
      </p:sp>
      <p:sp>
        <p:nvSpPr>
          <p:cNvPr name="AutoShape 5" id="5"/>
          <p:cNvSpPr/>
          <p:nvPr/>
        </p:nvSpPr>
        <p:spPr>
          <a:xfrm rot="0" flipH="false" flipV="false">
            <a:off x="508000" y="1397000"/>
            <a:ext cx="11176000" cy="1397000"/>
          </a:xfrm>
          <a:prstGeom prst="roundRect">
            <a:avLst>
              <a:gd name="adj" fmla="val 0"/>
            </a:avLst>
          </a:prstGeom>
          <a:solidFill>
            <a:srgbClr val="5B3FD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397000"/>
            <a:ext cx="76200" cy="13970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25500" y="1587500"/>
            <a:ext cx="1066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151"/>
                </a:solidFill>
                <a:latin typeface="Noto Sans SC"/>
                <a:ea typeface="Noto Sans SC"/>
                <a:cs typeface="Noto Sans SC"/>
                <a:sym typeface="Noto Sans SC"/>
              </a:rPr>
              <a:t>积分算子 J(O) 遵循沿生成元序列的代数累加法则，其运算仅作用于集合合法闭包的外边界层面。无论闭包内部的子结构如何嵌套、相交或重叠，均不会直接贡献至最终的积分结果，积分值的计算完全由整体拓扑边界的几何特征与代数符号决定。</a:t>
            </a:r>
            <a:endParaRPr lang="en-US" sz="1100"/>
          </a:p>
        </p:txBody>
      </p:sp>
      <p:graphicFrame>
        <p:nvGraphicFramePr>
          <p:cNvPr name="Table 8" id="8"/>
          <p:cNvGraphicFramePr>
            <a:graphicFrameLocks noGrp="true"/>
          </p:cNvGraphicFramePr>
          <p:nvPr/>
        </p:nvGraphicFramePr>
        <p:xfrm>
          <a:off x="508000" y="3175000"/>
          <a:ext cx="6350000" cy="2603500"/>
        </p:xfrm>
        <a:graphic>
          <a:graphicData uri="http://schemas.openxmlformats.org/drawingml/2006/table">
            <a:tbl>
              <a:tblPr>
                <a:effectLst/>
              </a:tblPr>
              <a:tblGrid>
                <a:gridCol w="2032000"/>
                <a:gridCol w="1651000"/>
                <a:gridCol w="2667000"/>
              </a:tblGrid>
              <a:tr h="571500">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拓扑关系</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先合并？</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积分关系</a:t>
                      </a:r>
                      <a:endParaRPr lang="en-US" sz="1100"/>
                    </a:p>
                  </a:txBody>
                  <a:tcPr anchor="ctr" anchorCtr="false" marL="101600" marR="101600" marT="101600" marB="101600">
                    <a:lnL>
                      <a:noFill/>
                    </a:lnL>
                    <a:lnR>
                      <a:noFill/>
                    </a:lnR>
                    <a:lnT>
                      <a:noFill/>
                    </a:lnT>
                    <a:lnB>
                      <a:noFill/>
                    </a:lnB>
                    <a:solidFill>
                      <a:srgbClr val="5B3FD6">
                        <a:alpha val="100000"/>
                      </a:srgbClr>
                    </a:solidFill>
                  </a:tcPr>
                </a:tc>
              </a:tr>
              <a:tr h="5080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全等重叠</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是</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marL="0" indent="0">
                        <a:lnSpc>
                          <a:spcPct val="100000"/>
                        </a:lnSpc>
                        <a:defRPr/>
                      </a:pPr>
                      <a:r>
                        <a:rPr lang="en-US" b="false" i="false" strike="noStrike" u="none" sz="1400">
                          <a:solidFill>
                            <a:srgbClr val="DC2626"/>
                          </a:solidFill>
                          <a:latin typeface="Noto Sans SC"/>
                          <a:ea typeface="Noto Sans SC"/>
                          <a:cs typeface="Noto Sans SC"/>
                          <a:sym typeface="Noto Sans SC"/>
                        </a:rPr>
                        <a:t>不等（区域重复计算）</a:t>
                      </a:r>
                      <a:endParaRPr lang="en-US" sz="1100"/>
                    </a:p>
                  </a:txBody>
                  <a:tcPr anchor="ctr" anchorCtr="false" marL="101600" marR="101600" marT="101600" marB="101600">
                    <a:lnL>
                      <a:noFill/>
                    </a:lnL>
                    <a:lnR>
                      <a:noFill/>
                    </a:lnR>
                    <a:lnT>
                      <a:noFill/>
                    </a:lnT>
                    <a:lnB>
                      <a:noFill/>
                    </a:lnB>
                    <a:solidFill>
                      <a:srgbClr val="F3F4F6">
                        <a:alpha val="100000"/>
                      </a:srgbClr>
                    </a:solidFill>
                  </a:tcPr>
                </a:tc>
              </a:tr>
              <a:tr h="5080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内部相交</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是</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DC2626"/>
                          </a:solidFill>
                          <a:latin typeface="Noto Sans SC"/>
                          <a:ea typeface="Noto Sans SC"/>
                          <a:cs typeface="Noto Sans SC"/>
                          <a:sym typeface="Noto Sans SC"/>
                        </a:rPr>
                        <a:t>不等（交集部分重复）</a:t>
                      </a:r>
                      <a:endParaRPr lang="en-US" sz="1100"/>
                    </a:p>
                  </a:txBody>
                  <a:tcPr anchor="ctr" anchorCtr="false" marL="101600" marR="101600" marT="101600" marB="101600">
                    <a:lnL>
                      <a:noFill/>
                    </a:lnL>
                    <a:lnR>
                      <a:noFill/>
                    </a:lnR>
                    <a:lnT>
                      <a:noFill/>
                    </a:lnT>
                    <a:lnB>
                      <a:noFill/>
                    </a:lnB>
                    <a:solidFill>
                      <a:srgbClr val="FFFFFF">
                        <a:alpha val="100000"/>
                      </a:srgbClr>
                    </a:solidFill>
                  </a:tcPr>
                </a:tc>
              </a:tr>
              <a:tr h="5080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边界贴合</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是</a:t>
                      </a:r>
                      <a:endParaRPr lang="en-US" sz="1100"/>
                    </a:p>
                  </a:txBody>
                  <a:tcPr anchor="ctr" anchorCtr="false" marL="101600" marR="101600" marT="101600" marB="101600">
                    <a:lnL>
                      <a:noFill/>
                    </a:lnL>
                    <a:lnR>
                      <a:noFill/>
                    </a:lnR>
                    <a:lnT>
                      <a:noFill/>
                    </a:lnT>
                    <a:lnB>
                      <a:noFill/>
                    </a:lnB>
                    <a:solidFill>
                      <a:srgbClr val="F3F4F6">
                        <a:alpha val="100000"/>
                      </a:srgbClr>
                    </a:solidFill>
                  </a:tcPr>
                </a:tc>
                <a:tc>
                  <a:txBody>
                    <a:bodyPr anchor="t" rtlCol="false"/>
                    <a:lstStyle/>
                    <a:p>
                      <a:pPr algn="ctr" marL="0" indent="0">
                        <a:lnSpc>
                          <a:spcPct val="100000"/>
                        </a:lnSpc>
                        <a:defRPr/>
                      </a:pPr>
                      <a:r>
                        <a:rPr lang="en-US" b="false" i="false" strike="noStrike" u="none" sz="1400">
                          <a:solidFill>
                            <a:srgbClr val="DC2626"/>
                          </a:solidFill>
                          <a:latin typeface="Noto Sans SC"/>
                          <a:ea typeface="Noto Sans SC"/>
                          <a:cs typeface="Noto Sans SC"/>
                          <a:sym typeface="Noto Sans SC"/>
                        </a:rPr>
                        <a:t>不等（共享边界抵消）</a:t>
                      </a:r>
                      <a:endParaRPr lang="en-US" sz="1100"/>
                    </a:p>
                  </a:txBody>
                  <a:tcPr anchor="ctr" anchorCtr="false" marL="101600" marR="101600" marT="101600" marB="101600">
                    <a:lnL>
                      <a:noFill/>
                    </a:lnL>
                    <a:lnR>
                      <a:noFill/>
                    </a:lnR>
                    <a:lnT>
                      <a:noFill/>
                    </a:lnT>
                    <a:lnB>
                      <a:noFill/>
                    </a:lnB>
                    <a:solidFill>
                      <a:srgbClr val="F3F4F6">
                        <a:alpha val="100000"/>
                      </a:srgbClr>
                    </a:solidFill>
                  </a:tcPr>
                </a:tc>
              </a:tr>
              <a:tr h="5080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严格分离</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否</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true" i="false" strike="noStrike" u="none" sz="1400">
                          <a:solidFill>
                            <a:srgbClr val="16A34A"/>
                          </a:solidFill>
                          <a:latin typeface="Noto Sans SC"/>
                          <a:ea typeface="Noto Sans SC"/>
                          <a:cs typeface="Noto Sans SC"/>
                          <a:sym typeface="Noto Sans SC"/>
                        </a:rPr>
                        <a:t>相等（无任何共享）</a:t>
                      </a:r>
                      <a:endParaRPr lang="en-US" sz="1100"/>
                    </a:p>
                  </a:txBody>
                  <a:tcPr anchor="ctr" anchorCtr="false" marL="101600" marR="101600" marT="101600" marB="101600">
                    <a:lnL>
                      <a:noFill/>
                    </a:lnL>
                    <a:lnR>
                      <a:noFill/>
                    </a:lnR>
                    <a:lnT>
                      <a:noFill/>
                    </a:lnT>
                    <a:lnB>
                      <a:noFill/>
                    </a:lnB>
                    <a:solidFill>
                      <a:srgbClr val="FFFFFF">
                        <a:alpha val="100000"/>
                      </a:srgbClr>
                    </a:solidFill>
                  </a:tcPr>
                </a:tc>
              </a:tr>
            </a:tbl>
          </a:graphicData>
        </a:graphic>
      </p:graphicFrame>
      <p:sp>
        <p:nvSpPr>
          <p:cNvPr name="AutoShape 9" id="9"/>
          <p:cNvSpPr/>
          <p:nvPr/>
        </p:nvSpPr>
        <p:spPr>
          <a:xfrm rot="0" flipH="false" flipV="false">
            <a:off x="7239000" y="3175000"/>
            <a:ext cx="4445000" cy="2794000"/>
          </a:xfrm>
          <a:prstGeom prst="roundRect">
            <a:avLst>
              <a:gd name="adj" fmla="val 0"/>
            </a:avLst>
          </a:prstGeom>
          <a:solidFill>
            <a:srgbClr val="EEF2FF">
              <a:alpha val="100000"/>
            </a:srgbClr>
          </a:solidFill>
          <a:ln w="12700" cmpd="sng" cap="flat">
            <a:solidFill>
              <a:srgbClr val="C7D2FE">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493000" y="3429000"/>
            <a:ext cx="355600" cy="355600"/>
          </a:xfrm>
          <a:prstGeom prst="rect">
            <a:avLst/>
          </a:prstGeom>
        </p:spPr>
      </p:pic>
      <p:sp>
        <p:nvSpPr>
          <p:cNvPr name="AutoShape 11" id="11"/>
          <p:cNvSpPr/>
          <p:nvPr/>
        </p:nvSpPr>
        <p:spPr>
          <a:xfrm rot="0" flipH="false" flipV="false">
            <a:off x="7937500" y="3429000"/>
            <a:ext cx="355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5B3FD6"/>
                </a:solidFill>
                <a:latin typeface="Noto Sans SC"/>
                <a:ea typeface="Noto Sans SC"/>
                <a:cs typeface="Noto Sans SC"/>
                <a:sym typeface="Noto Sans SC"/>
              </a:rPr>
              <a:t>核心结论：分离性判据</a:t>
            </a:r>
            <a:endParaRPr lang="en-US" sz="1100"/>
          </a:p>
        </p:txBody>
      </p:sp>
      <p:cxnSp>
        <p:nvCxnSpPr>
          <p:cNvPr name="Connector 12" id="12"/>
          <p:cNvCxnSpPr/>
          <p:nvPr/>
        </p:nvCxnSpPr>
        <p:spPr>
          <a:xfrm rot="-11459" flipH="false" flipV="false">
            <a:off x="7493011" y="3994150"/>
            <a:ext cx="3810000" cy="12700"/>
          </a:xfrm>
          <a:prstGeom prst="straightConnector1">
            <a:avLst/>
          </a:prstGeom>
          <a:solidFill>
            <a:srgbClr val="DEE0E3">
              <a:alpha val="100000"/>
            </a:srgbClr>
          </a:solidFill>
          <a:ln w="12700" cmpd="sng" cap="flat">
            <a:solidFill>
              <a:srgbClr val="C7D2FE">
                <a:alpha val="100000"/>
              </a:srgbClr>
            </a:solidFill>
            <a:prstDash val="dash"/>
            <a:round/>
            <a:headEnd type="none" w="med" len="med"/>
            <a:tailEnd type="none" w="med" len="med"/>
          </a:ln>
        </p:spPr>
      </p:cxnSp>
      <p:sp>
        <p:nvSpPr>
          <p:cNvPr name="AutoShape 13" id="13"/>
          <p:cNvSpPr/>
          <p:nvPr/>
        </p:nvSpPr>
        <p:spPr>
          <a:xfrm rot="0" flipH="false" flipV="false">
            <a:off x="7493000" y="4191000"/>
            <a:ext cx="3937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Noto Sans SC"/>
                <a:ea typeface="Noto Sans SC"/>
                <a:cs typeface="Noto Sans SC"/>
                <a:sym typeface="Noto Sans SC"/>
              </a:rPr>
              <a:t>分块积分之和与并置闭包积分相等的唯一充要条件是：各闭包处于</a:t>
            </a:r>
            <a:r>
              <a:rPr lang="en-US" b="true" i="false" strike="noStrike" u="none" sz="1400">
                <a:solidFill>
                  <a:srgbClr val="374151"/>
                </a:solidFill>
                <a:latin typeface="Noto Sans SC"/>
                <a:ea typeface="Noto Sans SC"/>
                <a:cs typeface="Noto Sans SC"/>
                <a:sym typeface="Noto Sans SC"/>
              </a:rPr>
              <a:t>严格分离</a:t>
            </a:r>
            <a:r>
              <a:rPr lang="en-US" b="false" i="false" strike="noStrike" u="none" sz="1400">
                <a:solidFill>
                  <a:srgbClr val="374151"/>
                </a:solidFill>
                <a:latin typeface="Noto Sans SC"/>
                <a:ea typeface="Noto Sans SC"/>
                <a:cs typeface="Noto Sans SC"/>
                <a:sym typeface="Noto Sans SC"/>
              </a:rPr>
              <a:t>状态（无交集、无共享边界）。若存在任何形式的接触或重叠，积分值将因边界的代数抵消或区域重复计算而产生偏差，这是算子 J 保持拓扑不变性的关键前提。</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8A4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4826000"/>
            <a:ext cx="2540000" cy="2540000"/>
          </a:xfrm>
          <a:prstGeom prst="ellipse">
            <a:avLst/>
          </a:prstGeom>
          <a:solidFill>
            <a:srgbClr val="8A4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3048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04</a:t>
            </a:r>
            <a:endParaRPr lang="en-US" sz="1100"/>
          </a:p>
        </p:txBody>
      </p:sp>
      <p:sp>
        <p:nvSpPr>
          <p:cNvPr name="AutoShape 5" id="5"/>
          <p:cNvSpPr/>
          <p:nvPr/>
        </p:nvSpPr>
        <p:spPr>
          <a:xfrm rot="0" flipH="false" flipV="false">
            <a:off x="1066800" y="43815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spc="400">
                <a:solidFill>
                  <a:srgbClr val="8A4FFF"/>
                </a:solidFill>
                <a:latin typeface="Inter"/>
                <a:ea typeface="Inter"/>
                <a:cs typeface="Inter"/>
                <a:sym typeface="Inter"/>
              </a:rPr>
              <a:t>CHAPTER</a:t>
            </a:r>
            <a:endParaRPr lang="en-US" sz="1100"/>
          </a:p>
        </p:txBody>
      </p:sp>
      <p:sp>
        <p:nvSpPr>
          <p:cNvPr name="AutoShape 6" id="6"/>
          <p:cNvSpPr/>
          <p:nvPr/>
        </p:nvSpPr>
        <p:spPr>
          <a:xfrm rot="0" flipH="false" flipV="false">
            <a:off x="4318000" y="2667000"/>
            <a:ext cx="660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三维 DCG 与 q-变形空间</a:t>
            </a:r>
            <a:endParaRPr lang="en-US" sz="1100"/>
          </a:p>
        </p:txBody>
      </p:sp>
      <p:sp>
        <p:nvSpPr>
          <p:cNvPr name="AutoShape 7" id="7"/>
          <p:cNvSpPr/>
          <p:nvPr/>
        </p:nvSpPr>
        <p:spPr>
          <a:xfrm rot="0" flipH="false" flipV="false">
            <a:off x="4318000" y="3937000"/>
            <a:ext cx="6604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757575"/>
                </a:solidFill>
                <a:latin typeface="Noto Sans SC"/>
                <a:ea typeface="Noto Sans SC"/>
                <a:cs typeface="Noto Sans SC"/>
                <a:sym typeface="Noto Sans SC"/>
              </a:rPr>
              <a:t>融合三维计算机图形（DCG）技术与 q-变形数学理论，打破传统空间认知的边界。本章将深入解析数字生成艺术如何在非线性空间中重构视觉表达，探索科技与美学交织的无限可能。</a:t>
            </a:r>
            <a:endParaRPr lang="en-US" sz="1100"/>
          </a:p>
        </p:txBody>
      </p:sp>
      <p:sp>
        <p:nvSpPr>
          <p:cNvPr name="AutoShape 8" id="8"/>
          <p:cNvSpPr/>
          <p:nvPr/>
        </p:nvSpPr>
        <p:spPr>
          <a:xfrm rot="0" flipH="false" flipV="false">
            <a:off x="1016000" y="5842000"/>
            <a:ext cx="10160000" cy="25400"/>
          </a:xfrm>
          <a:prstGeom prst="roundRect">
            <a:avLst>
              <a:gd name="adj" fmla="val 0"/>
            </a:avLst>
          </a:prstGeom>
          <a:solidFill>
            <a:srgbClr val="8A4F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q-变形代数元 ω_q 与复定坐标</a:t>
            </a:r>
            <a:endParaRPr lang="en-US" sz="1100"/>
          </a:p>
        </p:txBody>
      </p:sp>
      <p:sp>
        <p:nvSpPr>
          <p:cNvPr name="AutoShape 5" id="5"/>
          <p:cNvSpPr/>
          <p:nvPr/>
        </p:nvSpPr>
        <p:spPr>
          <a:xfrm rot="0" flipH="false" flipV="false">
            <a:off x="508000" y="1651000"/>
            <a:ext cx="3556000" cy="4318000"/>
          </a:xfrm>
          <a:prstGeom prst="roundRect">
            <a:avLst>
              <a:gd name="adj" fmla="val 0"/>
            </a:avLst>
          </a:prstGeom>
          <a:solidFill>
            <a:srgbClr val="F8F7FC">
              <a:alpha val="100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879600"/>
            <a:ext cx="304800" cy="304800"/>
          </a:xfrm>
          <a:prstGeom prst="rect">
            <a:avLst/>
          </a:prstGeom>
        </p:spPr>
      </p:pic>
      <p:sp>
        <p:nvSpPr>
          <p:cNvPr name="AutoShape 7" id="7"/>
          <p:cNvSpPr/>
          <p:nvPr/>
        </p:nvSpPr>
        <p:spPr>
          <a:xfrm rot="0" flipH="false" flipV="false">
            <a:off x="1079500" y="18415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01 代数元的核心方程</a:t>
            </a:r>
            <a:endParaRPr lang="en-US" sz="1100"/>
          </a:p>
        </p:txBody>
      </p:sp>
      <p:cxnSp>
        <p:nvCxnSpPr>
          <p:cNvPr name="Connector 8" id="8"/>
          <p:cNvCxnSpPr/>
          <p:nvPr/>
        </p:nvCxnSpPr>
        <p:spPr>
          <a:xfrm rot="-13750" flipH="false" flipV="false">
            <a:off x="698513" y="2343150"/>
            <a:ext cx="3175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9" id="9"/>
          <p:cNvSpPr/>
          <p:nvPr/>
        </p:nvSpPr>
        <p:spPr>
          <a:xfrm rot="0" flipH="false" flipV="false">
            <a:off x="698500" y="2540000"/>
            <a:ext cx="3175000" cy="12065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2667000"/>
            <a:ext cx="3048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4B5563"/>
                </a:solidFill>
                <a:latin typeface="Consolas"/>
                <a:ea typeface="Consolas"/>
                <a:cs typeface="Consolas"/>
                <a:sym typeface="Consolas"/>
              </a:rPr>
              <a:t>ω_q² + ω_q + (1-q) = 0</a:t>
            </a:r>
            <a:r>
              <a:rPr lang="en-US" b="false" i="false" strike="noStrike" u="none" sz="1400">
                <a:solidFill>
                  <a:srgbClr val="4B5563"/>
                </a:solidFill>
                <a:latin typeface="Consolas"/>
                <a:ea typeface="Consolas"/>
                <a:cs typeface="Consolas"/>
                <a:sym typeface="Consolas"/>
              </a:rPr>
              <a:t/>
            </a:r>
            <a:br>
              <a:rPr lang="en-US" b="false" i="false" strike="noStrike" u="none" sz="1400">
                <a:solidFill>
                  <a:srgbClr val="4B5563"/>
                </a:solidFill>
                <a:latin typeface="Consolas"/>
                <a:ea typeface="Consolas"/>
                <a:cs typeface="Consolas"/>
                <a:sym typeface="Consolas"/>
              </a:rPr>
            </a:br>
            <a:r>
              <a:rPr lang="en-US" b="false" i="false" strike="noStrike" u="none" sz="1400">
                <a:solidFill>
                  <a:srgbClr val="4B5563"/>
                </a:solidFill>
                <a:latin typeface="Consolas"/>
                <a:ea typeface="Consolas"/>
                <a:cs typeface="Consolas"/>
                <a:sym typeface="Consolas"/>
              </a:rPr>
              <a:t>ω_q = (-1 ± √(4q-3))/2</a:t>
            </a:r>
            <a:endParaRPr lang="en-US" sz="1100"/>
          </a:p>
        </p:txBody>
      </p:sp>
      <p:sp>
        <p:nvSpPr>
          <p:cNvPr name="AutoShape 11" id="11"/>
          <p:cNvSpPr/>
          <p:nvPr/>
        </p:nvSpPr>
        <p:spPr>
          <a:xfrm rot="0" flipH="false" flipV="false">
            <a:off x="698500" y="4000500"/>
            <a:ext cx="31750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25252"/>
                </a:solidFill>
                <a:latin typeface="Noto Sans SC"/>
                <a:ea typeface="Noto Sans SC"/>
                <a:cs typeface="Noto Sans SC"/>
                <a:sym typeface="Noto Sans SC"/>
              </a:rPr>
              <a:t>该二次方程定义了q-变形的基础代数结构。当参数</a:t>
            </a:r>
            <a:r>
              <a:rPr lang="en-US" b="true" i="false" strike="noStrike" u="none" sz="1300">
                <a:solidFill>
                  <a:srgbClr val="5B3FD6"/>
                </a:solidFill>
                <a:latin typeface="Noto Sans SC"/>
                <a:ea typeface="Noto Sans SC"/>
                <a:cs typeface="Noto Sans SC"/>
                <a:sym typeface="Noto Sans SC"/>
              </a:rPr>
              <a:t>q=0</a:t>
            </a:r>
            <a:r>
              <a:rPr lang="en-US" b="false" i="false" strike="noStrike" u="none" sz="1300">
                <a:solidFill>
                  <a:srgbClr val="525252"/>
                </a:solidFill>
                <a:latin typeface="Noto Sans SC"/>
                <a:ea typeface="Noto Sans SC"/>
                <a:cs typeface="Noto Sans SC"/>
                <a:sym typeface="Noto Sans SC"/>
              </a:rPr>
              <a:t>时，方程退化为标准的三次单位根方程，此时 ω₀ 即为复数域中的本原三次单位根，构成了变形理论的退化基准点。</a:t>
            </a:r>
            <a:endParaRPr lang="en-US" sz="1100"/>
          </a:p>
        </p:txBody>
      </p:sp>
      <p:sp>
        <p:nvSpPr>
          <p:cNvPr name="AutoShape 12" id="12"/>
          <p:cNvSpPr/>
          <p:nvPr/>
        </p:nvSpPr>
        <p:spPr>
          <a:xfrm rot="0" flipH="false" flipV="false">
            <a:off x="4318000" y="1651000"/>
            <a:ext cx="3556000" cy="4318000"/>
          </a:xfrm>
          <a:prstGeom prst="roundRect">
            <a:avLst>
              <a:gd name="adj" fmla="val 0"/>
            </a:avLst>
          </a:prstGeom>
          <a:solidFill>
            <a:srgbClr val="F8F7FC">
              <a:alpha val="100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1879600"/>
            <a:ext cx="304800" cy="304800"/>
          </a:xfrm>
          <a:prstGeom prst="rect">
            <a:avLst/>
          </a:prstGeom>
        </p:spPr>
      </p:pic>
      <p:sp>
        <p:nvSpPr>
          <p:cNvPr name="AutoShape 14" id="14"/>
          <p:cNvSpPr/>
          <p:nvPr/>
        </p:nvSpPr>
        <p:spPr>
          <a:xfrm rot="0" flipH="false" flipV="false">
            <a:off x="4889500" y="18415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02 复定坐标的构造映射</a:t>
            </a:r>
            <a:endParaRPr lang="en-US" sz="1100"/>
          </a:p>
        </p:txBody>
      </p:sp>
      <p:cxnSp>
        <p:nvCxnSpPr>
          <p:cNvPr name="Connector 15" id="15"/>
          <p:cNvCxnSpPr/>
          <p:nvPr/>
        </p:nvCxnSpPr>
        <p:spPr>
          <a:xfrm rot="-13750" flipH="false" flipV="false">
            <a:off x="4508513" y="2343150"/>
            <a:ext cx="3175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16" id="16"/>
          <p:cNvSpPr/>
          <p:nvPr/>
        </p:nvSpPr>
        <p:spPr>
          <a:xfrm rot="0" flipH="false" flipV="false">
            <a:off x="4508500" y="2540000"/>
            <a:ext cx="3175000" cy="12065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572000" y="2667000"/>
            <a:ext cx="3048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4B5563"/>
                </a:solidFill>
                <a:latin typeface="Consolas"/>
                <a:ea typeface="Consolas"/>
                <a:cs typeface="Consolas"/>
                <a:sym typeface="Consolas"/>
              </a:rPr>
              <a:t>∀ P=(x,y,z) ∈ ℝ³</a:t>
            </a:r>
            <a:r>
              <a:rPr lang="en-US" b="false" i="false" strike="noStrike" u="none" sz="1400">
                <a:solidFill>
                  <a:srgbClr val="4B5563"/>
                </a:solidFill>
                <a:latin typeface="Consolas"/>
                <a:ea typeface="Consolas"/>
                <a:cs typeface="Consolas"/>
                <a:sym typeface="Consolas"/>
              </a:rPr>
              <a:t/>
            </a:r>
            <a:br>
              <a:rPr lang="en-US" b="false" i="false" strike="noStrike" u="none" sz="1400">
                <a:solidFill>
                  <a:srgbClr val="4B5563"/>
                </a:solidFill>
                <a:latin typeface="Consolas"/>
                <a:ea typeface="Consolas"/>
                <a:cs typeface="Consolas"/>
                <a:sym typeface="Consolas"/>
              </a:rPr>
            </a:br>
            <a:r>
              <a:rPr lang="en-US" b="false" i="false" strike="noStrike" u="none" sz="1400">
                <a:solidFill>
                  <a:srgbClr val="4B5563"/>
                </a:solidFill>
                <a:latin typeface="Consolas"/>
                <a:ea typeface="Consolas"/>
                <a:cs typeface="Consolas"/>
                <a:sym typeface="Consolas"/>
              </a:rPr>
              <a:t>ζ_q(P) = x + yω_q + zω_q²</a:t>
            </a:r>
            <a:endParaRPr lang="en-US" sz="1100"/>
          </a:p>
        </p:txBody>
      </p:sp>
      <p:sp>
        <p:nvSpPr>
          <p:cNvPr name="AutoShape 18" id="18"/>
          <p:cNvSpPr/>
          <p:nvPr/>
        </p:nvSpPr>
        <p:spPr>
          <a:xfrm rot="0" flipH="false" flipV="false">
            <a:off x="4508500" y="4000500"/>
            <a:ext cx="31750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25252"/>
                </a:solidFill>
                <a:latin typeface="Noto Sans SC"/>
                <a:ea typeface="Noto Sans SC"/>
                <a:cs typeface="Noto Sans SC"/>
                <a:sym typeface="Noto Sans SC"/>
              </a:rPr>
              <a:t>将三维实空间中的任意点映射到由 ω_q 生成的</a:t>
            </a:r>
            <a:r>
              <a:rPr lang="en-US" b="true" i="false" strike="noStrike" u="none" sz="1300">
                <a:solidFill>
                  <a:srgbClr val="5B3FD6"/>
                </a:solidFill>
                <a:latin typeface="Noto Sans SC"/>
                <a:ea typeface="Noto Sans SC"/>
                <a:cs typeface="Noto Sans SC"/>
                <a:sym typeface="Noto Sans SC"/>
              </a:rPr>
              <a:t>代数数域扩张 ℝ(ω_q)</a:t>
            </a:r>
            <a:r>
              <a:rPr lang="en-US" b="false" i="false" strike="noStrike" u="none" sz="1300">
                <a:solidFill>
                  <a:srgbClr val="525252"/>
                </a:solidFill>
                <a:latin typeface="Noto Sans SC"/>
                <a:ea typeface="Noto Sans SC"/>
                <a:cs typeface="Noto Sans SC"/>
                <a:sym typeface="Noto Sans SC"/>
              </a:rPr>
              <a:t>中。这不仅是坐标变换，更是将三维几何信息紧凑地编码为复数形式，建立了实空间几何与复代数结构的深层同构。</a:t>
            </a:r>
            <a:endParaRPr lang="en-US" sz="1100"/>
          </a:p>
        </p:txBody>
      </p:sp>
      <p:sp>
        <p:nvSpPr>
          <p:cNvPr name="AutoShape 19" id="19"/>
          <p:cNvSpPr/>
          <p:nvPr/>
        </p:nvSpPr>
        <p:spPr>
          <a:xfrm rot="0" flipH="false" flipV="false">
            <a:off x="8128000" y="1651000"/>
            <a:ext cx="3556000" cy="4318000"/>
          </a:xfrm>
          <a:prstGeom prst="roundRect">
            <a:avLst>
              <a:gd name="adj" fmla="val 0"/>
            </a:avLst>
          </a:prstGeom>
          <a:solidFill>
            <a:srgbClr val="F8F7FC">
              <a:alpha val="100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1879600"/>
            <a:ext cx="304800" cy="304800"/>
          </a:xfrm>
          <a:prstGeom prst="rect">
            <a:avLst/>
          </a:prstGeom>
        </p:spPr>
      </p:pic>
      <p:sp>
        <p:nvSpPr>
          <p:cNvPr name="AutoShape 21" id="21"/>
          <p:cNvSpPr/>
          <p:nvPr/>
        </p:nvSpPr>
        <p:spPr>
          <a:xfrm rot="0" flipH="false" flipV="false">
            <a:off x="8699500" y="18415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03 商空间的几何诠释</a:t>
            </a:r>
            <a:endParaRPr lang="en-US" sz="1100"/>
          </a:p>
        </p:txBody>
      </p:sp>
      <p:cxnSp>
        <p:nvCxnSpPr>
          <p:cNvPr name="Connector 22" id="22"/>
          <p:cNvCxnSpPr/>
          <p:nvPr/>
        </p:nvCxnSpPr>
        <p:spPr>
          <a:xfrm rot="-13750" flipH="false" flipV="false">
            <a:off x="8318513" y="2343150"/>
            <a:ext cx="3175000" cy="12700"/>
          </a:xfrm>
          <a:prstGeom prst="straightConnector1">
            <a:avLst/>
          </a:prstGeom>
          <a:solidFill>
            <a:srgbClr val="DEE0E3">
              <a:alpha val="100000"/>
            </a:srgbClr>
          </a:solidFill>
          <a:ln w="12700" cmpd="sng" cap="flat">
            <a:solidFill>
              <a:srgbClr val="5B3FD6">
                <a:alpha val="20000"/>
              </a:srgbClr>
            </a:solidFill>
            <a:prstDash val="solid"/>
            <a:round/>
            <a:headEnd type="none" w="med" len="med"/>
            <a:tailEnd type="none" w="med" len="med"/>
          </a:ln>
        </p:spPr>
      </p:cxnSp>
      <p:sp>
        <p:nvSpPr>
          <p:cNvPr name="AutoShape 23" id="23"/>
          <p:cNvSpPr/>
          <p:nvPr/>
        </p:nvSpPr>
        <p:spPr>
          <a:xfrm rot="0" flipH="false" flipV="false">
            <a:off x="8318500" y="2540000"/>
            <a:ext cx="3175000" cy="12065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382000" y="2667000"/>
            <a:ext cx="3048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4B5563"/>
                </a:solidFill>
                <a:latin typeface="Consolas"/>
                <a:ea typeface="Consolas"/>
                <a:cs typeface="Consolas"/>
                <a:sym typeface="Consolas"/>
              </a:rPr>
              <a:t>ker(ζ_q) ≅ ℝ (一维子空间)</a:t>
            </a:r>
            <a:r>
              <a:rPr lang="en-US" b="false" i="false" strike="noStrike" u="none" sz="1400">
                <a:solidFill>
                  <a:srgbClr val="4B5563"/>
                </a:solidFill>
                <a:latin typeface="Consolas"/>
                <a:ea typeface="Consolas"/>
                <a:cs typeface="Consolas"/>
                <a:sym typeface="Consolas"/>
              </a:rPr>
              <a:t/>
            </a:r>
            <a:br>
              <a:rPr lang="en-US" b="false" i="false" strike="noStrike" u="none" sz="1400">
                <a:solidFill>
                  <a:srgbClr val="4B5563"/>
                </a:solidFill>
                <a:latin typeface="Consolas"/>
                <a:ea typeface="Consolas"/>
                <a:cs typeface="Consolas"/>
                <a:sym typeface="Consolas"/>
              </a:rPr>
            </a:br>
            <a:r>
              <a:rPr lang="en-US" b="false" i="false" strike="noStrike" u="none" sz="1400">
                <a:solidFill>
                  <a:srgbClr val="4B5563"/>
                </a:solidFill>
                <a:latin typeface="Consolas"/>
                <a:ea typeface="Consolas"/>
                <a:cs typeface="Consolas"/>
                <a:sym typeface="Consolas"/>
              </a:rPr>
              <a:t>ℝ³ / ker(ζ_q) ≅ ℂ</a:t>
            </a:r>
            <a:endParaRPr lang="en-US" sz="1100"/>
          </a:p>
        </p:txBody>
      </p:sp>
      <p:sp>
        <p:nvSpPr>
          <p:cNvPr name="AutoShape 25" id="25"/>
          <p:cNvSpPr/>
          <p:nvPr/>
        </p:nvSpPr>
        <p:spPr>
          <a:xfrm rot="0" flipH="false" flipV="false">
            <a:off x="8318500" y="4000500"/>
            <a:ext cx="31750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25252"/>
                </a:solidFill>
                <a:latin typeface="Noto Sans SC"/>
                <a:ea typeface="Noto Sans SC"/>
                <a:cs typeface="Noto Sans SC"/>
                <a:sym typeface="Noto Sans SC"/>
              </a:rPr>
              <a:t>线性映射的核是一维实直线，商去该子空间后得到二维复平面。这一过程巧妙地</a:t>
            </a:r>
            <a:r>
              <a:rPr lang="en-US" b="true" i="false" strike="noStrike" u="none" sz="1300">
                <a:solidFill>
                  <a:srgbClr val="5B3FD6"/>
                </a:solidFill>
                <a:latin typeface="Noto Sans SC"/>
                <a:ea typeface="Noto Sans SC"/>
                <a:cs typeface="Noto Sans SC"/>
                <a:sym typeface="Noto Sans SC"/>
              </a:rPr>
              <a:t>编码了三维循环对称性</a:t>
            </a:r>
            <a:r>
              <a:rPr lang="en-US" b="false" i="false" strike="noStrike" u="none" sz="1300">
                <a:solidFill>
                  <a:srgbClr val="525252"/>
                </a:solidFill>
                <a:latin typeface="Noto Sans SC"/>
                <a:ea typeface="Noto Sans SC"/>
                <a:cs typeface="Noto Sans SC"/>
                <a:sym typeface="Noto Sans SC"/>
              </a:rPr>
              <a:t>，且无需引入额外的第四坐标轴，完美保持了物理与几何上的维度经济性。</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1651000"/>
            <a:ext cx="4318000" cy="4318000"/>
          </a:xfrm>
          <a:prstGeom prst="ellipse">
            <a:avLst/>
          </a:prstGeom>
          <a:solidFill>
            <a:srgbClr val="5B3FD6">
              <a:alpha val="4000"/>
            </a:srgbClr>
          </a:solidFill>
          <a:ln cmpd="sng" cap="flat">
            <a:solidFill>
              <a:srgbClr val="4125BD">
                <a:alpha val="4000"/>
              </a:srgbClr>
            </a:solidFill>
            <a:prstDash val="solid"/>
            <a:round/>
          </a:ln>
        </p:spPr>
        <p:txBody>
          <a:bodyPr anchor="ctr" rtlCol="false" vert="horz" wrap="square" lIns="63500" rIns="63500" tIns="63500" bIns="63500"/>
          <a:lstStyle/>
          <a:p>
            <a:pPr algn="ctr">
              <a:defRPr/>
            </a:pPr>
            <a:endParaRPr/>
          </a:p>
        </p:txBody>
      </p:sp>
      <p:cxnSp>
        <p:nvCxnSpPr>
          <p:cNvPr name="Connector 3" id="3"/>
          <p:cNvCxnSpPr/>
          <p:nvPr/>
        </p:nvCxnSpPr>
        <p:spPr>
          <a:xfrm rot="-12277" flipH="false" flipV="false">
            <a:off x="1016011" y="4565650"/>
            <a:ext cx="3556000" cy="12700"/>
          </a:xfrm>
          <a:prstGeom prst="line">
            <a:avLst/>
          </a:prstGeom>
          <a:solidFill>
            <a:srgbClr val="DEE0E3">
              <a:alpha val="100000"/>
            </a:srgbClr>
          </a:solidFill>
          <a:ln w="25400" cmpd="sng" cap="flat">
            <a:solidFill>
              <a:srgbClr val="EF4444">
                <a:alpha val="100000"/>
              </a:srgbClr>
            </a:solidFill>
            <a:prstDash val="solid"/>
            <a:round/>
            <a:headEnd type="none" w="lg" len="lg"/>
            <a:tailEnd type="arrow" w="med" len="med"/>
          </a:ln>
        </p:spPr>
      </p:cxnSp>
      <p:sp>
        <p:nvSpPr>
          <p:cNvPr name="AutoShape 4" id="4"/>
          <p:cNvSpPr/>
          <p:nvPr/>
        </p:nvSpPr>
        <p:spPr>
          <a:xfrm rot="0" flipH="false" flipV="false">
            <a:off x="4635500" y="4470400"/>
            <a:ext cx="50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F4444"/>
                </a:solidFill>
                <a:latin typeface="Noto Sans SC"/>
                <a:ea typeface="Noto Sans SC"/>
                <a:cs typeface="Noto Sans SC"/>
                <a:sym typeface="Noto Sans SC"/>
              </a:rPr>
              <a:t>X</a:t>
            </a:r>
            <a:endParaRPr lang="en-US" sz="1100"/>
          </a:p>
        </p:txBody>
      </p:sp>
      <p:cxnSp>
        <p:nvCxnSpPr>
          <p:cNvPr name="Connector 5" id="5"/>
          <p:cNvCxnSpPr/>
          <p:nvPr/>
        </p:nvCxnSpPr>
        <p:spPr>
          <a:xfrm rot="-5415626" flipH="false" flipV="false">
            <a:off x="-381000" y="3168636"/>
            <a:ext cx="2794000" cy="12700"/>
          </a:xfrm>
          <a:prstGeom prst="line">
            <a:avLst/>
          </a:prstGeom>
          <a:solidFill>
            <a:srgbClr val="DEE0E3">
              <a:alpha val="100000"/>
            </a:srgbClr>
          </a:solidFill>
          <a:ln w="25400" cmpd="sng" cap="flat">
            <a:solidFill>
              <a:srgbClr val="22C55E">
                <a:alpha val="100000"/>
              </a:srgbClr>
            </a:solidFill>
            <a:prstDash val="solid"/>
            <a:round/>
            <a:headEnd type="none" w="lg" len="lg"/>
            <a:tailEnd type="arrow" w="med" len="med"/>
          </a:ln>
        </p:spPr>
      </p:cxnSp>
      <p:sp>
        <p:nvSpPr>
          <p:cNvPr name="AutoShape 6" id="6"/>
          <p:cNvSpPr/>
          <p:nvPr/>
        </p:nvSpPr>
        <p:spPr>
          <a:xfrm rot="0" flipH="false" flipV="false">
            <a:off x="762000" y="1524000"/>
            <a:ext cx="50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2C55E"/>
                </a:solidFill>
                <a:latin typeface="Noto Sans SC"/>
                <a:ea typeface="Noto Sans SC"/>
                <a:cs typeface="Noto Sans SC"/>
                <a:sym typeface="Noto Sans SC"/>
              </a:rPr>
              <a:t>Y</a:t>
            </a:r>
            <a:endParaRPr lang="en-US" sz="1100"/>
          </a:p>
        </p:txBody>
      </p:sp>
      <p:cxnSp>
        <p:nvCxnSpPr>
          <p:cNvPr name="Connector 7" id="7"/>
          <p:cNvCxnSpPr/>
          <p:nvPr/>
        </p:nvCxnSpPr>
        <p:spPr>
          <a:xfrm rot="-2598258" flipH="false" flipV="false">
            <a:off x="665600" y="3676639"/>
            <a:ext cx="2605822" cy="12700"/>
          </a:xfrm>
          <a:prstGeom prst="line">
            <a:avLst/>
          </a:prstGeom>
          <a:solidFill>
            <a:srgbClr val="DEE0E3">
              <a:alpha val="100000"/>
            </a:srgbClr>
          </a:solidFill>
          <a:ln w="25400" cmpd="sng" cap="flat">
            <a:solidFill>
              <a:srgbClr val="3B82F6">
                <a:alpha val="100000"/>
              </a:srgbClr>
            </a:solidFill>
            <a:prstDash val="solid"/>
            <a:round/>
            <a:headEnd type="none" w="lg" len="lg"/>
            <a:tailEnd type="arrow" w="med" len="med"/>
          </a:ln>
        </p:spPr>
      </p:cxnSp>
      <p:sp>
        <p:nvSpPr>
          <p:cNvPr name="AutoShape 8" id="8"/>
          <p:cNvSpPr/>
          <p:nvPr/>
        </p:nvSpPr>
        <p:spPr>
          <a:xfrm rot="0" flipH="false" flipV="false">
            <a:off x="2984500" y="2603500"/>
            <a:ext cx="50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B82F6"/>
                </a:solidFill>
                <a:latin typeface="Noto Sans SC"/>
                <a:ea typeface="Noto Sans SC"/>
                <a:cs typeface="Noto Sans SC"/>
                <a:sym typeface="Noto Sans SC"/>
              </a:rPr>
              <a:t>Z</a:t>
            </a:r>
            <a:endParaRPr lang="en-US" sz="1100"/>
          </a:p>
        </p:txBody>
      </p:sp>
      <p:sp>
        <p:nvSpPr>
          <p:cNvPr name="AutoShape 9" id="9"/>
          <p:cNvSpPr/>
          <p:nvPr/>
        </p:nvSpPr>
        <p:spPr>
          <a:xfrm rot="0" flipH="false" flipV="false">
            <a:off x="1905000" y="2921000"/>
            <a:ext cx="1397000" cy="1397000"/>
          </a:xfrm>
          <a:prstGeom prst="cube">
            <a:avLst/>
          </a:prstGeom>
          <a:solidFill>
            <a:srgbClr val="5B3FD6">
              <a:alpha val="18000"/>
            </a:srgbClr>
          </a:solidFill>
          <a:ln w="25400" cmpd="sng" cap="flat">
            <a:solidFill>
              <a:srgbClr val="5B3FD6">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3810000"/>
            <a:ext cx="571500" cy="444500"/>
          </a:xfrm>
          <a:prstGeom prst="curvedRightArrow">
            <a:avLst/>
          </a:prstGeom>
          <a:solidFill>
            <a:srgbClr val="F97316">
              <a:alpha val="80000"/>
            </a:srgbClr>
          </a:solidFill>
          <a:ln cmpd="sng" cap="flat">
            <a:solidFill>
              <a:srgbClr val="E05C00">
                <a:alpha val="8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159000" y="2286000"/>
            <a:ext cx="571500" cy="444500"/>
          </a:xfrm>
          <a:prstGeom prst="curvedRightArrow">
            <a:avLst/>
          </a:prstGeom>
          <a:solidFill>
            <a:srgbClr val="F97316">
              <a:alpha val="80000"/>
            </a:srgbClr>
          </a:solidFill>
          <a:ln cmpd="sng" cap="flat">
            <a:solidFill>
              <a:srgbClr val="E05C00">
                <a:alpha val="8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397000" y="3429000"/>
            <a:ext cx="571500" cy="444500"/>
          </a:xfrm>
          <a:prstGeom prst="curvedRightArrow">
            <a:avLst/>
          </a:prstGeom>
          <a:solidFill>
            <a:srgbClr val="F97316">
              <a:alpha val="80000"/>
            </a:srgbClr>
          </a:solidFill>
          <a:ln cmpd="sng" cap="flat">
            <a:solidFill>
              <a:srgbClr val="E05C00">
                <a:alpha val="8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08000" y="5651500"/>
            <a:ext cx="457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6B7280"/>
                </a:solidFill>
                <a:latin typeface="Noto Sans SC"/>
                <a:ea typeface="Noto Sans SC"/>
                <a:cs typeface="Noto Sans SC"/>
                <a:sym typeface="Noto Sans SC"/>
              </a:rPr>
              <a:t>图示：R_q 在三维空间中诱导的坐标循环置换与线性映射示意</a:t>
            </a:r>
            <a:endParaRPr lang="en-US" sz="1100"/>
          </a:p>
        </p:txBody>
      </p:sp>
      <p:sp>
        <p:nvSpPr>
          <p:cNvPr name="AutoShape 14" id="14"/>
          <p:cNvSpPr/>
          <p:nvPr/>
        </p:nvSpPr>
        <p:spPr>
          <a:xfrm rot="0" flipH="false" flipV="false">
            <a:off x="5715000" y="1016000"/>
            <a:ext cx="6096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广义轮换算子 R_q</a:t>
            </a:r>
            <a:endParaRPr lang="en-US" sz="1100"/>
          </a:p>
        </p:txBody>
      </p:sp>
      <p:cxnSp>
        <p:nvCxnSpPr>
          <p:cNvPr name="Connector 15" id="15"/>
          <p:cNvCxnSpPr/>
          <p:nvPr/>
        </p:nvCxnSpPr>
        <p:spPr>
          <a:xfrm rot="-8384" flipH="false" flipV="false">
            <a:off x="6223008" y="2025650"/>
            <a:ext cx="5207000" cy="12700"/>
          </a:xfrm>
          <a:prstGeom prst="line">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16" id="16"/>
          <p:cNvSpPr/>
          <p:nvPr/>
        </p:nvSpPr>
        <p:spPr>
          <a:xfrm rot="0" flipH="false" flipV="false">
            <a:off x="5715000" y="2413000"/>
            <a:ext cx="6096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01 / 核心定义式</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ζ_q(R_q(P)) = ω_q · ζ_q(P)</a:t>
            </a:r>
            <a:endParaRPr lang="en-US" sz="1100"/>
          </a:p>
        </p:txBody>
      </p:sp>
      <p:sp>
        <p:nvSpPr>
          <p:cNvPr name="AutoShape 17" id="17"/>
          <p:cNvSpPr/>
          <p:nvPr/>
        </p:nvSpPr>
        <p:spPr>
          <a:xfrm rot="0" flipH="false" flipV="false">
            <a:off x="5715000" y="3556000"/>
            <a:ext cx="6096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02 / 坐标变换显式表达</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R_q(x, y, z) = ( z(1−q), x + zq, y )</a:t>
            </a:r>
            <a:endParaRPr lang="en-US" sz="1100"/>
          </a:p>
        </p:txBody>
      </p:sp>
      <p:sp>
        <p:nvSpPr>
          <p:cNvPr name="AutoShape 18" id="18"/>
          <p:cNvSpPr/>
          <p:nvPr/>
        </p:nvSpPr>
        <p:spPr>
          <a:xfrm rot="0" flipH="false" flipV="false">
            <a:off x="5715000" y="4762500"/>
            <a:ext cx="6096000" cy="165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333333"/>
                </a:solidFill>
                <a:latin typeface="Noto Sans SC"/>
                <a:ea typeface="Noto Sans SC"/>
                <a:cs typeface="Noto Sans SC"/>
                <a:sym typeface="Noto Sans SC"/>
              </a:rPr>
              <a:t>03 / 几何与代数性质</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 是 R³ 上的线性同胚，保持空间拓扑结构不变</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 q=0 时退化为经典循环置换 (z, x, y)，且保持核空间稳定</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 雅可比行列式 det(J_{R_q}) = 1−q，刻画空间体积缩放率</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635000"/>
            <a:ext cx="482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5B3FD6"/>
                </a:solidFill>
                <a:latin typeface="Noto Sans SC"/>
                <a:ea typeface="Noto Sans SC"/>
                <a:cs typeface="Noto Sans SC"/>
                <a:sym typeface="Noto Sans SC"/>
              </a:rPr>
              <a:t>几何生成机制可视化示意</a:t>
            </a:r>
            <a:endParaRPr lang="en-US" sz="1100"/>
          </a:p>
        </p:txBody>
      </p:sp>
      <p:sp>
        <p:nvSpPr>
          <p:cNvPr name="AutoShape 3" id="3"/>
          <p:cNvSpPr/>
          <p:nvPr/>
        </p:nvSpPr>
        <p:spPr>
          <a:xfrm rot="0" flipH="false" flipV="false">
            <a:off x="508000" y="1397000"/>
            <a:ext cx="4826000" cy="2159000"/>
          </a:xfrm>
          <a:prstGeom prst="roundRect">
            <a:avLst>
              <a:gd name="adj" fmla="val 0"/>
            </a:avLst>
          </a:prstGeom>
          <a:solidFill>
            <a:srgbClr val="5B3FD6">
              <a:alpha val="6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889000" y="2730500"/>
            <a:ext cx="889000" cy="444500"/>
          </a:xfrm>
          <a:prstGeom prst="roundRect">
            <a:avLst>
              <a:gd name="adj" fmla="val 0"/>
            </a:avLst>
          </a:prstGeom>
          <a:solidFill>
            <a:srgbClr val="5B3FD6">
              <a:alpha val="25000"/>
            </a:srgbClr>
          </a:solidFill>
          <a:ln w="25400" cmpd="sng" cap="flat">
            <a:solidFill>
              <a:srgbClr val="5B3FD6">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968500"/>
            <a:ext cx="889000" cy="444500"/>
          </a:xfrm>
          <a:prstGeom prst="roundRect">
            <a:avLst>
              <a:gd name="adj" fmla="val 0"/>
            </a:avLst>
          </a:prstGeom>
          <a:solidFill>
            <a:srgbClr val="5B3FD6">
              <a:alpha val="10000"/>
            </a:srgbClr>
          </a:solidFill>
          <a:ln w="25400" cmpd="sng" cap="flat">
            <a:solidFill>
              <a:srgbClr val="5B3FD6">
                <a:alpha val="100000"/>
              </a:srgbClr>
            </a:solidFill>
            <a:prstDash val="solid"/>
            <a:round/>
          </a:ln>
        </p:spPr>
        <p:txBody>
          <a:bodyPr anchor="ctr" rtlCol="false" vert="horz" wrap="square" lIns="63500" rIns="63500" tIns="63500" bIns="63500"/>
          <a:lstStyle/>
          <a:p>
            <a:pPr algn="ctr">
              <a:defRPr/>
            </a:pPr>
            <a:endParaRPr/>
          </a:p>
        </p:txBody>
      </p:sp>
      <p:cxnSp>
        <p:nvCxnSpPr>
          <p:cNvPr name="Connector 6" id="6"/>
          <p:cNvCxnSpPr/>
          <p:nvPr/>
        </p:nvCxnSpPr>
        <p:spPr>
          <a:xfrm rot="5262563" flipH="false" flipV="false">
            <a:off x="730250" y="2565527"/>
            <a:ext cx="317500" cy="12700"/>
          </a:xfrm>
          <a:prstGeom prst="line">
            <a:avLst/>
          </a:prstGeom>
          <a:solidFill>
            <a:srgbClr val="DEE0E3">
              <a:alpha val="100000"/>
            </a:srgbClr>
          </a:solidFill>
          <a:ln w="12700" cmpd="sng" cap="flat">
            <a:solidFill>
              <a:srgbClr val="5B3FD6">
                <a:alpha val="40000"/>
              </a:srgbClr>
            </a:solidFill>
            <a:prstDash val="dash"/>
            <a:round/>
            <a:headEnd type="none" w="med" len="med"/>
            <a:tailEnd type="none" w="med" len="med"/>
          </a:ln>
        </p:spPr>
      </p:cxnSp>
      <p:cxnSp>
        <p:nvCxnSpPr>
          <p:cNvPr name="Connector 7" id="7"/>
          <p:cNvCxnSpPr/>
          <p:nvPr/>
        </p:nvCxnSpPr>
        <p:spPr>
          <a:xfrm rot="5262563" flipH="false" flipV="false">
            <a:off x="1619250" y="2565527"/>
            <a:ext cx="317500" cy="12700"/>
          </a:xfrm>
          <a:prstGeom prst="line">
            <a:avLst/>
          </a:prstGeom>
          <a:solidFill>
            <a:srgbClr val="DEE0E3">
              <a:alpha val="100000"/>
            </a:srgbClr>
          </a:solidFill>
          <a:ln w="12700" cmpd="sng" cap="flat">
            <a:solidFill>
              <a:srgbClr val="5B3FD6">
                <a:alpha val="40000"/>
              </a:srgbClr>
            </a:solidFill>
            <a:prstDash val="dash"/>
            <a:round/>
            <a:headEnd type="none" w="med" len="med"/>
            <a:tailEnd type="none" w="med" len="med"/>
          </a:ln>
        </p:spPr>
      </p:cxnSp>
      <p:sp>
        <p:nvSpPr>
          <p:cNvPr name="AutoShape 8" id="8"/>
          <p:cNvSpPr/>
          <p:nvPr/>
        </p:nvSpPr>
        <p:spPr>
          <a:xfrm rot="0" flipH="false" flipV="false">
            <a:off x="2222500" y="2222500"/>
            <a:ext cx="279400" cy="571500"/>
          </a:xfrm>
          <a:prstGeom prst="upArrow">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2730500" y="1841500"/>
            <a:ext cx="2349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333333"/>
                </a:solidFill>
                <a:latin typeface="Noto Sans SC"/>
                <a:ea typeface="Noto Sans SC"/>
                <a:cs typeface="Noto Sans SC"/>
                <a:sym typeface="Noto Sans SC"/>
              </a:rPr>
              <a:t>01 柱状提升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二维闭包沿Z轴进行刚性拉伸，形成规则柱体结构，各层截面保持一致，是构建三维闭包的基础形式。</a:t>
            </a:r>
          </a:p>
        </p:txBody>
      </p:sp>
      <p:sp>
        <p:nvSpPr>
          <p:cNvPr name="AutoShape 10" id="10"/>
          <p:cNvSpPr/>
          <p:nvPr/>
        </p:nvSpPr>
        <p:spPr>
          <a:xfrm rot="0" flipH="false" flipV="false">
            <a:off x="508000" y="3937000"/>
            <a:ext cx="4826000" cy="2159000"/>
          </a:xfrm>
          <a:prstGeom prst="roundRect">
            <a:avLst>
              <a:gd name="adj" fmla="val 0"/>
            </a:avLst>
          </a:prstGeom>
          <a:solidFill>
            <a:srgbClr val="F59E0B">
              <a:alpha val="6000"/>
            </a:srgbClr>
          </a:solidFill>
          <a:ln w="12700" cmpd="sng" cap="flat">
            <a:solidFill>
              <a:srgbClr val="F59E0B">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89000" y="5270500"/>
            <a:ext cx="889000" cy="444500"/>
          </a:xfrm>
          <a:prstGeom prst="roundRect">
            <a:avLst>
              <a:gd name="adj" fmla="val 0"/>
            </a:avLst>
          </a:prstGeom>
          <a:solidFill>
            <a:srgbClr val="F59E0B">
              <a:alpha val="25000"/>
            </a:srgbClr>
          </a:solidFill>
          <a:ln w="25400" cmpd="sng" cap="flat">
            <a:solidFill>
              <a:srgbClr val="F59E0B">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89000" y="4508500"/>
            <a:ext cx="889000" cy="444500"/>
          </a:xfrm>
          <a:prstGeom prst="roundRect">
            <a:avLst>
              <a:gd name="adj" fmla="val 0"/>
            </a:avLst>
          </a:prstGeom>
          <a:solidFill>
            <a:srgbClr val="F59E0B">
              <a:alpha val="10000"/>
            </a:srgbClr>
          </a:solidFill>
          <a:ln w="25400" cmpd="sng" cap="flat">
            <a:solidFill>
              <a:srgbClr val="F59E0B">
                <a:alpha val="100000"/>
              </a:srgbClr>
            </a:solidFill>
            <a:prstDash val="solid"/>
            <a:round/>
          </a:ln>
        </p:spPr>
        <p:txBody>
          <a:bodyPr anchor="ctr" rtlCol="false" vert="horz" wrap="square" lIns="63500" rIns="63500" tIns="63500" bIns="63500"/>
          <a:lstStyle/>
          <a:p>
            <a:pPr algn="ctr">
              <a:defRPr/>
            </a:pPr>
            <a:endParaRPr/>
          </a:p>
        </p:txBody>
      </p:sp>
      <p:cxnSp>
        <p:nvCxnSpPr>
          <p:cNvPr name="Connector 13" id="13"/>
          <p:cNvCxnSpPr/>
          <p:nvPr/>
        </p:nvCxnSpPr>
        <p:spPr>
          <a:xfrm rot="-59265" flipH="false" flipV="false">
            <a:off x="965255" y="4667250"/>
            <a:ext cx="736600" cy="12700"/>
          </a:xfrm>
          <a:prstGeom prst="line">
            <a:avLst/>
          </a:prstGeom>
          <a:solidFill>
            <a:srgbClr val="DEE0E3">
              <a:alpha val="100000"/>
            </a:srgbClr>
          </a:solidFill>
          <a:ln w="12700" cmpd="sng" cap="flat">
            <a:solidFill>
              <a:srgbClr val="F59E0B">
                <a:alpha val="60000"/>
              </a:srgbClr>
            </a:solidFill>
            <a:prstDash val="solid"/>
            <a:round/>
            <a:headEnd type="none" w="med" len="med"/>
            <a:tailEnd type="none" w="med" len="med"/>
          </a:ln>
        </p:spPr>
      </p:cxnSp>
      <p:cxnSp>
        <p:nvCxnSpPr>
          <p:cNvPr name="Connector 14" id="14"/>
          <p:cNvCxnSpPr/>
          <p:nvPr/>
        </p:nvCxnSpPr>
        <p:spPr>
          <a:xfrm rot="-59265" flipH="false" flipV="false">
            <a:off x="965255" y="4845050"/>
            <a:ext cx="736600" cy="12700"/>
          </a:xfrm>
          <a:prstGeom prst="line">
            <a:avLst/>
          </a:prstGeom>
          <a:solidFill>
            <a:srgbClr val="DEE0E3">
              <a:alpha val="100000"/>
            </a:srgbClr>
          </a:solidFill>
          <a:ln w="12700" cmpd="sng" cap="flat">
            <a:solidFill>
              <a:srgbClr val="F59E0B">
                <a:alpha val="60000"/>
              </a:srgbClr>
            </a:solidFill>
            <a:prstDash val="solid"/>
            <a:round/>
            <a:headEnd type="none" w="med" len="med"/>
            <a:tailEnd type="none" w="med" len="med"/>
          </a:ln>
        </p:spPr>
      </p:cxnSp>
      <p:sp>
        <p:nvSpPr>
          <p:cNvPr name="AutoShape 15" id="15"/>
          <p:cNvSpPr/>
          <p:nvPr/>
        </p:nvSpPr>
        <p:spPr>
          <a:xfrm rot="0" flipH="false" flipV="false">
            <a:off x="2222500" y="4762500"/>
            <a:ext cx="279400" cy="571500"/>
          </a:xfrm>
          <a:prstGeom prst="upArrow">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2730500" y="4381500"/>
            <a:ext cx="2349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333333"/>
                </a:solidFill>
                <a:latin typeface="Noto Sans SC"/>
                <a:ea typeface="Noto Sans SC"/>
                <a:cs typeface="Noto Sans SC"/>
                <a:sym typeface="Noto Sans SC"/>
              </a:rPr>
              <a:t>02 填充拉伸</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引入边界函数动态调整截面，随Z轴层级变化填充内部区域，满足拓扑可逆性，适用于非规则曲面重建。</a:t>
            </a:r>
          </a:p>
        </p:txBody>
      </p:sp>
      <p:sp>
        <p:nvSpPr>
          <p:cNvPr name="AutoShape 17" id="17"/>
          <p:cNvSpPr/>
          <p:nvPr/>
        </p:nvSpPr>
        <p:spPr>
          <a:xfrm rot="0" flipH="false" flipV="false">
            <a:off x="5715000" y="762000"/>
            <a:ext cx="609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三维几何闭包类型</a:t>
            </a:r>
            <a:endParaRPr lang="en-US" sz="1100"/>
          </a:p>
        </p:txBody>
      </p:sp>
      <p:sp>
        <p:nvSpPr>
          <p:cNvPr name="AutoShape 18" id="18"/>
          <p:cNvSpPr/>
          <p:nvPr/>
        </p:nvSpPr>
        <p:spPr>
          <a:xfrm rot="0" flipH="false" flipV="false">
            <a:off x="5715000" y="1752600"/>
            <a:ext cx="5969000" cy="1041400"/>
          </a:xfrm>
          <a:prstGeom prst="roundRect">
            <a:avLst>
              <a:gd name="adj" fmla="val 0"/>
            </a:avLst>
          </a:prstGeom>
          <a:solidFill>
            <a:srgbClr val="F3F4F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842000" y="1828800"/>
            <a:ext cx="5715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5B3FD6"/>
                </a:solidFill>
                <a:latin typeface="Noto Sans SC"/>
                <a:ea typeface="Noto Sans SC"/>
                <a:cs typeface="Noto Sans SC"/>
                <a:sym typeface="Noto Sans SC"/>
              </a:rPr>
              <a:t>01. q-空间闭包定义</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500">
                <a:solidFill>
                  <a:srgbClr val="333333"/>
                </a:solidFill>
                <a:latin typeface="Noto Sans SC"/>
                <a:ea typeface="Noto Sans SC"/>
                <a:cs typeface="Noto Sans SC"/>
                <a:sym typeface="Noto Sans SC"/>
              </a:rPr>
              <a:t>S_q(D) = { ζ_q(P) | P∈D }，基于样本点集D的密度邻域ζ_q(P)构建覆盖，形成三维空间的基础闭包单元，刻画局部几何特征。</a:t>
            </a:r>
          </a:p>
        </p:txBody>
      </p:sp>
      <p:sp>
        <p:nvSpPr>
          <p:cNvPr name="AutoShape 20" id="20"/>
          <p:cNvSpPr/>
          <p:nvPr/>
        </p:nvSpPr>
        <p:spPr>
          <a:xfrm rot="0" flipH="false" flipV="false">
            <a:off x="5715000" y="2870200"/>
            <a:ext cx="5969000" cy="1041400"/>
          </a:xfrm>
          <a:prstGeom prst="roundRect">
            <a:avLst>
              <a:gd name="adj" fmla="val 0"/>
            </a:avLst>
          </a:prstGeom>
          <a:solidFill>
            <a:srgbClr val="F3F4F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842000" y="2946400"/>
            <a:ext cx="5715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5B3FD6"/>
                </a:solidFill>
                <a:latin typeface="Noto Sans SC"/>
                <a:ea typeface="Noto Sans SC"/>
                <a:cs typeface="Noto Sans SC"/>
                <a:sym typeface="Noto Sans SC"/>
              </a:rPr>
              <a:t>02. 柱状提升 (Cylindrical Lift)</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500">
                <a:solidFill>
                  <a:srgbClr val="333333"/>
                </a:solidFill>
                <a:latin typeface="Noto Sans SC"/>
                <a:ea typeface="Noto Sans SC"/>
                <a:cs typeface="Noto Sans SC"/>
                <a:sym typeface="Noto Sans SC"/>
              </a:rPr>
              <a:t>O^(3) = O^(2) × I_Z，将二维平面闭包沿Z轴在有界区间I_Z内垂直拉伸，保持截面属性不变，生成规则的三维柱状体结构。</a:t>
            </a:r>
          </a:p>
        </p:txBody>
      </p:sp>
      <p:sp>
        <p:nvSpPr>
          <p:cNvPr name="AutoShape 22" id="22"/>
          <p:cNvSpPr/>
          <p:nvPr/>
        </p:nvSpPr>
        <p:spPr>
          <a:xfrm rot="0" flipH="false" flipV="false">
            <a:off x="5715000" y="3987800"/>
            <a:ext cx="5969000" cy="1041400"/>
          </a:xfrm>
          <a:prstGeom prst="roundRect">
            <a:avLst>
              <a:gd name="adj" fmla="val 0"/>
            </a:avLst>
          </a:prstGeom>
          <a:solidFill>
            <a:srgbClr val="F3F4F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5842000" y="4064000"/>
            <a:ext cx="5715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5B3FD6"/>
                </a:solidFill>
                <a:latin typeface="Noto Sans SC"/>
                <a:ea typeface="Noto Sans SC"/>
                <a:cs typeface="Noto Sans SC"/>
                <a:sym typeface="Noto Sans SC"/>
              </a:rPr>
              <a:t>03. 填充拉伸 (Filling Stretch)</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500">
                <a:solidFill>
                  <a:srgbClr val="333333"/>
                </a:solidFill>
                <a:latin typeface="Noto Sans SC"/>
                <a:ea typeface="Noto Sans SC"/>
                <a:cs typeface="Noto Sans SC"/>
                <a:sym typeface="Noto Sans SC"/>
              </a:rPr>
              <a:t>指定分层边界函数 α_z(x), β_z(x) 并满足拓扑可逆性，随Z轴高度动态调整截面填充范围，适配复杂曲面与非均匀结构。</a:t>
            </a:r>
          </a:p>
        </p:txBody>
      </p:sp>
      <p:sp>
        <p:nvSpPr>
          <p:cNvPr name="AutoShape 24" id="24"/>
          <p:cNvSpPr/>
          <p:nvPr/>
        </p:nvSpPr>
        <p:spPr>
          <a:xfrm rot="0" flipH="false" flipV="false">
            <a:off x="5715000" y="5105400"/>
            <a:ext cx="5969000" cy="1041400"/>
          </a:xfrm>
          <a:prstGeom prst="roundRect">
            <a:avLst>
              <a:gd name="adj" fmla="val 0"/>
            </a:avLst>
          </a:prstGeom>
          <a:solidFill>
            <a:srgbClr val="F3F4F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5842000" y="5181600"/>
            <a:ext cx="5715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5B3FD6"/>
                </a:solidFill>
                <a:latin typeface="Noto Sans SC"/>
                <a:ea typeface="Noto Sans SC"/>
                <a:cs typeface="Noto Sans SC"/>
                <a:sym typeface="Noto Sans SC"/>
              </a:rPr>
              <a:t>04. 三维闭包簇 (Closure Cluster)</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500">
                <a:solidFill>
                  <a:srgbClr val="333333"/>
                </a:solidFill>
                <a:latin typeface="Noto Sans SC"/>
                <a:ea typeface="Noto Sans SC"/>
                <a:cs typeface="Noto Sans SC"/>
                <a:sym typeface="Noto Sans SC"/>
              </a:rPr>
              <a:t>有限个紧致闭包的并置仍保持紧致性，支持对复杂三维空间进行分块化、模块化的几何描述，提升空间计算与分析效率。</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E8E4F8">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1905000" cy="1905000"/>
          </a:xfrm>
          <a:prstGeom prst="ellipse">
            <a:avLst/>
          </a:prstGeom>
          <a:solidFill>
            <a:srgbClr val="E8E4F8">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159000"/>
            <a:ext cx="4064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05</a:t>
            </a:r>
            <a:endParaRPr lang="en-US" sz="1100"/>
          </a:p>
        </p:txBody>
      </p:sp>
      <p:sp>
        <p:nvSpPr>
          <p:cNvPr name="AutoShape 5" id="5"/>
          <p:cNvSpPr/>
          <p:nvPr/>
        </p:nvSpPr>
        <p:spPr>
          <a:xfrm rot="0" flipH="false" flipV="false">
            <a:off x="1016000" y="46990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spc="600">
                <a:solidFill>
                  <a:srgbClr val="9691AA"/>
                </a:solidFill>
                <a:latin typeface="Inter"/>
                <a:ea typeface="Inter"/>
                <a:cs typeface="Inter"/>
                <a:sym typeface="Inter"/>
              </a:rPr>
              <a:t>CHAPTER</a:t>
            </a:r>
            <a:endParaRPr lang="en-US" sz="1100"/>
          </a:p>
        </p:txBody>
      </p:sp>
      <p:sp>
        <p:nvSpPr>
          <p:cNvPr name="AutoShape 6" id="6"/>
          <p:cNvSpPr/>
          <p:nvPr/>
        </p:nvSpPr>
        <p:spPr>
          <a:xfrm rot="0" flipH="false" flipV="false">
            <a:off x="5334000" y="2413000"/>
            <a:ext cx="609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333333"/>
                </a:solidFill>
                <a:latin typeface="Noto Sans SC"/>
                <a:ea typeface="Noto Sans SC"/>
                <a:cs typeface="Noto Sans SC"/>
                <a:sym typeface="Noto Sans SC"/>
              </a:rPr>
              <a:t>互易性与判据</a:t>
            </a:r>
            <a:endParaRPr lang="en-US" sz="1100"/>
          </a:p>
        </p:txBody>
      </p:sp>
      <p:sp>
        <p:nvSpPr>
          <p:cNvPr name="AutoShape 7" id="7"/>
          <p:cNvSpPr/>
          <p:nvPr/>
        </p:nvSpPr>
        <p:spPr>
          <a:xfrm rot="0" flipH="false" flipV="false">
            <a:off x="5334000" y="3810000"/>
            <a:ext cx="609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spc="200">
                <a:solidFill>
                  <a:srgbClr val="7E57C2"/>
                </a:solidFill>
                <a:latin typeface="Inter"/>
                <a:ea typeface="Inter"/>
                <a:cs typeface="Inter"/>
                <a:sym typeface="Inter"/>
              </a:rPr>
              <a:t>RECIPROCITY AND CRITERIA</a:t>
            </a:r>
            <a:endParaRPr lang="en-US" sz="1100"/>
          </a:p>
        </p:txBody>
      </p:sp>
      <p:sp>
        <p:nvSpPr>
          <p:cNvPr name="AutoShape 8" id="8"/>
          <p:cNvSpPr/>
          <p:nvPr/>
        </p:nvSpPr>
        <p:spPr>
          <a:xfrm rot="0" flipH="false" flipV="false">
            <a:off x="5334000" y="4508500"/>
            <a:ext cx="609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666666"/>
                </a:solidFill>
                <a:latin typeface="Noto Sans SC"/>
                <a:ea typeface="Noto Sans SC"/>
                <a:cs typeface="Noto Sans SC"/>
                <a:sym typeface="Noto Sans SC"/>
              </a:rPr>
              <a:t>深入剖析线性系统的互易本质，解析其在网络分析与信号传输中的判定准则，探索对称性与等效变换的深层逻辑关联。</a:t>
            </a:r>
            <a:endParaRPr lang="en-US" sz="1100"/>
          </a:p>
        </p:txBody>
      </p:sp>
      <p:sp>
        <p:nvSpPr>
          <p:cNvPr name="AutoShape 9" id="9"/>
          <p:cNvSpPr/>
          <p:nvPr/>
        </p:nvSpPr>
        <p:spPr>
          <a:xfrm rot="0" flipH="false" flipV="false">
            <a:off x="0" y="6223000"/>
            <a:ext cx="12192000" cy="38100"/>
          </a:xfrm>
          <a:prstGeom prst="roundRect">
            <a:avLst>
              <a:gd name="adj" fmla="val 0"/>
            </a:avLst>
          </a:prstGeom>
          <a:solidFill>
            <a:srgbClr val="7E57C2">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762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588000"/>
            <a:ext cx="1524000" cy="1524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复定互易性与柱状提升定理</a:t>
            </a:r>
            <a:endParaRPr lang="en-US" sz="1100"/>
          </a:p>
        </p:txBody>
      </p:sp>
      <p:sp>
        <p:nvSpPr>
          <p:cNvPr name="AutoShape 5" id="5"/>
          <p:cNvSpPr/>
          <p:nvPr/>
        </p:nvSpPr>
        <p:spPr>
          <a:xfrm rot="0" flipH="false" flipV="false">
            <a:off x="508000" y="1524000"/>
            <a:ext cx="3556000" cy="22225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1727200"/>
            <a:ext cx="304800" cy="304800"/>
          </a:xfrm>
          <a:prstGeom prst="rect">
            <a:avLst/>
          </a:prstGeom>
        </p:spPr>
      </p:pic>
      <p:sp>
        <p:nvSpPr>
          <p:cNvPr name="AutoShape 7" id="7"/>
          <p:cNvSpPr/>
          <p:nvPr/>
        </p:nvSpPr>
        <p:spPr>
          <a:xfrm rot="0" flipH="false" flipV="false">
            <a:off x="1117600" y="17018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01 互补子闭包三维构造</a:t>
            </a:r>
            <a:endParaRPr lang="en-US" sz="1100"/>
          </a:p>
        </p:txBody>
      </p:sp>
      <p:sp>
        <p:nvSpPr>
          <p:cNvPr name="AutoShape 8" id="8"/>
          <p:cNvSpPr/>
          <p:nvPr/>
        </p:nvSpPr>
        <p:spPr>
          <a:xfrm rot="0" flipH="false" flipV="false">
            <a:off x="711200" y="2159000"/>
            <a:ext cx="31496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柱状提升闭包自然继承二维闭包的互补分裂特性。这种构造将平面上的正交互补结构沿纤维方向拓展，形成三维流形上的层状闭包结构，保持了子空间的拓扑正交性与代数完备性。</a:t>
            </a:r>
            <a:endParaRPr lang="en-US" sz="1100"/>
          </a:p>
        </p:txBody>
      </p:sp>
      <p:sp>
        <p:nvSpPr>
          <p:cNvPr name="AutoShape 9" id="9"/>
          <p:cNvSpPr/>
          <p:nvPr/>
        </p:nvSpPr>
        <p:spPr>
          <a:xfrm rot="0" flipH="false" flipV="false">
            <a:off x="4318000" y="1524000"/>
            <a:ext cx="3556000" cy="22225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21200" y="1727200"/>
            <a:ext cx="304800" cy="304800"/>
          </a:xfrm>
          <a:prstGeom prst="rect">
            <a:avLst/>
          </a:prstGeom>
        </p:spPr>
      </p:pic>
      <p:sp>
        <p:nvSpPr>
          <p:cNvPr name="AutoShape 11" id="11"/>
          <p:cNvSpPr/>
          <p:nvPr/>
        </p:nvSpPr>
        <p:spPr>
          <a:xfrm rot="0" flipH="false" flipV="false">
            <a:off x="4927600" y="17018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02 内涵复定积分算子</a:t>
            </a:r>
            <a:endParaRPr lang="en-US" sz="1100"/>
          </a:p>
        </p:txBody>
      </p:sp>
      <p:sp>
        <p:nvSpPr>
          <p:cNvPr name="AutoShape 12" id="12"/>
          <p:cNvSpPr/>
          <p:nvPr/>
        </p:nvSpPr>
        <p:spPr>
          <a:xfrm rot="0" flipH="false" flipV="false">
            <a:off x="4521200" y="2159000"/>
            <a:ext cx="31496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定义核心算子：Z_q(F) = ⨁ ⟨ζ_q(γ(t)), dζ_q(γ(t))⟩。该算子通过曲线参数化与微分形式的对偶空间建立联系，深刻刻画了复定结构在纤维丛上的动力学演化与积分不变性。</a:t>
            </a:r>
            <a:endParaRPr lang="en-US" sz="1100"/>
          </a:p>
        </p:txBody>
      </p:sp>
      <p:sp>
        <p:nvSpPr>
          <p:cNvPr name="AutoShape 13" id="13"/>
          <p:cNvSpPr/>
          <p:nvPr/>
        </p:nvSpPr>
        <p:spPr>
          <a:xfrm rot="0" flipH="false" flipV="false">
            <a:off x="8128000" y="1524000"/>
            <a:ext cx="3556000" cy="2222500"/>
          </a:xfrm>
          <a:prstGeom prst="roundRect">
            <a:avLst>
              <a:gd name="adj" fmla="val 0"/>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31200" y="1727200"/>
            <a:ext cx="304800" cy="304800"/>
          </a:xfrm>
          <a:prstGeom prst="rect">
            <a:avLst/>
          </a:prstGeom>
        </p:spPr>
      </p:pic>
      <p:sp>
        <p:nvSpPr>
          <p:cNvPr name="AutoShape 15" id="15"/>
          <p:cNvSpPr/>
          <p:nvPr/>
        </p:nvSpPr>
        <p:spPr>
          <a:xfrm rot="0" flipH="false" flipV="false">
            <a:off x="8737600" y="17018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03 定理核心判定准则</a:t>
            </a:r>
            <a:endParaRPr lang="en-US" sz="1100"/>
          </a:p>
        </p:txBody>
      </p:sp>
      <p:sp>
        <p:nvSpPr>
          <p:cNvPr name="AutoShape 16" id="16"/>
          <p:cNvSpPr/>
          <p:nvPr/>
        </p:nvSpPr>
        <p:spPr>
          <a:xfrm rot="0" flipH="false" flipV="false">
            <a:off x="8331200" y="2159000"/>
            <a:ext cx="31496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若二维闭包满足自身互易性，且填充边界函数在互补区域上解析一致，则其诱导的乘积闭包在三维流形中自动满足复定互易性，实现从局部到全局的性质跃迁。</a:t>
            </a:r>
            <a:endParaRPr lang="en-US" sz="1100"/>
          </a:p>
        </p:txBody>
      </p:sp>
      <p:sp>
        <p:nvSpPr>
          <p:cNvPr name="AutoShape 17" id="17"/>
          <p:cNvSpPr/>
          <p:nvPr/>
        </p:nvSpPr>
        <p:spPr>
          <a:xfrm rot="0" flipH="false" flipV="false">
            <a:off x="508000" y="4064000"/>
            <a:ext cx="11176000" cy="889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08000" y="4064000"/>
            <a:ext cx="11176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1F2937"/>
                </a:solidFill>
                <a:latin typeface="Times New Roman"/>
                <a:ea typeface="Times New Roman"/>
                <a:cs typeface="Times New Roman"/>
                <a:sym typeface="Times New Roman"/>
              </a:rPr>
              <a:t>Z_q(F±) = J_q(O^(2)±) ⊗ Λ(I_Z)</a:t>
            </a:r>
            <a:endParaRPr lang="en-US" sz="1100"/>
          </a:p>
        </p:txBody>
      </p:sp>
      <p:sp>
        <p:nvSpPr>
          <p:cNvPr name="AutoShape 19" id="19"/>
          <p:cNvSpPr/>
          <p:nvPr/>
        </p:nvSpPr>
        <p:spPr>
          <a:xfrm rot="0" flipH="false" flipV="false">
            <a:off x="508000" y="5270500"/>
            <a:ext cx="11176000" cy="1206500"/>
          </a:xfrm>
          <a:prstGeom prst="roundRect">
            <a:avLst>
              <a:gd name="adj" fmla="val 0"/>
            </a:avLst>
          </a:prstGeom>
          <a:solidFill>
            <a:srgbClr val="5B3FD6">
              <a:alpha val="8000"/>
            </a:srgbClr>
          </a:solidFill>
          <a:ln w="12700" cmpd="sng" cap="flat">
            <a:solidFill>
              <a:srgbClr val="5B3FD6">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2000" y="5486400"/>
            <a:ext cx="355600" cy="355600"/>
          </a:xfrm>
          <a:prstGeom prst="rect">
            <a:avLst/>
          </a:prstGeom>
        </p:spPr>
      </p:pic>
      <p:sp>
        <p:nvSpPr>
          <p:cNvPr name="AutoShape 21" id="21"/>
          <p:cNvSpPr/>
          <p:nvPr/>
        </p:nvSpPr>
        <p:spPr>
          <a:xfrm rot="0" flipH="false" flipV="false">
            <a:off x="1270000" y="53975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5B3FD6"/>
                </a:solidFill>
                <a:latin typeface="Noto Sans SC"/>
                <a:ea typeface="Noto Sans SC"/>
                <a:cs typeface="Noto Sans SC"/>
                <a:sym typeface="Noto Sans SC"/>
              </a:rPr>
              <a:t>关键推论：</a:t>
            </a:r>
            <a:r>
              <a:rPr lang="en-US" b="false" i="false" strike="noStrike" u="none" sz="1300">
                <a:solidFill>
                  <a:srgbClr val="374151"/>
                </a:solidFill>
                <a:latin typeface="Noto Sans SC"/>
                <a:ea typeface="Noto Sans SC"/>
                <a:cs typeface="Noto Sans SC"/>
                <a:sym typeface="Noto Sans SC"/>
              </a:rPr>
              <a:t>二维互易性沿纤维方向可自然“粘贴”为全局三维互易性，这一拓扑性质与曲率参数 q 的具体取值无关，仅依赖于基底空间的闭包结构与纤维丛的平凡性。这一结论为高维流形上的复定结构分类提供了坚实的拓扑不变量依据。</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cmpd="sng" cap="flat">
            <a:solidFill>
              <a:srgbClr val="4125BD">
                <a:alpha val="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5B3FD6">
              <a:alpha val="5000"/>
            </a:srgbClr>
          </a:solidFill>
          <a:ln cmpd="sng" cap="flat">
            <a:solidFill>
              <a:srgbClr val="4125BD">
                <a:alpha val="5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线性斜率填充体与参数簇</a:t>
            </a:r>
            <a:endParaRPr lang="en-US" sz="1100"/>
          </a:p>
        </p:txBody>
      </p:sp>
      <p:sp>
        <p:nvSpPr>
          <p:cNvPr name="AutoShape 5" id="5"/>
          <p:cNvSpPr/>
          <p:nvPr/>
        </p:nvSpPr>
        <p:spPr>
          <a:xfrm rot="0" flipH="false" flipV="false">
            <a:off x="508000" y="1397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01 线性映射与耦合吸收机制</a:t>
            </a:r>
            <a:endParaRPr lang="en-US" sz="1100"/>
          </a:p>
        </p:txBody>
      </p:sp>
      <p:sp>
        <p:nvSpPr>
          <p:cNvPr name="AutoShape 6" id="6"/>
          <p:cNvSpPr/>
          <p:nvPr/>
        </p:nvSpPr>
        <p:spPr>
          <a:xfrm rot="0" flipH="false" flipV="false">
            <a:off x="508000" y="1905000"/>
            <a:ext cx="11176000" cy="635000"/>
          </a:xfrm>
          <a:prstGeom prst="roundRect">
            <a:avLst>
              <a:gd name="adj" fmla="val 0"/>
            </a:avLst>
          </a:prstGeom>
          <a:solidFill>
            <a:srgbClr val="5B3FD6">
              <a:alpha val="6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2006600"/>
            <a:ext cx="1117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5B3FD6"/>
                </a:solidFill>
                <a:latin typeface="Consolas"/>
                <a:ea typeface="Consolas"/>
                <a:cs typeface="Consolas"/>
                <a:sym typeface="Consolas"/>
              </a:rPr>
              <a:t>Φ(x, y, z) = (x + kₓ·z, y + kᵧ·z, z)</a:t>
            </a:r>
            <a:endParaRPr lang="en-US" sz="1100"/>
          </a:p>
        </p:txBody>
      </p:sp>
      <p:sp>
        <p:nvSpPr>
          <p:cNvPr name="AutoShape 8" id="8"/>
          <p:cNvSpPr/>
          <p:nvPr/>
        </p:nvSpPr>
        <p:spPr>
          <a:xfrm rot="0" flipH="false" flipV="false">
            <a:off x="508000" y="2730500"/>
            <a:ext cx="5461000" cy="10795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2921000"/>
            <a:ext cx="304800" cy="304800"/>
          </a:xfrm>
          <a:prstGeom prst="rect">
            <a:avLst/>
          </a:prstGeom>
        </p:spPr>
      </p:pic>
      <p:sp>
        <p:nvSpPr>
          <p:cNvPr name="AutoShape 10" id="10"/>
          <p:cNvSpPr/>
          <p:nvPr/>
        </p:nvSpPr>
        <p:spPr>
          <a:xfrm rot="0" flipH="false" flipV="false">
            <a:off x="1143000" y="28575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耦合项自动吸收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6B7280"/>
                </a:solidFill>
                <a:latin typeface="Noto Sans SC"/>
                <a:ea typeface="Noto Sans SC"/>
                <a:cs typeface="Noto Sans SC"/>
                <a:sym typeface="Noto Sans SC"/>
              </a:rPr>
              <a:t>基于外延复定判据，映射过程可自动将线性交叉耦合项纳入内核处理，消除外部扰动对结构稳定性的干扰，确保变换的纯净性。</a:t>
            </a:r>
          </a:p>
        </p:txBody>
      </p:sp>
      <p:sp>
        <p:nvSpPr>
          <p:cNvPr name="AutoShape 11" id="11"/>
          <p:cNvSpPr/>
          <p:nvPr/>
        </p:nvSpPr>
        <p:spPr>
          <a:xfrm rot="0" flipH="false" flipV="false">
            <a:off x="6223000" y="2730500"/>
            <a:ext cx="5461000" cy="10795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2921000"/>
            <a:ext cx="304800" cy="304800"/>
          </a:xfrm>
          <a:prstGeom prst="rect">
            <a:avLst/>
          </a:prstGeom>
        </p:spPr>
      </p:pic>
      <p:sp>
        <p:nvSpPr>
          <p:cNvPr name="AutoShape 13" id="13"/>
          <p:cNvSpPr/>
          <p:nvPr/>
        </p:nvSpPr>
        <p:spPr>
          <a:xfrm rot="0" flipH="false" flipV="false">
            <a:off x="6858000" y="28575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互易性无关性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6B7280"/>
                </a:solidFill>
                <a:latin typeface="Noto Sans SC"/>
                <a:ea typeface="Noto Sans SC"/>
                <a:cs typeface="Noto Sans SC"/>
                <a:sym typeface="Noto Sans SC"/>
              </a:rPr>
              <a:t>映射的互易性特征与斜率参数 kₓ、kᵧ 的具体取值无关，保持了拓扑结构的本质独立性，为后续参数动态化提供了理论自由度。</a:t>
            </a:r>
          </a:p>
        </p:txBody>
      </p:sp>
      <p:sp>
        <p:nvSpPr>
          <p:cNvPr name="AutoShape 14" id="14"/>
          <p:cNvSpPr/>
          <p:nvPr/>
        </p:nvSpPr>
        <p:spPr>
          <a:xfrm rot="0" flipH="false" flipV="false">
            <a:off x="508000" y="4000500"/>
            <a:ext cx="11176000" cy="2413000"/>
          </a:xfrm>
          <a:prstGeom prst="roundRect">
            <a:avLst>
              <a:gd name="adj" fmla="val 0"/>
            </a:avLst>
          </a:prstGeom>
          <a:solidFill>
            <a:srgbClr val="F3F4F6">
              <a:alpha val="100000"/>
            </a:srgbClr>
          </a:solidFill>
          <a:ln cmpd="sng" cap="flat">
            <a:solidFill>
              <a:srgbClr val="C4CCDD">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98500" y="41275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02 参数簇的无穷维空间定义与收敛性约束</a:t>
            </a:r>
            <a:endParaRPr lang="en-US" sz="1100"/>
          </a:p>
        </p:txBody>
      </p:sp>
      <p:sp>
        <p:nvSpPr>
          <p:cNvPr name="AutoShape 16" id="16"/>
          <p:cNvSpPr/>
          <p:nvPr/>
        </p:nvSpPr>
        <p:spPr>
          <a:xfrm rot="0" flipH="false" flipV="false">
            <a:off x="698500" y="4635500"/>
            <a:ext cx="5270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4B5563"/>
                </a:solidFill>
                <a:latin typeface="Noto Sans SC"/>
                <a:ea typeface="Noto Sans SC"/>
                <a:cs typeface="Noto Sans SC"/>
                <a:sym typeface="Noto Sans SC"/>
              </a:rPr>
              <a:t>动态参数簇：</a:t>
            </a:r>
            <a:r>
              <a:rPr lang="en-US" b="false" i="false" strike="noStrike" u="none" sz="1400">
                <a:solidFill>
                  <a:srgbClr val="4B5563"/>
                </a:solidFill>
                <a:latin typeface="Noto Sans SC"/>
                <a:ea typeface="Noto Sans SC"/>
                <a:cs typeface="Noto Sans SC"/>
                <a:sym typeface="Noto Sans SC"/>
              </a:rPr>
              <a:t>斜率参数不再是固定常量，而是随递归深度 z 或空间地址动态变化的函数 kₓ(z), kᵧ(z)。这种动态性使得参数空间突破有限维限制，延伸至</a:t>
            </a:r>
            <a:r>
              <a:rPr lang="en-US" b="true" i="false" strike="noStrike" u="none" sz="1400">
                <a:solidFill>
                  <a:srgbClr val="5B3FD6"/>
                </a:solidFill>
                <a:latin typeface="Noto Sans SC"/>
                <a:ea typeface="Noto Sans SC"/>
                <a:cs typeface="Noto Sans SC"/>
                <a:sym typeface="Noto Sans SC"/>
              </a:rPr>
              <a:t>无穷维函数空间</a:t>
            </a:r>
            <a:r>
              <a:rPr lang="en-US" b="false" i="false" strike="noStrike" u="none" sz="1400">
                <a:solidFill>
                  <a:srgbClr val="4B5563"/>
                </a:solidFill>
                <a:latin typeface="Noto Sans SC"/>
                <a:ea typeface="Noto Sans SC"/>
                <a:cs typeface="Noto Sans SC"/>
                <a:sym typeface="Noto Sans SC"/>
              </a:rPr>
              <a:t>，赋予了填充体极高的表达自由度。</a:t>
            </a:r>
            <a:endParaRPr lang="en-US" sz="1100"/>
          </a:p>
        </p:txBody>
      </p:sp>
      <p:cxnSp>
        <p:nvCxnSpPr>
          <p:cNvPr name="Connector 17" id="17"/>
          <p:cNvCxnSpPr/>
          <p:nvPr/>
        </p:nvCxnSpPr>
        <p:spPr>
          <a:xfrm rot="5371352" flipH="false" flipV="false">
            <a:off x="5334000" y="5391176"/>
            <a:ext cx="1524000" cy="12700"/>
          </a:xfrm>
          <a:prstGeom prst="straightConnector1">
            <a:avLst/>
          </a:prstGeom>
          <a:solidFill>
            <a:srgbClr val="DEE0E3">
              <a:alpha val="100000"/>
            </a:srgbClr>
          </a:solidFill>
          <a:ln w="12700" cmpd="sng" cap="flat">
            <a:solidFill>
              <a:srgbClr val="D1D5DB">
                <a:alpha val="100000"/>
              </a:srgbClr>
            </a:solidFill>
            <a:prstDash val="dash"/>
            <a:round/>
            <a:headEnd type="none" w="med" len="med"/>
            <a:tailEnd type="none" w="med" len="med"/>
          </a:ln>
        </p:spPr>
      </p:cxnSp>
      <p:sp>
        <p:nvSpPr>
          <p:cNvPr name="AutoShape 18" id="18"/>
          <p:cNvSpPr/>
          <p:nvPr/>
        </p:nvSpPr>
        <p:spPr>
          <a:xfrm rot="0" flipH="false" flipV="false">
            <a:off x="6286500" y="4635500"/>
            <a:ext cx="5270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B91C1C"/>
                </a:solidFill>
                <a:latin typeface="Noto Sans SC"/>
                <a:ea typeface="Noto Sans SC"/>
                <a:cs typeface="Noto Sans SC"/>
                <a:sym typeface="Noto Sans SC"/>
              </a:rPr>
              <a:t>⚠️ 收敛性保障：公理 Ⅴ 的必要性</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B5563"/>
                </a:solidFill>
                <a:latin typeface="Noto Sans SC"/>
                <a:ea typeface="Noto Sans SC"/>
                <a:cs typeface="Noto Sans SC"/>
                <a:sym typeface="Noto Sans SC"/>
              </a:rPr>
              <a:t>若仅采用普通可数累加积分，在极限闭包处极易出现积分发散，导致拓扑定义失效。因此必须引入</a:t>
            </a:r>
            <a:r>
              <a:rPr lang="en-US" b="true" i="false" strike="noStrike" u="none" sz="1400">
                <a:solidFill>
                  <a:srgbClr val="B91C1C"/>
                </a:solidFill>
                <a:latin typeface="Noto Sans SC"/>
                <a:ea typeface="Noto Sans SC"/>
                <a:cs typeface="Noto Sans SC"/>
                <a:sym typeface="Noto Sans SC"/>
              </a:rPr>
              <a:t>公理 Ⅴ</a:t>
            </a:r>
            <a:r>
              <a:rPr lang="en-US" b="false" i="false" strike="noStrike" u="none" sz="1400">
                <a:solidFill>
                  <a:srgbClr val="4B5563"/>
                </a:solidFill>
                <a:latin typeface="Noto Sans SC"/>
                <a:ea typeface="Noto Sans SC"/>
                <a:cs typeface="Noto Sans SC"/>
                <a:sym typeface="Noto Sans SC"/>
              </a:rPr>
              <a:t>作为基础约束，从根本上保证空间积分的绝对收敛性与拓扑完备性。</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1016000"/>
            <a:ext cx="3810000" cy="3810000"/>
          </a:xfrm>
          <a:prstGeom prst="ellipse">
            <a:avLst/>
          </a:prstGeom>
          <a:solidFill>
            <a:srgbClr val="E8E4F8">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414000" y="5080000"/>
            <a:ext cx="2540000" cy="2540000"/>
          </a:xfrm>
          <a:prstGeom prst="ellipse">
            <a:avLst/>
          </a:prstGeom>
          <a:solidFill>
            <a:srgbClr val="E8E4F8">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413000"/>
            <a:ext cx="3556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06</a:t>
            </a:r>
            <a:endParaRPr lang="en-US" sz="1100"/>
          </a:p>
        </p:txBody>
      </p:sp>
      <p:sp>
        <p:nvSpPr>
          <p:cNvPr name="AutoShape 5" id="5"/>
          <p:cNvSpPr/>
          <p:nvPr/>
        </p:nvSpPr>
        <p:spPr>
          <a:xfrm rot="0" flipH="false" flipV="false">
            <a:off x="812800" y="4635500"/>
            <a:ext cx="889000" cy="76200"/>
          </a:xfrm>
          <a:prstGeom prst="roundRect">
            <a:avLst>
              <a:gd name="adj" fmla="val 0"/>
            </a:avLst>
          </a:prstGeom>
          <a:solidFill>
            <a:srgbClr val="7B61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826000" y="2603500"/>
            <a:ext cx="660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spc="300">
                <a:solidFill>
                  <a:srgbClr val="7B61FF">
                    <a:alpha val="60000"/>
                  </a:srgbClr>
                </a:solidFill>
                <a:latin typeface="Inter"/>
                <a:ea typeface="Inter"/>
                <a:cs typeface="Inter"/>
                <a:sym typeface="Inter"/>
              </a:rPr>
              <a:t>CHAPTER 06</a:t>
            </a:r>
            <a:endParaRPr lang="en-US" sz="1100"/>
          </a:p>
        </p:txBody>
      </p:sp>
      <p:sp>
        <p:nvSpPr>
          <p:cNvPr name="AutoShape 7" id="7"/>
          <p:cNvSpPr/>
          <p:nvPr/>
        </p:nvSpPr>
        <p:spPr>
          <a:xfrm rot="0" flipH="false" flipV="false">
            <a:off x="4826000" y="3238500"/>
            <a:ext cx="685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空间域整体变换</a:t>
            </a:r>
            <a:endParaRPr lang="en-US" sz="1100"/>
          </a:p>
        </p:txBody>
      </p:sp>
      <p:sp>
        <p:nvSpPr>
          <p:cNvPr name="AutoShape 8" id="8"/>
          <p:cNvSpPr/>
          <p:nvPr/>
        </p:nvSpPr>
        <p:spPr>
          <a:xfrm rot="0" flipH="false" flipV="false">
            <a:off x="4826000" y="4381500"/>
            <a:ext cx="660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6E6E6E"/>
                </a:solidFill>
                <a:latin typeface="Noto Sans SC"/>
                <a:ea typeface="Noto Sans SC"/>
                <a:cs typeface="Noto Sans SC"/>
                <a:sym typeface="Noto Sans SC"/>
              </a:rPr>
              <a:t>从像素级映射到全局几何重构，系统解析图像缩放、旋转、仿射与透视变换的数学原理。探索如何通过空间坐标的重新定义，实现图像的形态重塑与视角校正，为计算机视觉中的图像配准、增强及三维重建提供核心技术支撑。</a:t>
            </a:r>
            <a:endParaRPr lang="en-US" sz="1100"/>
          </a:p>
        </p:txBody>
      </p:sp>
      <p:sp>
        <p:nvSpPr>
          <p:cNvPr name="AutoShape 9" id="9"/>
          <p:cNvSpPr/>
          <p:nvPr/>
        </p:nvSpPr>
        <p:spPr>
          <a:xfrm rot="0" flipH="false" flipV="false">
            <a:off x="0" y="6197600"/>
            <a:ext cx="12192000" cy="25400"/>
          </a:xfrm>
          <a:prstGeom prst="roundRect">
            <a:avLst>
              <a:gd name="adj" fmla="val 0"/>
            </a:avLst>
          </a:prstGeom>
          <a:solidFill>
            <a:srgbClr val="7B61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cmpd="sng" cap="flat">
            <a:solidFill>
              <a:srgbClr val="4125BD">
                <a:alpha val="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5B3FD6">
              <a:alpha val="5000"/>
            </a:srgbClr>
          </a:solidFill>
          <a:ln cmpd="sng" cap="flat">
            <a:solidFill>
              <a:srgbClr val="4125BD">
                <a:alpha val="5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无穷谱系：四层级</a:t>
            </a:r>
            <a:endParaRPr lang="en-US" sz="1100"/>
          </a:p>
        </p:txBody>
      </p:sp>
      <p:graphicFrame>
        <p:nvGraphicFramePr>
          <p:cNvPr name="Table 5" id="5"/>
          <p:cNvGraphicFramePr>
            <a:graphicFrameLocks noGrp="true"/>
          </p:cNvGraphicFramePr>
          <p:nvPr/>
        </p:nvGraphicFramePr>
        <p:xfrm>
          <a:off x="508000" y="1651000"/>
          <a:ext cx="11176000" cy="3009900"/>
        </p:xfrm>
        <a:graphic>
          <a:graphicData uri="http://schemas.openxmlformats.org/drawingml/2006/table">
            <a:tbl>
              <a:tblPr>
                <a:effectLst/>
              </a:tblPr>
              <a:tblGrid>
                <a:gridCol w="1016000"/>
                <a:gridCol w="2032000"/>
                <a:gridCol w="2667000"/>
                <a:gridCol w="2159000"/>
                <a:gridCol w="3302000"/>
              </a:tblGrid>
              <a:tr h="571500">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层级</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名称</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来源</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承载空间</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控制手段</a:t>
                      </a:r>
                      <a:endParaRPr lang="en-US" sz="1100"/>
                    </a:p>
                  </a:txBody>
                  <a:tcPr anchor="ctr" anchorCtr="false" marL="101600" marR="101600" marT="101600" marB="101600">
                    <a:lnL>
                      <a:noFill/>
                    </a:lnL>
                    <a:lnR>
                      <a:noFill/>
                    </a:lnR>
                    <a:lnT>
                      <a:noFill/>
                    </a:lnT>
                    <a:lnB>
                      <a:noFill/>
                    </a:lnB>
                    <a:solidFill>
                      <a:srgbClr val="5B3FD6">
                        <a:alpha val="100000"/>
                      </a:srgbClr>
                    </a:solidFill>
                  </a:tcPr>
                </a:tc>
              </a:tr>
              <a:tr h="609600">
                <a:tc>
                  <a:txBody>
                    <a:bodyPr anchor="t" rtlCol="false"/>
                    <a:lstStyle/>
                    <a:p>
                      <a:pPr algn="ctr" marL="0" indent="0">
                        <a:lnSpc>
                          <a:spcPct val="100000"/>
                        </a:lnSpc>
                        <a:defRPr/>
                      </a:pPr>
                      <a:r>
                        <a:rPr lang="en-US" b="false" i="false" strike="noStrike" u="none" sz="1300">
                          <a:solidFill>
                            <a:srgbClr val="333333"/>
                          </a:solidFill>
                          <a:latin typeface="Noto Sans SC"/>
                          <a:ea typeface="Noto Sans SC"/>
                          <a:cs typeface="Noto Sans SC"/>
                          <a:sym typeface="Noto Sans SC"/>
                        </a:rPr>
                        <a:t>L-01</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ctr" marL="0" indent="0">
                        <a:lnSpc>
                          <a:spcPct val="100000"/>
                        </a:lnSpc>
                        <a:defRPr/>
                      </a:pPr>
                      <a:r>
                        <a:rPr lang="en-US" b="true" i="false" strike="noStrike" u="none" sz="1300">
                          <a:solidFill>
                            <a:srgbClr val="5B3FD6"/>
                          </a:solidFill>
                          <a:latin typeface="Noto Sans SC"/>
                          <a:ea typeface="Noto Sans SC"/>
                          <a:cs typeface="Noto Sans SC"/>
                          <a:sym typeface="Noto Sans SC"/>
                        </a:rPr>
                        <a:t>递归无穷</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迭代深度 n→∞，自指性嵌套</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ctr" marL="0" indent="0">
                        <a:lnSpc>
                          <a:spcPct val="100000"/>
                        </a:lnSpc>
                        <a:defRPr/>
                      </a:pPr>
                      <a:r>
                        <a:rPr lang="en-US" b="false" i="false" strike="noStrike" u="none" sz="1300">
                          <a:solidFill>
                            <a:srgbClr val="555555"/>
                          </a:solidFill>
                          <a:latin typeface="Noto Sans SC"/>
                          <a:ea typeface="Noto Sans SC"/>
                          <a:cs typeface="Noto Sans SC"/>
                          <a:sym typeface="Noto Sans SC"/>
                        </a:rPr>
                        <a:t>有限维流形</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超限归纳法 + 可逆性回溯机制</a:t>
                      </a:r>
                      <a:endParaRPr lang="en-US" sz="1100"/>
                    </a:p>
                  </a:txBody>
                  <a:tcPr anchor="ctr" anchorCtr="false" marL="101600" marR="101600" marT="101600" marB="101600">
                    <a:lnL>
                      <a:noFill/>
                    </a:lnL>
                    <a:lnR>
                      <a:noFill/>
                    </a:lnR>
                    <a:lnT>
                      <a:noFill/>
                    </a:lnT>
                    <a:lnB>
                      <a:noFill/>
                    </a:lnB>
                    <a:solidFill>
                      <a:srgbClr val="5B3FD6">
                        <a:alpha val="5000"/>
                      </a:srgbClr>
                    </a:solidFill>
                  </a:tcPr>
                </a:tc>
              </a:tr>
              <a:tr h="609600">
                <a:tc>
                  <a:txBody>
                    <a:bodyPr anchor="t" rtlCol="false"/>
                    <a:lstStyle/>
                    <a:p>
                      <a:pPr algn="ctr" marL="0" indent="0">
                        <a:lnSpc>
                          <a:spcPct val="100000"/>
                        </a:lnSpc>
                        <a:defRPr/>
                      </a:pPr>
                      <a:r>
                        <a:rPr lang="en-US" b="false" i="false" strike="noStrike" u="none" sz="1300">
                          <a:solidFill>
                            <a:srgbClr val="333333"/>
                          </a:solidFill>
                          <a:latin typeface="Noto Sans SC"/>
                          <a:ea typeface="Noto Sans SC"/>
                          <a:cs typeface="Noto Sans SC"/>
                          <a:sym typeface="Noto Sans SC"/>
                        </a:rPr>
                        <a:t>L-02</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true" i="false" strike="noStrike" u="none" sz="1300">
                          <a:solidFill>
                            <a:srgbClr val="5B3FD6"/>
                          </a:solidFill>
                          <a:latin typeface="Noto Sans SC"/>
                          <a:ea typeface="Noto Sans SC"/>
                          <a:cs typeface="Noto Sans SC"/>
                          <a:sym typeface="Noto Sans SC"/>
                        </a:rPr>
                        <a:t>参数无穷</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函数空间自由度的连续扩张</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300">
                          <a:solidFill>
                            <a:srgbClr val="555555"/>
                          </a:solidFill>
                          <a:latin typeface="Noto Sans SC"/>
                          <a:ea typeface="Noto Sans SC"/>
                          <a:cs typeface="Noto Sans SC"/>
                          <a:sym typeface="Noto Sans SC"/>
                        </a:rPr>
                        <a:t>有限维拓扑向量空间</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公理Ⅴ (Dixmier) + 梅林变换约束</a:t>
                      </a:r>
                      <a:endParaRPr lang="en-US" sz="1100"/>
                    </a:p>
                  </a:txBody>
                  <a:tcPr anchor="ctr" anchorCtr="false" marL="101600" marR="101600" marT="101600" marB="101600">
                    <a:lnL>
                      <a:noFill/>
                    </a:lnL>
                    <a:lnR>
                      <a:noFill/>
                    </a:lnR>
                    <a:lnT>
                      <a:noFill/>
                    </a:lnT>
                    <a:lnB>
                      <a:noFill/>
                    </a:lnB>
                    <a:solidFill>
                      <a:srgbClr val="FFFFFF">
                        <a:alpha val="100000"/>
                      </a:srgbClr>
                    </a:solidFill>
                  </a:tcPr>
                </a:tc>
              </a:tr>
              <a:tr h="609600">
                <a:tc>
                  <a:txBody>
                    <a:bodyPr anchor="t" rtlCol="false"/>
                    <a:lstStyle/>
                    <a:p>
                      <a:pPr algn="ctr" marL="0" indent="0">
                        <a:lnSpc>
                          <a:spcPct val="100000"/>
                        </a:lnSpc>
                        <a:defRPr/>
                      </a:pPr>
                      <a:r>
                        <a:rPr lang="en-US" b="false" i="false" strike="noStrike" u="none" sz="1300">
                          <a:solidFill>
                            <a:srgbClr val="333333"/>
                          </a:solidFill>
                          <a:latin typeface="Noto Sans SC"/>
                          <a:ea typeface="Noto Sans SC"/>
                          <a:cs typeface="Noto Sans SC"/>
                          <a:sym typeface="Noto Sans SC"/>
                        </a:rPr>
                        <a:t>L-03</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ctr" marL="0" indent="0">
                        <a:lnSpc>
                          <a:spcPct val="100000"/>
                        </a:lnSpc>
                        <a:defRPr/>
                      </a:pPr>
                      <a:r>
                        <a:rPr lang="en-US" b="true" i="false" strike="noStrike" u="none" sz="1300">
                          <a:solidFill>
                            <a:srgbClr val="5B3FD6"/>
                          </a:solidFill>
                          <a:latin typeface="Noto Sans SC"/>
                          <a:ea typeface="Noto Sans SC"/>
                          <a:cs typeface="Noto Sans SC"/>
                          <a:sym typeface="Noto Sans SC"/>
                        </a:rPr>
                        <a:t>并置无穷</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闭包数量趋于无穷，离散并置</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ctr" marL="0" indent="0">
                        <a:lnSpc>
                          <a:spcPct val="100000"/>
                        </a:lnSpc>
                        <a:defRPr/>
                      </a:pPr>
                      <a:r>
                        <a:rPr lang="en-US" b="false" i="false" strike="noStrike" u="none" sz="1300">
                          <a:solidFill>
                            <a:srgbClr val="555555"/>
                          </a:solidFill>
                          <a:latin typeface="Noto Sans SC"/>
                          <a:ea typeface="Noto Sans SC"/>
                          <a:cs typeface="Noto Sans SC"/>
                          <a:sym typeface="Noto Sans SC"/>
                        </a:rPr>
                        <a:t>局部有限胞腔复形</a:t>
                      </a:r>
                      <a:endParaRPr lang="en-US" sz="1100"/>
                    </a:p>
                  </a:txBody>
                  <a:tcPr anchor="ctr" anchorCtr="false" marL="101600" marR="101600" marT="101600" marB="101600">
                    <a:lnL>
                      <a:noFill/>
                    </a:lnL>
                    <a:lnR>
                      <a:noFill/>
                    </a:lnR>
                    <a:lnT>
                      <a:noFill/>
                    </a:lnT>
                    <a:lnB>
                      <a:noFill/>
                    </a:lnB>
                    <a:solidFill>
                      <a:srgbClr val="5B3FD6">
                        <a:alpha val="5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紧致 Exhaustion + 局部有限覆盖</a:t>
                      </a:r>
                      <a:endParaRPr lang="en-US" sz="1100"/>
                    </a:p>
                  </a:txBody>
                  <a:tcPr anchor="ctr" anchorCtr="false" marL="101600" marR="101600" marT="101600" marB="101600">
                    <a:lnL>
                      <a:noFill/>
                    </a:lnL>
                    <a:lnR>
                      <a:noFill/>
                    </a:lnR>
                    <a:lnT>
                      <a:noFill/>
                    </a:lnT>
                    <a:lnB>
                      <a:noFill/>
                    </a:lnB>
                    <a:solidFill>
                      <a:srgbClr val="5B3FD6">
                        <a:alpha val="5000"/>
                      </a:srgbClr>
                    </a:solidFill>
                  </a:tcPr>
                </a:tc>
              </a:tr>
              <a:tr h="609600">
                <a:tc>
                  <a:txBody>
                    <a:bodyPr anchor="t" rtlCol="false"/>
                    <a:lstStyle/>
                    <a:p>
                      <a:pPr algn="ctr" marL="0" indent="0">
                        <a:lnSpc>
                          <a:spcPct val="100000"/>
                        </a:lnSpc>
                        <a:defRPr/>
                      </a:pPr>
                      <a:r>
                        <a:rPr lang="en-US" b="false" i="false" strike="noStrike" u="none" sz="1300">
                          <a:solidFill>
                            <a:srgbClr val="333333"/>
                          </a:solidFill>
                          <a:latin typeface="Noto Sans SC"/>
                          <a:ea typeface="Noto Sans SC"/>
                          <a:cs typeface="Noto Sans SC"/>
                          <a:sym typeface="Noto Sans SC"/>
                        </a:rPr>
                        <a:t>L-04</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true" i="false" strike="noStrike" u="none" sz="1300">
                          <a:solidFill>
                            <a:srgbClr val="5B3FD6"/>
                          </a:solidFill>
                          <a:latin typeface="Noto Sans SC"/>
                          <a:ea typeface="Noto Sans SC"/>
                          <a:cs typeface="Noto Sans SC"/>
                          <a:sym typeface="Noto Sans SC"/>
                        </a:rPr>
                        <a:t>表示无穷</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伽罗瓦表示层数量层级递升</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300">
                          <a:solidFill>
                            <a:srgbClr val="555555"/>
                          </a:solidFill>
                          <a:latin typeface="Noto Sans SC"/>
                          <a:ea typeface="Noto Sans SC"/>
                          <a:cs typeface="Noto Sans SC"/>
                          <a:sym typeface="Noto Sans SC"/>
                        </a:rPr>
                        <a:t>连续纤维丛结构空间</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l" marL="127000" indent="0">
                        <a:lnSpc>
                          <a:spcPct val="100000"/>
                        </a:lnSpc>
                        <a:defRPr/>
                      </a:pPr>
                      <a:r>
                        <a:rPr lang="en-US" b="false" i="false" strike="noStrike" u="none" sz="1300">
                          <a:solidFill>
                            <a:srgbClr val="555555"/>
                          </a:solidFill>
                          <a:latin typeface="Noto Sans SC"/>
                          <a:ea typeface="Noto Sans SC"/>
                          <a:cs typeface="Noto Sans SC"/>
                          <a:sym typeface="Noto Sans SC"/>
                        </a:rPr>
                        <a:t>循环上同调 + 解陪域筛选机制</a:t>
                      </a:r>
                      <a:endParaRPr lang="en-US" sz="1100"/>
                    </a:p>
                  </a:txBody>
                  <a:tcPr anchor="ctr" anchorCtr="false" marL="101600" marR="101600" marT="101600" marB="101600">
                    <a:lnL>
                      <a:noFill/>
                    </a:lnL>
                    <a:lnR>
                      <a:noFill/>
                    </a:lnR>
                    <a:lnT>
                      <a:noFill/>
                    </a:lnT>
                    <a:lnB>
                      <a:noFill/>
                    </a:lnB>
                    <a:solidFill>
                      <a:srgbClr val="FFFFFF">
                        <a:alpha val="100000"/>
                      </a:srgbClr>
                    </a:solidFill>
                  </a:tcPr>
                </a:tc>
              </a:tr>
            </a:tbl>
          </a:graphicData>
        </a:graphic>
      </p:graphicFrame>
      <p:sp>
        <p:nvSpPr>
          <p:cNvPr name="AutoShape 6" id="6"/>
          <p:cNvSpPr/>
          <p:nvPr/>
        </p:nvSpPr>
        <p:spPr>
          <a:xfrm rot="0" flipH="false" flipV="false">
            <a:off x="508000" y="5397500"/>
            <a:ext cx="11176000" cy="1143000"/>
          </a:xfrm>
          <a:prstGeom prst="roundRect">
            <a:avLst>
              <a:gd name="adj" fmla="val 0"/>
            </a:avLst>
          </a:prstGeom>
          <a:solidFill>
            <a:srgbClr val="5B3FD6">
              <a:alpha val="6000"/>
            </a:srgbClr>
          </a:solidFill>
          <a:ln cmpd="sng" cap="flat">
            <a:solidFill>
              <a:srgbClr val="4125BD">
                <a:alpha val="6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5397500"/>
            <a:ext cx="76200" cy="11430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25500" y="5524500"/>
            <a:ext cx="1073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5B3FD6"/>
                </a:solidFill>
                <a:latin typeface="Noto Sans SC"/>
                <a:ea typeface="Noto Sans SC"/>
                <a:cs typeface="Noto Sans SC"/>
                <a:sym typeface="Noto Sans SC"/>
              </a:rPr>
              <a:t>核心洞察：</a:t>
            </a:r>
            <a:r>
              <a:rPr lang="en-US" b="false" i="false" strike="noStrike" u="none" sz="1400">
                <a:solidFill>
                  <a:srgbClr val="333333"/>
                </a:solidFill>
                <a:latin typeface="Noto Sans SC"/>
                <a:ea typeface="Noto Sans SC"/>
                <a:cs typeface="Noto Sans SC"/>
                <a:sym typeface="Noto Sans SC"/>
              </a:rPr>
              <a:t>底流形永远固定为 R³（拓扑维数 = 3），无穷性并非来自物理空间的扩张，而是完全源于子域切法规则的多样性与自洽性构造。这种“有限载体上的无限生成性”是理解高阶无穷谱系的关键锚点。</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381000" y="1016000"/>
            <a:ext cx="2476500" cy="24765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98500" y="1460500"/>
            <a:ext cx="1270000" cy="889000"/>
          </a:xfrm>
          <a:prstGeom prst="roundRect">
            <a:avLst>
              <a:gd name="adj" fmla="val 0"/>
            </a:avLst>
          </a:prstGeom>
          <a:solidFill>
            <a:srgbClr val="3B82F6">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825500" y="1587500"/>
            <a:ext cx="1270000" cy="8890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381000" y="2794000"/>
            <a:ext cx="24765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1F2937"/>
                </a:solidFill>
                <a:latin typeface="Noto Sans SC"/>
                <a:ea typeface="Noto Sans SC"/>
                <a:cs typeface="Noto Sans SC"/>
                <a:sym typeface="Noto Sans SC"/>
              </a:rPr>
              <a:t>01 全等重叠</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B7280"/>
                </a:solidFill>
                <a:latin typeface="Noto Sans SC"/>
                <a:ea typeface="Noto Sans SC"/>
                <a:cs typeface="Noto Sans SC"/>
                <a:sym typeface="Noto Sans SC"/>
              </a:rPr>
              <a:t>几何完全重合，D₁ = D₂</a:t>
            </a:r>
          </a:p>
        </p:txBody>
      </p:sp>
      <p:sp>
        <p:nvSpPr>
          <p:cNvPr name="AutoShape 6" id="6"/>
          <p:cNvSpPr/>
          <p:nvPr/>
        </p:nvSpPr>
        <p:spPr>
          <a:xfrm rot="0" flipH="false" flipV="false">
            <a:off x="2984500" y="1016000"/>
            <a:ext cx="2476500" cy="24765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3238500" y="1460500"/>
            <a:ext cx="1143000" cy="889000"/>
          </a:xfrm>
          <a:prstGeom prst="roundRect">
            <a:avLst>
              <a:gd name="adj" fmla="val 0"/>
            </a:avLst>
          </a:prstGeom>
          <a:solidFill>
            <a:srgbClr val="3B82F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3683000" y="1651000"/>
            <a:ext cx="1143000" cy="8890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2984500" y="2794000"/>
            <a:ext cx="24765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1F2937"/>
                </a:solidFill>
                <a:latin typeface="Noto Sans SC"/>
                <a:ea typeface="Noto Sans SC"/>
                <a:cs typeface="Noto Sans SC"/>
                <a:sym typeface="Noto Sans SC"/>
              </a:rPr>
              <a:t>02 内部相交</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B7280"/>
                </a:solidFill>
                <a:latin typeface="Noto Sans SC"/>
                <a:ea typeface="Noto Sans SC"/>
                <a:cs typeface="Noto Sans SC"/>
                <a:sym typeface="Noto Sans SC"/>
              </a:rPr>
              <a:t>内部交集非空，边界无交</a:t>
            </a:r>
          </a:p>
        </p:txBody>
      </p:sp>
      <p:sp>
        <p:nvSpPr>
          <p:cNvPr name="AutoShape 10" id="10"/>
          <p:cNvSpPr/>
          <p:nvPr/>
        </p:nvSpPr>
        <p:spPr>
          <a:xfrm rot="0" flipH="false" flipV="false">
            <a:off x="381000" y="3746500"/>
            <a:ext cx="2476500" cy="24765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 y="4254500"/>
            <a:ext cx="952500" cy="889000"/>
          </a:xfrm>
          <a:prstGeom prst="roundRect">
            <a:avLst>
              <a:gd name="adj" fmla="val 0"/>
            </a:avLst>
          </a:prstGeom>
          <a:solidFill>
            <a:srgbClr val="3B82F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587500" y="4254500"/>
            <a:ext cx="952500" cy="8890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81000" y="5461000"/>
            <a:ext cx="24765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1F2937"/>
                </a:solidFill>
                <a:latin typeface="Noto Sans SC"/>
                <a:ea typeface="Noto Sans SC"/>
                <a:cs typeface="Noto Sans SC"/>
                <a:sym typeface="Noto Sans SC"/>
              </a:rPr>
              <a:t>03 边界贴合</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B7280"/>
                </a:solidFill>
                <a:latin typeface="Noto Sans SC"/>
                <a:ea typeface="Noto Sans SC"/>
                <a:cs typeface="Noto Sans SC"/>
                <a:sym typeface="Noto Sans SC"/>
              </a:rPr>
              <a:t>仅共享边界，内部无重叠</a:t>
            </a:r>
          </a:p>
        </p:txBody>
      </p:sp>
      <p:sp>
        <p:nvSpPr>
          <p:cNvPr name="AutoShape 14" id="14"/>
          <p:cNvSpPr/>
          <p:nvPr/>
        </p:nvSpPr>
        <p:spPr>
          <a:xfrm rot="0" flipH="false" flipV="false">
            <a:off x="2984500" y="3746500"/>
            <a:ext cx="2476500" cy="24765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3175000" y="4254500"/>
            <a:ext cx="889000" cy="889000"/>
          </a:xfrm>
          <a:prstGeom prst="roundRect">
            <a:avLst>
              <a:gd name="adj" fmla="val 0"/>
            </a:avLst>
          </a:prstGeom>
          <a:solidFill>
            <a:srgbClr val="3B82F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254500" y="4254500"/>
            <a:ext cx="889000" cy="8890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2984500" y="5461000"/>
            <a:ext cx="24765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1F2937"/>
                </a:solidFill>
                <a:latin typeface="Noto Sans SC"/>
                <a:ea typeface="Noto Sans SC"/>
                <a:cs typeface="Noto Sans SC"/>
                <a:sym typeface="Noto Sans SC"/>
              </a:rPr>
              <a:t>04 严格分离</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300">
                <a:solidFill>
                  <a:srgbClr val="6B7280"/>
                </a:solidFill>
                <a:latin typeface="Noto Sans SC"/>
                <a:ea typeface="Noto Sans SC"/>
                <a:cs typeface="Noto Sans SC"/>
                <a:sym typeface="Noto Sans SC"/>
              </a:rPr>
              <a:t>无任何交集，D₁∩D₂=∅</a:t>
            </a:r>
          </a:p>
        </p:txBody>
      </p:sp>
      <p:sp>
        <p:nvSpPr>
          <p:cNvPr name="AutoShape 18" id="18"/>
          <p:cNvSpPr/>
          <p:nvPr/>
        </p:nvSpPr>
        <p:spPr>
          <a:xfrm rot="0" flipH="false" flipV="false">
            <a:off x="5715000" y="1016000"/>
            <a:ext cx="6096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子域四型拓扑关系</a:t>
            </a:r>
            <a:endParaRPr lang="en-US" sz="1100"/>
          </a:p>
        </p:txBody>
      </p:sp>
      <p:sp>
        <p:nvSpPr>
          <p:cNvPr name="AutoShape 19" id="19"/>
          <p:cNvSpPr/>
          <p:nvPr/>
        </p:nvSpPr>
        <p:spPr>
          <a:xfrm rot="0" flipH="false" flipV="false">
            <a:off x="6096000" y="1968500"/>
            <a:ext cx="5334000" cy="25400"/>
          </a:xfrm>
          <a:prstGeom prst="roundRect">
            <a:avLst>
              <a:gd name="adj" fmla="val 0"/>
            </a:avLst>
          </a:prstGeom>
          <a:solidFill>
            <a:srgbClr val="5B3FD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5715000" y="2286000"/>
            <a:ext cx="6096000" cy="952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500">
                <a:solidFill>
                  <a:srgbClr val="333333"/>
                </a:solidFill>
                <a:latin typeface="Noto Sans SC"/>
                <a:ea typeface="Noto Sans SC"/>
                <a:cs typeface="Noto Sans SC"/>
                <a:sym typeface="Noto Sans SC"/>
              </a:rPr>
              <a:t>命题 6.1：任意两个合法子域的拓扑关系被四类情形所穷尽，且四类关系互斥无重叠，共同构成了空间域划分的完整拓扑基，是进行区域分析的基础。</a:t>
            </a:r>
            <a:endParaRPr lang="en-US" sz="1100"/>
          </a:p>
        </p:txBody>
      </p:sp>
      <p:sp>
        <p:nvSpPr>
          <p:cNvPr name="AutoShape 21" id="21"/>
          <p:cNvSpPr/>
          <p:nvPr/>
        </p:nvSpPr>
        <p:spPr>
          <a:xfrm rot="0" flipH="false" flipV="false">
            <a:off x="5715000" y="3429000"/>
            <a:ext cx="6096000" cy="1587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500">
                <a:solidFill>
                  <a:srgbClr val="333333"/>
                </a:solidFill>
                <a:latin typeface="Noto Sans SC"/>
                <a:ea typeface="Noto Sans SC"/>
                <a:cs typeface="Noto Sans SC"/>
                <a:sym typeface="Noto Sans SC"/>
              </a:rPr>
              <a:t>全等重叠：两子域几何范围完全一致，属性完全等价</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内部相交：子域内部存在重叠区域，边界互不接触</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边界贴合：仅在边界处相连，形成邻接关系，内部无重叠</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严格分离：两子域在空间上完全独立，无任何几何交集</a:t>
            </a:r>
            <a:endParaRPr lang="en-US" sz="1100"/>
          </a:p>
        </p:txBody>
      </p:sp>
      <p:sp>
        <p:nvSpPr>
          <p:cNvPr name="AutoShape 22" id="22"/>
          <p:cNvSpPr/>
          <p:nvPr/>
        </p:nvSpPr>
        <p:spPr>
          <a:xfrm rot="0" flipH="false" flipV="false">
            <a:off x="5715000" y="5143500"/>
            <a:ext cx="6096000" cy="1333500"/>
          </a:xfrm>
          <a:prstGeom prst="roundRect">
            <a:avLst>
              <a:gd name="adj" fmla="val 0"/>
            </a:avLst>
          </a:prstGeom>
          <a:solidFill>
            <a:srgbClr val="5B3FD6">
              <a:alpha val="6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5842000" y="5270500"/>
            <a:ext cx="584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true" i="false" strike="noStrike" u="none" sz="1500">
                <a:solidFill>
                  <a:srgbClr val="5B3FD6"/>
                </a:solidFill>
                <a:latin typeface="Noto Sans SC"/>
                <a:ea typeface="Noto Sans SC"/>
                <a:cs typeface="Noto Sans SC"/>
                <a:sym typeface="Noto Sans SC"/>
              </a:rPr>
              <a:t>核心积分规则提示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严格分离时积分具备可加性；若为其余三类关系，需先合并子域并消去内部共享面，再计算整体外边界积分，以避免边界通量重复计算。</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1016000"/>
            <a:ext cx="4572000" cy="762000"/>
          </a:xfrm>
          <a:prstGeom prst="roundRect">
            <a:avLst>
              <a:gd name="adj" fmla="val 0"/>
            </a:avLst>
          </a:prstGeom>
          <a:solidFill>
            <a:srgbClr val="F3F4F6">
              <a:alpha val="100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1206500"/>
            <a:ext cx="457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5B3FD6"/>
                </a:solidFill>
                <a:latin typeface="Noto Sans SC"/>
                <a:ea typeface="Noto Sans SC"/>
                <a:cs typeface="Noto Sans SC"/>
                <a:sym typeface="Noto Sans SC"/>
              </a:rPr>
              <a:t>S_q^∞ ≅ D × R(ω_q)</a:t>
            </a:r>
            <a:endParaRPr lang="en-US" sz="1100"/>
          </a:p>
        </p:txBody>
      </p:sp>
      <p:sp>
        <p:nvSpPr>
          <p:cNvPr name="AutoShape 4" id="4"/>
          <p:cNvSpPr/>
          <p:nvPr/>
        </p:nvSpPr>
        <p:spPr>
          <a:xfrm rot="0" flipH="false" flipV="false">
            <a:off x="635000" y="1968500"/>
            <a:ext cx="457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纤维层：二维复 q-商结构 R(ω_q)</a:t>
            </a:r>
            <a:endParaRPr lang="en-US" sz="1100"/>
          </a:p>
        </p:txBody>
      </p:sp>
      <p:sp>
        <p:nvSpPr>
          <p:cNvPr name="AutoShape 5" id="5"/>
          <p:cNvSpPr/>
          <p:nvPr/>
        </p:nvSpPr>
        <p:spPr>
          <a:xfrm rot="0" flipH="false" flipV="false">
            <a:off x="698500" y="2540000"/>
            <a:ext cx="635000" cy="635000"/>
          </a:xfrm>
          <a:prstGeom prst="ellipse">
            <a:avLst/>
          </a:prstGeom>
          <a:solidFill>
            <a:srgbClr val="DBEAFE">
              <a:alpha val="100000"/>
            </a:srgbClr>
          </a:solidFill>
          <a:ln w="25400" cmpd="sng" cap="flat">
            <a:solidFill>
              <a:srgbClr val="3B82F6">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587500" y="2540000"/>
            <a:ext cx="635000" cy="635000"/>
          </a:xfrm>
          <a:prstGeom prst="ellipse">
            <a:avLst/>
          </a:prstGeom>
          <a:solidFill>
            <a:srgbClr val="DBEAFE">
              <a:alpha val="100000"/>
            </a:srgbClr>
          </a:solidFill>
          <a:ln w="25400" cmpd="sng" cap="flat">
            <a:solidFill>
              <a:srgbClr val="3B82F6">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476500" y="2540000"/>
            <a:ext cx="635000" cy="635000"/>
          </a:xfrm>
          <a:prstGeom prst="ellipse">
            <a:avLst/>
          </a:prstGeom>
          <a:solidFill>
            <a:srgbClr val="DBEAFE">
              <a:alpha val="100000"/>
            </a:srgbClr>
          </a:solidFill>
          <a:ln w="25400" cmpd="sng" cap="flat">
            <a:solidFill>
              <a:srgbClr val="3B82F6">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3365500" y="2540000"/>
            <a:ext cx="635000" cy="635000"/>
          </a:xfrm>
          <a:prstGeom prst="ellipse">
            <a:avLst/>
          </a:prstGeom>
          <a:solidFill>
            <a:srgbClr val="DBEAFE">
              <a:alpha val="100000"/>
            </a:srgbClr>
          </a:solidFill>
          <a:ln w="25400" cmpd="sng" cap="flat">
            <a:solidFill>
              <a:srgbClr val="3B82F6">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254500" y="2540000"/>
            <a:ext cx="635000" cy="635000"/>
          </a:xfrm>
          <a:prstGeom prst="ellipse">
            <a:avLst/>
          </a:prstGeom>
          <a:solidFill>
            <a:srgbClr val="DBEAFE">
              <a:alpha val="100000"/>
            </a:srgbClr>
          </a:solidFill>
          <a:ln w="25400" cmpd="sng" cap="flat">
            <a:solidFill>
              <a:srgbClr val="3B82F6">
                <a:alpha val="100000"/>
              </a:srgbClr>
            </a:solidFill>
            <a:prstDash val="solid"/>
            <a:round/>
          </a:ln>
        </p:spPr>
        <p:txBody>
          <a:bodyPr anchor="ctr" rtlCol="false" vert="horz" wrap="square" lIns="63500" rIns="63500" tIns="63500" bIns="63500"/>
          <a:lstStyle/>
          <a:p>
            <a:pPr algn="ctr">
              <a:defRPr/>
            </a:pPr>
            <a:endParaRPr/>
          </a:p>
        </p:txBody>
      </p:sp>
      <p:cxnSp>
        <p:nvCxnSpPr>
          <p:cNvPr name="Connector 10" id="10"/>
          <p:cNvCxnSpPr/>
          <p:nvPr/>
        </p:nvCxnSpPr>
        <p:spPr>
          <a:xfrm rot="5361804" flipH="false" flipV="false">
            <a:off x="444500" y="3740185"/>
            <a:ext cx="11430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cxnSp>
        <p:nvCxnSpPr>
          <p:cNvPr name="Connector 11" id="11"/>
          <p:cNvCxnSpPr/>
          <p:nvPr/>
        </p:nvCxnSpPr>
        <p:spPr>
          <a:xfrm rot="5361804" flipH="false" flipV="false">
            <a:off x="1333500" y="3740185"/>
            <a:ext cx="11430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cxnSp>
        <p:nvCxnSpPr>
          <p:cNvPr name="Connector 12" id="12"/>
          <p:cNvCxnSpPr/>
          <p:nvPr/>
        </p:nvCxnSpPr>
        <p:spPr>
          <a:xfrm rot="5361804" flipH="false" flipV="false">
            <a:off x="2222500" y="3740185"/>
            <a:ext cx="11430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cxnSp>
        <p:nvCxnSpPr>
          <p:cNvPr name="Connector 13" id="13"/>
          <p:cNvCxnSpPr/>
          <p:nvPr/>
        </p:nvCxnSpPr>
        <p:spPr>
          <a:xfrm rot="5361804" flipH="false" flipV="false">
            <a:off x="3111500" y="3740185"/>
            <a:ext cx="11430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cxnSp>
        <p:nvCxnSpPr>
          <p:cNvPr name="Connector 14" id="14"/>
          <p:cNvCxnSpPr/>
          <p:nvPr/>
        </p:nvCxnSpPr>
        <p:spPr>
          <a:xfrm rot="5361804" flipH="false" flipV="false">
            <a:off x="4000500" y="3740185"/>
            <a:ext cx="1143000" cy="12700"/>
          </a:xfrm>
          <a:prstGeom prst="straightConnector1">
            <a:avLst/>
          </a:prstGeom>
          <a:solidFill>
            <a:srgbClr val="DEE0E3">
              <a:alpha val="100000"/>
            </a:srgbClr>
          </a:solidFill>
          <a:ln w="12700" cmpd="sng" cap="flat">
            <a:solidFill>
              <a:srgbClr val="9CA3AF">
                <a:alpha val="100000"/>
              </a:srgbClr>
            </a:solidFill>
            <a:prstDash val="dash"/>
            <a:round/>
            <a:headEnd type="none" w="med" len="med"/>
            <a:tailEnd type="none" w="med" len="med"/>
          </a:ln>
        </p:spPr>
      </p:cxnSp>
      <p:sp>
        <p:nvSpPr>
          <p:cNvPr name="AutoShape 15" id="15"/>
          <p:cNvSpPr/>
          <p:nvPr/>
        </p:nvSpPr>
        <p:spPr>
          <a:xfrm rot="0" flipH="false" flipV="false">
            <a:off x="698500" y="4318000"/>
            <a:ext cx="635000" cy="635000"/>
          </a:xfrm>
          <a:prstGeom prst="roundRect">
            <a:avLst>
              <a:gd name="adj" fmla="val 0"/>
            </a:avLst>
          </a:prstGeom>
          <a:solidFill>
            <a:srgbClr val="E5E7EB">
              <a:alpha val="100000"/>
            </a:srgbClr>
          </a:solidFill>
          <a:ln w="254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587500" y="4318000"/>
            <a:ext cx="635000" cy="635000"/>
          </a:xfrm>
          <a:prstGeom prst="roundRect">
            <a:avLst>
              <a:gd name="adj" fmla="val 0"/>
            </a:avLst>
          </a:prstGeom>
          <a:solidFill>
            <a:srgbClr val="E5E7EB">
              <a:alpha val="100000"/>
            </a:srgbClr>
          </a:solidFill>
          <a:ln w="254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2476500" y="4318000"/>
            <a:ext cx="635000" cy="635000"/>
          </a:xfrm>
          <a:prstGeom prst="roundRect">
            <a:avLst>
              <a:gd name="adj" fmla="val 0"/>
            </a:avLst>
          </a:prstGeom>
          <a:solidFill>
            <a:srgbClr val="E5E7EB">
              <a:alpha val="100000"/>
            </a:srgbClr>
          </a:solidFill>
          <a:ln w="254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3365500" y="4318000"/>
            <a:ext cx="635000" cy="635000"/>
          </a:xfrm>
          <a:prstGeom prst="roundRect">
            <a:avLst>
              <a:gd name="adj" fmla="val 0"/>
            </a:avLst>
          </a:prstGeom>
          <a:solidFill>
            <a:srgbClr val="E5E7EB">
              <a:alpha val="100000"/>
            </a:srgbClr>
          </a:solidFill>
          <a:ln w="254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254500" y="4318000"/>
            <a:ext cx="635000" cy="635000"/>
          </a:xfrm>
          <a:prstGeom prst="roundRect">
            <a:avLst>
              <a:gd name="adj" fmla="val 0"/>
            </a:avLst>
          </a:prstGeom>
          <a:solidFill>
            <a:srgbClr val="E5E7EB">
              <a:alpha val="100000"/>
            </a:srgbClr>
          </a:solidFill>
          <a:ln w="254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35000" y="5461000"/>
            <a:ext cx="457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底空间 D：带可逆相交拓扑的合法子域族</a:t>
            </a:r>
            <a:r>
              <a:rPr lang="en-US" b="false" i="false" strike="noStrike" u="none" sz="1400">
                <a:solidFill>
                  <a:srgbClr val="6B7280"/>
                </a:solidFill>
                <a:latin typeface="Noto Sans SC"/>
                <a:ea typeface="Noto Sans SC"/>
                <a:cs typeface="Noto Sans SC"/>
                <a:sym typeface="Noto Sans SC"/>
              </a:rPr>
              <a:t/>
            </a:r>
            <a:br>
              <a:rPr lang="en-US" b="false" i="false" strike="noStrike" u="none" sz="1400">
                <a:solidFill>
                  <a:srgbClr val="6B7280"/>
                </a:solidFill>
                <a:latin typeface="Noto Sans SC"/>
                <a:ea typeface="Noto Sans SC"/>
                <a:cs typeface="Noto Sans SC"/>
                <a:sym typeface="Noto Sans SC"/>
              </a:rPr>
            </a:br>
            <a:r>
              <a:rPr lang="en-US" b="false" i="false" strike="noStrike" u="none" sz="1400">
                <a:solidFill>
                  <a:srgbClr val="6B7280"/>
                </a:solidFill>
                <a:latin typeface="Noto Sans SC"/>
                <a:ea typeface="Noto Sans SC"/>
                <a:cs typeface="Noto Sans SC"/>
                <a:sym typeface="Noto Sans SC"/>
              </a:rPr>
              <a:t>（离散/连续分布的基础流形）</a:t>
            </a:r>
            <a:endParaRPr lang="en-US" sz="1100"/>
          </a:p>
        </p:txBody>
      </p:sp>
      <p:sp>
        <p:nvSpPr>
          <p:cNvPr name="AutoShape 21" id="21"/>
          <p:cNvSpPr/>
          <p:nvPr/>
        </p:nvSpPr>
        <p:spPr>
          <a:xfrm rot="0" flipH="false" flipV="false">
            <a:off x="6096000" y="1016000"/>
            <a:ext cx="5588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600">
                <a:solidFill>
                  <a:srgbClr val="5B3FD6"/>
                </a:solidFill>
                <a:latin typeface="Noto Sans SC"/>
                <a:ea typeface="Noto Sans SC"/>
                <a:cs typeface="Noto Sans SC"/>
                <a:sym typeface="Noto Sans SC"/>
              </a:rPr>
              <a:t>空间域平凡纤维丛</a:t>
            </a:r>
            <a:endParaRPr lang="en-US" sz="1100"/>
          </a:p>
        </p:txBody>
      </p:sp>
      <p:sp>
        <p:nvSpPr>
          <p:cNvPr name="AutoShape 22" id="22"/>
          <p:cNvSpPr/>
          <p:nvPr/>
        </p:nvSpPr>
        <p:spPr>
          <a:xfrm rot="0" flipH="false" flipV="false">
            <a:off x="6096000" y="2222500"/>
            <a:ext cx="5588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500">
                <a:solidFill>
                  <a:srgbClr val="333333"/>
                </a:solidFill>
                <a:latin typeface="Noto Sans SC"/>
                <a:ea typeface="Noto Sans SC"/>
                <a:cs typeface="Noto Sans SC"/>
                <a:sym typeface="Noto Sans SC"/>
              </a:rPr>
              <a:t>命题 6.3：DCG 三维无穷空间域具有标准平凡纤维丛结构，其全局拓扑可分解为底空间与标准纤维的直积形式。</a:t>
            </a:r>
            <a:endParaRPr lang="en-US" sz="1100"/>
          </a:p>
        </p:txBody>
      </p:sp>
      <p:cxnSp>
        <p:nvCxnSpPr>
          <p:cNvPr name="Connector 23" id="23"/>
          <p:cNvCxnSpPr/>
          <p:nvPr/>
        </p:nvCxnSpPr>
        <p:spPr>
          <a:xfrm rot="-9549" flipH="false" flipV="false">
            <a:off x="6604009" y="3549650"/>
            <a:ext cx="4572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4" id="24"/>
          <p:cNvSpPr/>
          <p:nvPr/>
        </p:nvSpPr>
        <p:spPr>
          <a:xfrm rot="0" flipH="false" flipV="false">
            <a:off x="6096000" y="3746500"/>
            <a:ext cx="5588000" cy="165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500">
                <a:solidFill>
                  <a:srgbClr val="333333"/>
                </a:solidFill>
                <a:latin typeface="Noto Sans SC"/>
                <a:ea typeface="Noto Sans SC"/>
                <a:cs typeface="Noto Sans SC"/>
                <a:sym typeface="Noto Sans SC"/>
              </a:rPr>
              <a:t>• 结构基底：底空间 D 是满足可逆相交公理的合法子域集合</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 纤维属性：R(ω_q) 作为二维复流形，赋予每个子域q-商结构</a:t>
            </a:r>
            <a:r>
              <a:rPr lang="en-US" b="false" i="false" strike="noStrike" u="none" sz="1500">
                <a:solidFill>
                  <a:srgbClr val="333333"/>
                </a:solidFill>
                <a:latin typeface="Noto Sans SC"/>
                <a:ea typeface="Noto Sans SC"/>
                <a:cs typeface="Noto Sans SC"/>
                <a:sym typeface="Noto Sans SC"/>
              </a:rPr>
              <a:t/>
            </a:r>
            <a:br>
              <a:rPr lang="en-US" b="false" i="false" strike="noStrike" u="none" sz="1500">
                <a:solidFill>
                  <a:srgbClr val="333333"/>
                </a:solidFill>
                <a:latin typeface="Noto Sans SC"/>
                <a:ea typeface="Noto Sans SC"/>
                <a:cs typeface="Noto Sans SC"/>
                <a:sym typeface="Noto Sans SC"/>
              </a:rPr>
            </a:br>
            <a:r>
              <a:rPr lang="en-US" b="false" i="false" strike="noStrike" u="none" sz="1500">
                <a:solidFill>
                  <a:srgbClr val="333333"/>
                </a:solidFill>
                <a:latin typeface="Noto Sans SC"/>
                <a:ea typeface="Noto Sans SC"/>
                <a:cs typeface="Noto Sans SC"/>
                <a:sym typeface="Noto Sans SC"/>
              </a:rPr>
              <a:t>• 对应关系：每一根垂直纤维唯一映射单一子域的完整闭包空间</a:t>
            </a:r>
            <a:endParaRPr lang="en-US" sz="1100"/>
          </a:p>
        </p:txBody>
      </p:sp>
      <p:sp>
        <p:nvSpPr>
          <p:cNvPr name="AutoShape 25" id="25"/>
          <p:cNvSpPr/>
          <p:nvPr/>
        </p:nvSpPr>
        <p:spPr>
          <a:xfrm rot="0" flipH="false" flipV="false">
            <a:off x="6096000" y="5461000"/>
            <a:ext cx="5588000" cy="952500"/>
          </a:xfrm>
          <a:prstGeom prst="roundRect">
            <a:avLst>
              <a:gd name="adj" fmla="val 0"/>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223000" y="5562600"/>
            <a:ext cx="5334000" cy="825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500">
                <a:solidFill>
                  <a:srgbClr val="4B5563"/>
                </a:solidFill>
                <a:latin typeface="Noto Sans SC"/>
                <a:ea typeface="Noto Sans SC"/>
                <a:cs typeface="Noto Sans SC"/>
                <a:sym typeface="Noto Sans SC"/>
              </a:rPr>
              <a:t>由于所有局部平凡化均通过可逆邻域拓扑连通，该结构无缠绕且无全局障碍，因此空间域整体呈现拓扑平凡性，保证了域上分析的一致性。</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cmpd="sng" cap="flat">
            <a:solidFill>
              <a:srgbClr val="4125BD">
                <a:alpha val="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5B3FD6">
              <a:alpha val="5000"/>
            </a:srgbClr>
          </a:solidFill>
          <a:ln cmpd="sng" cap="flat">
            <a:solidFill>
              <a:srgbClr val="4125BD">
                <a:alpha val="5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空间域高斯消元判定算法</a:t>
            </a:r>
            <a:endParaRPr lang="en-US" sz="1100"/>
          </a:p>
        </p:txBody>
      </p:sp>
      <p:sp>
        <p:nvSpPr>
          <p:cNvPr name="AutoShape 5" id="5"/>
          <p:cNvSpPr/>
          <p:nvPr/>
        </p:nvSpPr>
        <p:spPr>
          <a:xfrm rot="0" flipH="false" flipV="false">
            <a:off x="508000" y="1460500"/>
            <a:ext cx="406400" cy="406400"/>
          </a:xfrm>
          <a:prstGeom prst="ellipse">
            <a:avLst/>
          </a:prstGeom>
          <a:solidFill>
            <a:srgbClr val="5B3FD6">
              <a:alpha val="100000"/>
            </a:srgbClr>
          </a:solidFill>
          <a:ln cmpd="sng" cap="flat">
            <a:solidFill>
              <a:srgbClr val="4125BD">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460500"/>
            <a:ext cx="4064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1</a:t>
            </a:r>
            <a:endParaRPr lang="en-US" sz="1100"/>
          </a:p>
        </p:txBody>
      </p:sp>
      <p:sp>
        <p:nvSpPr>
          <p:cNvPr name="AutoShape 7" id="7"/>
          <p:cNvSpPr/>
          <p:nvPr/>
        </p:nvSpPr>
        <p:spPr>
          <a:xfrm rot="0" flipH="false" flipV="false">
            <a:off x="1041400" y="1422400"/>
            <a:ext cx="48641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构造增广矩阵</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构建无穷维增广矩阵 M = [r1; r2]，确立输入空间的基础拓扑结构与维度关系，作为算法的初始输入载体。</a:t>
            </a:r>
          </a:p>
        </p:txBody>
      </p:sp>
      <p:sp>
        <p:nvSpPr>
          <p:cNvPr name="AutoShape 8" id="8"/>
          <p:cNvSpPr/>
          <p:nvPr/>
        </p:nvSpPr>
        <p:spPr>
          <a:xfrm rot="0" flipH="false" flipV="false">
            <a:off x="508000" y="2730500"/>
            <a:ext cx="406400" cy="406400"/>
          </a:xfrm>
          <a:prstGeom prst="ellipse">
            <a:avLst/>
          </a:prstGeom>
          <a:solidFill>
            <a:srgbClr val="5B3FD6">
              <a:alpha val="100000"/>
            </a:srgbClr>
          </a:solidFill>
          <a:ln cmpd="sng" cap="flat">
            <a:solidFill>
              <a:srgbClr val="4125BD">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08000" y="2730500"/>
            <a:ext cx="4064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2</a:t>
            </a:r>
            <a:endParaRPr lang="en-US" sz="1100"/>
          </a:p>
        </p:txBody>
      </p:sp>
      <p:sp>
        <p:nvSpPr>
          <p:cNvPr name="AutoShape 10" id="10"/>
          <p:cNvSpPr/>
          <p:nvPr/>
        </p:nvSpPr>
        <p:spPr>
          <a:xfrm rot="0" flipH="false" flipV="false">
            <a:off x="1041400" y="2692400"/>
            <a:ext cx="48641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可逆行化简操作</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所有行变换严格限于有限支撑扰动范畴，该约束保证了变换前后空间的拓扑同胚性，维持解空间的结构稳定。</a:t>
            </a:r>
          </a:p>
        </p:txBody>
      </p:sp>
      <p:sp>
        <p:nvSpPr>
          <p:cNvPr name="AutoShape 11" id="11"/>
          <p:cNvSpPr/>
          <p:nvPr/>
        </p:nvSpPr>
        <p:spPr>
          <a:xfrm rot="0" flipH="false" flipV="false">
            <a:off x="508000" y="4000500"/>
            <a:ext cx="406400" cy="406400"/>
          </a:xfrm>
          <a:prstGeom prst="ellipse">
            <a:avLst/>
          </a:prstGeom>
          <a:solidFill>
            <a:srgbClr val="5B3FD6">
              <a:alpha val="100000"/>
            </a:srgbClr>
          </a:solidFill>
          <a:ln cmpd="sng" cap="flat">
            <a:solidFill>
              <a:srgbClr val="4125BD">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08000" y="4000500"/>
            <a:ext cx="4064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3</a:t>
            </a:r>
            <a:endParaRPr lang="en-US" sz="1100"/>
          </a:p>
        </p:txBody>
      </p:sp>
      <p:sp>
        <p:nvSpPr>
          <p:cNvPr name="AutoShape 13" id="13"/>
          <p:cNvSpPr/>
          <p:nvPr/>
        </p:nvSpPr>
        <p:spPr>
          <a:xfrm rot="0" flipH="false" flipV="false">
            <a:off x="1041400" y="3962400"/>
            <a:ext cx="48641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主元分离参数构建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识别主元列的分布特征，若主元列互不相同则构造分离参数 Λ_sep，以此量化空间分离的程度与临界条件。</a:t>
            </a:r>
          </a:p>
        </p:txBody>
      </p:sp>
      <p:sp>
        <p:nvSpPr>
          <p:cNvPr name="AutoShape 14" id="14"/>
          <p:cNvSpPr/>
          <p:nvPr/>
        </p:nvSpPr>
        <p:spPr>
          <a:xfrm rot="0" flipH="false" flipV="false">
            <a:off x="6286500" y="1460500"/>
            <a:ext cx="406400" cy="406400"/>
          </a:xfrm>
          <a:prstGeom prst="ellipse">
            <a:avLst/>
          </a:prstGeom>
          <a:solidFill>
            <a:srgbClr val="5B3FD6">
              <a:alpha val="100000"/>
            </a:srgbClr>
          </a:solidFill>
          <a:ln cmpd="sng" cap="flat">
            <a:solidFill>
              <a:srgbClr val="4125BD">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86500" y="1460500"/>
            <a:ext cx="4064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4</a:t>
            </a:r>
            <a:endParaRPr lang="en-US" sz="1100"/>
          </a:p>
        </p:txBody>
      </p:sp>
      <p:sp>
        <p:nvSpPr>
          <p:cNvPr name="AutoShape 16" id="16"/>
          <p:cNvSpPr/>
          <p:nvPr/>
        </p:nvSpPr>
        <p:spPr>
          <a:xfrm rot="0" flipH="false" flipV="false">
            <a:off x="6819900" y="1422400"/>
            <a:ext cx="48641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粗判定快速筛选</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若 Λ_sep ≠ 1/0 直接判定为严格分离；若等于临界值（1或0），则触发边界与相交的精细判别分支。</a:t>
            </a:r>
          </a:p>
        </p:txBody>
      </p:sp>
      <p:sp>
        <p:nvSpPr>
          <p:cNvPr name="AutoShape 17" id="17"/>
          <p:cNvSpPr/>
          <p:nvPr/>
        </p:nvSpPr>
        <p:spPr>
          <a:xfrm rot="0" flipH="false" flipV="false">
            <a:off x="6286500" y="2730500"/>
            <a:ext cx="406400" cy="406400"/>
          </a:xfrm>
          <a:prstGeom prst="ellipse">
            <a:avLst/>
          </a:prstGeom>
          <a:solidFill>
            <a:srgbClr val="5B3FD6">
              <a:alpha val="100000"/>
            </a:srgbClr>
          </a:solidFill>
          <a:ln cmpd="sng" cap="flat">
            <a:solidFill>
              <a:srgbClr val="4125BD">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286500" y="2730500"/>
            <a:ext cx="406400" cy="406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5</a:t>
            </a:r>
            <a:endParaRPr lang="en-US" sz="1100"/>
          </a:p>
        </p:txBody>
      </p:sp>
      <p:sp>
        <p:nvSpPr>
          <p:cNvPr name="AutoShape 19" id="19"/>
          <p:cNvSpPr/>
          <p:nvPr/>
        </p:nvSpPr>
        <p:spPr>
          <a:xfrm rot="0" flipH="false" flipV="false">
            <a:off x="6819900" y="2692400"/>
            <a:ext cx="48641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边界/相交精细判别</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66666"/>
                </a:solidFill>
                <a:latin typeface="Noto Sans SC"/>
                <a:ea typeface="Noto Sans SC"/>
                <a:cs typeface="Noto Sans SC"/>
                <a:sym typeface="Noto Sans SC"/>
              </a:rPr>
              <a:t>检验边界行的线性相关性：线性相关则判定为“边界贴合”，线性无关则判定为“纯内部相交”，精准区分拓扑接触类型。</a:t>
            </a:r>
          </a:p>
        </p:txBody>
      </p:sp>
      <p:sp>
        <p:nvSpPr>
          <p:cNvPr name="AutoShape 20" id="20"/>
          <p:cNvSpPr/>
          <p:nvPr/>
        </p:nvSpPr>
        <p:spPr>
          <a:xfrm rot="0" flipH="false" flipV="false">
            <a:off x="6286500" y="3937000"/>
            <a:ext cx="5397500" cy="1079500"/>
          </a:xfrm>
          <a:prstGeom prst="roundRect">
            <a:avLst>
              <a:gd name="adj" fmla="val 0"/>
            </a:avLst>
          </a:prstGeom>
          <a:solidFill>
            <a:srgbClr val="5B3FD6">
              <a:alpha val="6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451600" y="4165600"/>
            <a:ext cx="304800" cy="304800"/>
          </a:xfrm>
          <a:prstGeom prst="rect">
            <a:avLst/>
          </a:prstGeom>
        </p:spPr>
      </p:pic>
      <p:sp>
        <p:nvSpPr>
          <p:cNvPr name="AutoShape 22" id="22"/>
          <p:cNvSpPr/>
          <p:nvPr/>
        </p:nvSpPr>
        <p:spPr>
          <a:xfrm rot="0" flipH="false" flipV="false">
            <a:off x="6858000" y="40386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输出：唯一拓扑关系判定</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输出集合：{重叠， 相交， 边界贴合， 严格分离}。基于有限支撑约束，确保结果的唯一性与拓扑正确性。</a:t>
            </a:r>
          </a:p>
        </p:txBody>
      </p:sp>
      <p:sp>
        <p:nvSpPr>
          <p:cNvPr name="AutoShape 23" id="23"/>
          <p:cNvSpPr/>
          <p:nvPr/>
        </p:nvSpPr>
        <p:spPr>
          <a:xfrm rot="0" flipH="false" flipV="false">
            <a:off x="508000" y="5270500"/>
            <a:ext cx="11176000" cy="1206500"/>
          </a:xfrm>
          <a:prstGeom prst="roundRect">
            <a:avLst>
              <a:gd name="adj" fmla="val 0"/>
            </a:avLst>
          </a:prstGeom>
          <a:solidFill>
            <a:srgbClr val="5B3FD6">
              <a:alpha val="8000"/>
            </a:srgbClr>
          </a:solidFill>
          <a:ln cmpd="sng" cap="flat">
            <a:solidFill>
              <a:srgbClr val="4125BD">
                <a:alpha val="8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5562600"/>
            <a:ext cx="406400" cy="406400"/>
          </a:xfrm>
          <a:prstGeom prst="rect">
            <a:avLst/>
          </a:prstGeom>
        </p:spPr>
      </p:pic>
      <p:sp>
        <p:nvSpPr>
          <p:cNvPr name="AutoShape 25" id="25"/>
          <p:cNvSpPr/>
          <p:nvPr/>
        </p:nvSpPr>
        <p:spPr>
          <a:xfrm rot="0" flipH="false" flipV="false">
            <a:off x="1333500" y="54356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5B3FD6"/>
                </a:solidFill>
                <a:latin typeface="Noto Sans SC"/>
                <a:ea typeface="Noto Sans SC"/>
                <a:cs typeface="Noto Sans SC"/>
                <a:sym typeface="Noto Sans SC"/>
              </a:rPr>
              <a:t>核心理论保证：路径无关性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3C3C3C"/>
                </a:solidFill>
                <a:latin typeface="Noto Sans SC"/>
                <a:ea typeface="Noto Sans SC"/>
                <a:cs typeface="Noto Sans SC"/>
                <a:sym typeface="Noto Sans SC"/>
              </a:rPr>
              <a:t>有限支撑约束确保了消元过程的每一中间步骤都停留在同一可逆邻域内。这一特性证明了算法输出具有路径无关性，即最终判定结果不依赖于具体的消元顺序或行变换的选择，保证了结果的客观唯一。</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414000" y="-1016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715000"/>
            <a:ext cx="1905000" cy="1905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表示层筛选器与解陪域</a:t>
            </a:r>
            <a:endParaRPr lang="en-US" sz="1100"/>
          </a:p>
        </p:txBody>
      </p:sp>
      <p:sp>
        <p:nvSpPr>
          <p:cNvPr name="AutoShape 5" id="5"/>
          <p:cNvSpPr/>
          <p:nvPr/>
        </p:nvSpPr>
        <p:spPr>
          <a:xfrm rot="0" flipH="false" flipV="false">
            <a:off x="508000" y="1524000"/>
            <a:ext cx="3556000" cy="2286000"/>
          </a:xfrm>
          <a:prstGeom prst="roundRect">
            <a:avLst>
              <a:gd name="adj" fmla="val 0"/>
            </a:avLst>
          </a:prstGeom>
          <a:solidFill>
            <a:srgbClr val="5B3FD6">
              <a:alpha val="4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1727200"/>
            <a:ext cx="304800" cy="304800"/>
          </a:xfrm>
          <a:prstGeom prst="rect">
            <a:avLst/>
          </a:prstGeom>
        </p:spPr>
      </p:pic>
      <p:sp>
        <p:nvSpPr>
          <p:cNvPr name="AutoShape 7" id="7"/>
          <p:cNvSpPr/>
          <p:nvPr/>
        </p:nvSpPr>
        <p:spPr>
          <a:xfrm rot="0" flipH="false" flipV="false">
            <a:off x="1143000" y="17018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01 伽罗瓦表示层基础</a:t>
            </a:r>
            <a:endParaRPr lang="en-US" sz="1100"/>
          </a:p>
        </p:txBody>
      </p:sp>
      <p:sp>
        <p:nvSpPr>
          <p:cNvPr name="AutoShape 8" id="8"/>
          <p:cNvSpPr/>
          <p:nvPr/>
        </p:nvSpPr>
        <p:spPr>
          <a:xfrm rot="0" flipH="false" flipV="false">
            <a:off x="711200" y="2222500"/>
            <a:ext cx="3175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每个二维实表示 [ρ] 唯一对应子域族 D_[ρ]，构成筛选器的底层拓扑基。不同表示层可定制差异化的缩半规则与紧致化程序，以适配特定的几何与代数筛选场景需求。</a:t>
            </a:r>
            <a:endParaRPr lang="en-US" sz="1100"/>
          </a:p>
        </p:txBody>
      </p:sp>
      <p:sp>
        <p:nvSpPr>
          <p:cNvPr name="AutoShape 9" id="9"/>
          <p:cNvSpPr/>
          <p:nvPr/>
        </p:nvSpPr>
        <p:spPr>
          <a:xfrm rot="0" flipH="false" flipV="false">
            <a:off x="4318000" y="1524000"/>
            <a:ext cx="3556000" cy="2286000"/>
          </a:xfrm>
          <a:prstGeom prst="roundRect">
            <a:avLst>
              <a:gd name="adj" fmla="val 0"/>
            </a:avLst>
          </a:prstGeom>
          <a:solidFill>
            <a:srgbClr val="5B3FD6">
              <a:alpha val="4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21200" y="1727200"/>
            <a:ext cx="304800" cy="304800"/>
          </a:xfrm>
          <a:prstGeom prst="rect">
            <a:avLst/>
          </a:prstGeom>
        </p:spPr>
      </p:pic>
      <p:sp>
        <p:nvSpPr>
          <p:cNvPr name="AutoShape 11" id="11"/>
          <p:cNvSpPr/>
          <p:nvPr/>
        </p:nvSpPr>
        <p:spPr>
          <a:xfrm rot="0" flipH="false" flipV="false">
            <a:off x="4953000" y="17018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02 循环上同调粘合障碍</a:t>
            </a:r>
            <a:endParaRPr lang="en-US" sz="1100"/>
          </a:p>
        </p:txBody>
      </p:sp>
      <p:sp>
        <p:nvSpPr>
          <p:cNvPr name="AutoShape 12" id="12"/>
          <p:cNvSpPr/>
          <p:nvPr/>
        </p:nvSpPr>
        <p:spPr>
          <a:xfrm rot="0" flipH="false" flipV="false">
            <a:off x="4521200" y="2222500"/>
            <a:ext cx="3175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核心考察过渡函数 g₁₂ 的循环上同调类。若障碍类 Ob=0，局部结构可无缝粘合；若 Ob≠0，则必须引入额外的解陪域机制来消除拓扑冲突，保证全局结构的一致性。</a:t>
            </a:r>
            <a:endParaRPr lang="en-US" sz="1100"/>
          </a:p>
        </p:txBody>
      </p:sp>
      <p:sp>
        <p:nvSpPr>
          <p:cNvPr name="AutoShape 13" id="13"/>
          <p:cNvSpPr/>
          <p:nvPr/>
        </p:nvSpPr>
        <p:spPr>
          <a:xfrm rot="0" flipH="false" flipV="false">
            <a:off x="8128000" y="1524000"/>
            <a:ext cx="3556000" cy="2286000"/>
          </a:xfrm>
          <a:prstGeom prst="roundRect">
            <a:avLst>
              <a:gd name="adj" fmla="val 0"/>
            </a:avLst>
          </a:prstGeom>
          <a:solidFill>
            <a:srgbClr val="5B3FD6">
              <a:alpha val="4000"/>
            </a:srgbClr>
          </a:solidFill>
          <a:ln w="12700" cmpd="sng" cap="flat">
            <a:solidFill>
              <a:srgbClr val="5B3FD6">
                <a:alpha val="15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31200" y="1727200"/>
            <a:ext cx="304800" cy="304800"/>
          </a:xfrm>
          <a:prstGeom prst="rect">
            <a:avLst/>
          </a:prstGeom>
        </p:spPr>
      </p:pic>
      <p:sp>
        <p:nvSpPr>
          <p:cNvPr name="AutoShape 15" id="15"/>
          <p:cNvSpPr/>
          <p:nvPr/>
        </p:nvSpPr>
        <p:spPr>
          <a:xfrm rot="0" flipH="false" flipV="false">
            <a:off x="8763000" y="17018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03 解陪域 R₁₂ 的构造</a:t>
            </a:r>
            <a:endParaRPr lang="en-US" sz="1100"/>
          </a:p>
        </p:txBody>
      </p:sp>
      <p:sp>
        <p:nvSpPr>
          <p:cNvPr name="AutoShape 16" id="16"/>
          <p:cNvSpPr/>
          <p:nvPr/>
        </p:nvSpPr>
        <p:spPr>
          <a:xfrm rot="0" flipH="false" flipV="false">
            <a:off x="8331200" y="2222500"/>
            <a:ext cx="3175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引入相位松弛参数 η 使得提升后的障碍类归零，构建合法的 DCG 闭包。其复合构造需严格满足范畴论的闭包公理，确保筛选器在解陪域上的运算封闭性与收敛性。</a:t>
            </a:r>
            <a:endParaRPr lang="en-US" sz="1100"/>
          </a:p>
        </p:txBody>
      </p:sp>
      <p:sp>
        <p:nvSpPr>
          <p:cNvPr name="AutoShape 17" id="17"/>
          <p:cNvSpPr/>
          <p:nvPr/>
        </p:nvSpPr>
        <p:spPr>
          <a:xfrm rot="0" flipH="false" flipV="false">
            <a:off x="508000" y="4191000"/>
            <a:ext cx="11176000" cy="457200"/>
          </a:xfrm>
          <a:prstGeom prst="roundRect">
            <a:avLst>
              <a:gd name="adj" fmla="val 0"/>
            </a:avLst>
          </a:prstGeom>
          <a:solidFill>
            <a:srgbClr val="5B3FD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 y="42672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5B3FD6"/>
                </a:solidFill>
                <a:latin typeface="Noto Sans SC"/>
                <a:ea typeface="Noto Sans SC"/>
                <a:cs typeface="Noto Sans SC"/>
                <a:sym typeface="Noto Sans SC"/>
              </a:rPr>
              <a:t>场景分类</a:t>
            </a:r>
            <a:endParaRPr lang="en-US" sz="1100"/>
          </a:p>
        </p:txBody>
      </p:sp>
      <p:sp>
        <p:nvSpPr>
          <p:cNvPr name="AutoShape 19" id="19"/>
          <p:cNvSpPr/>
          <p:nvPr/>
        </p:nvSpPr>
        <p:spPr>
          <a:xfrm rot="0" flipH="false" flipV="false">
            <a:off x="2921000" y="42672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5B3FD6"/>
                </a:solidFill>
                <a:latin typeface="Noto Sans SC"/>
                <a:ea typeface="Noto Sans SC"/>
                <a:cs typeface="Noto Sans SC"/>
                <a:sym typeface="Noto Sans SC"/>
              </a:rPr>
              <a:t>障碍类特征</a:t>
            </a:r>
            <a:endParaRPr lang="en-US" sz="1100"/>
          </a:p>
        </p:txBody>
      </p:sp>
      <p:sp>
        <p:nvSpPr>
          <p:cNvPr name="AutoShape 20" id="20"/>
          <p:cNvSpPr/>
          <p:nvPr/>
        </p:nvSpPr>
        <p:spPr>
          <a:xfrm rot="0" flipH="false" flipV="false">
            <a:off x="5461000" y="42672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5B3FD6"/>
                </a:solidFill>
                <a:latin typeface="Noto Sans SC"/>
                <a:ea typeface="Noto Sans SC"/>
                <a:cs typeface="Noto Sans SC"/>
                <a:sym typeface="Noto Sans SC"/>
              </a:rPr>
              <a:t>解陪域与构造条件</a:t>
            </a:r>
            <a:endParaRPr lang="en-US" sz="1100"/>
          </a:p>
        </p:txBody>
      </p:sp>
      <p:sp>
        <p:nvSpPr>
          <p:cNvPr name="AutoShape 21" id="21"/>
          <p:cNvSpPr/>
          <p:nvPr/>
        </p:nvSpPr>
        <p:spPr>
          <a:xfrm rot="0" flipH="false" flipV="false">
            <a:off x="8636000" y="42672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5B3FD6"/>
                </a:solidFill>
                <a:latin typeface="Noto Sans SC"/>
                <a:ea typeface="Noto Sans SC"/>
                <a:cs typeface="Noto Sans SC"/>
                <a:sym typeface="Noto Sans SC"/>
              </a:rPr>
              <a:t>全局结构合法性</a:t>
            </a:r>
            <a:endParaRPr lang="en-US" sz="1100"/>
          </a:p>
        </p:txBody>
      </p:sp>
      <p:sp>
        <p:nvSpPr>
          <p:cNvPr name="AutoShape 22" id="22"/>
          <p:cNvSpPr/>
          <p:nvPr/>
        </p:nvSpPr>
        <p:spPr>
          <a:xfrm rot="0" flipH="false" flipV="false">
            <a:off x="508000" y="4724400"/>
            <a:ext cx="11176000" cy="5334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35000" y="48387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零障碍情形</a:t>
            </a:r>
            <a:endParaRPr lang="en-US" sz="1100"/>
          </a:p>
        </p:txBody>
      </p:sp>
      <p:sp>
        <p:nvSpPr>
          <p:cNvPr name="AutoShape 24" id="24"/>
          <p:cNvSpPr/>
          <p:nvPr/>
        </p:nvSpPr>
        <p:spPr>
          <a:xfrm rot="0" flipH="false" flipV="false">
            <a:off x="2921000" y="48387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Ob = 0（上同调平凡）</a:t>
            </a:r>
            <a:endParaRPr lang="en-US" sz="1100"/>
          </a:p>
        </p:txBody>
      </p:sp>
      <p:sp>
        <p:nvSpPr>
          <p:cNvPr name="AutoShape 25" id="25"/>
          <p:cNvSpPr/>
          <p:nvPr/>
        </p:nvSpPr>
        <p:spPr>
          <a:xfrm rot="0" flipH="false" flipV="false">
            <a:off x="5461000" y="48387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无需额外解陪域，直接粘合</a:t>
            </a:r>
            <a:endParaRPr lang="en-US" sz="1100"/>
          </a:p>
        </p:txBody>
      </p:sp>
      <p:sp>
        <p:nvSpPr>
          <p:cNvPr name="AutoShape 26" id="26"/>
          <p:cNvSpPr/>
          <p:nvPr/>
        </p:nvSpPr>
        <p:spPr>
          <a:xfrm rot="0" flipH="false" flipV="false">
            <a:off x="8636000" y="48387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0B981"/>
                </a:solidFill>
                <a:latin typeface="Noto Sans SC"/>
                <a:ea typeface="Noto Sans SC"/>
                <a:cs typeface="Noto Sans SC"/>
                <a:sym typeface="Noto Sans SC"/>
              </a:rPr>
              <a:t>完全合法（无冲突）</a:t>
            </a:r>
            <a:endParaRPr lang="en-US" sz="1100"/>
          </a:p>
        </p:txBody>
      </p:sp>
      <p:sp>
        <p:nvSpPr>
          <p:cNvPr name="AutoShape 27" id="27"/>
          <p:cNvSpPr/>
          <p:nvPr/>
        </p:nvSpPr>
        <p:spPr>
          <a:xfrm rot="0" flipH="false" flipV="false">
            <a:off x="508000" y="5270500"/>
            <a:ext cx="11176000" cy="533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35000" y="53848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挠障碍情形</a:t>
            </a:r>
            <a:endParaRPr lang="en-US" sz="1100"/>
          </a:p>
        </p:txBody>
      </p:sp>
      <p:sp>
        <p:nvSpPr>
          <p:cNvPr name="AutoShape 29" id="29"/>
          <p:cNvSpPr/>
          <p:nvPr/>
        </p:nvSpPr>
        <p:spPr>
          <a:xfrm rot="0" flipH="false" flipV="false">
            <a:off x="2921000" y="53848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有限阶挠元（上同调扭量）</a:t>
            </a:r>
            <a:endParaRPr lang="en-US" sz="1100"/>
          </a:p>
        </p:txBody>
      </p:sp>
      <p:sp>
        <p:nvSpPr>
          <p:cNvPr name="AutoShape 30" id="30"/>
          <p:cNvSpPr/>
          <p:nvPr/>
        </p:nvSpPr>
        <p:spPr>
          <a:xfrm rot="0" flipH="false" flipV="false">
            <a:off x="5461000" y="53848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有限维解陪域可构造</a:t>
            </a:r>
            <a:endParaRPr lang="en-US" sz="1100"/>
          </a:p>
        </p:txBody>
      </p:sp>
      <p:sp>
        <p:nvSpPr>
          <p:cNvPr name="AutoShape 31" id="31"/>
          <p:cNvSpPr/>
          <p:nvPr/>
        </p:nvSpPr>
        <p:spPr>
          <a:xfrm rot="0" flipH="false" flipV="false">
            <a:off x="8636000" y="53848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0B981"/>
                </a:solidFill>
                <a:latin typeface="Noto Sans SC"/>
                <a:ea typeface="Noto Sans SC"/>
                <a:cs typeface="Noto Sans SC"/>
                <a:sym typeface="Noto Sans SC"/>
              </a:rPr>
              <a:t>合法（需有限维修正）</a:t>
            </a:r>
            <a:endParaRPr lang="en-US" sz="1100"/>
          </a:p>
        </p:txBody>
      </p:sp>
      <p:sp>
        <p:nvSpPr>
          <p:cNvPr name="AutoShape 32" id="32"/>
          <p:cNvSpPr/>
          <p:nvPr/>
        </p:nvSpPr>
        <p:spPr>
          <a:xfrm rot="0" flipH="false" flipV="false">
            <a:off x="508000" y="5816600"/>
            <a:ext cx="11176000" cy="533400"/>
          </a:xfrm>
          <a:prstGeom prst="roundRect">
            <a:avLst>
              <a:gd name="adj" fmla="val 0"/>
            </a:avLst>
          </a:prstGeom>
          <a:solidFill>
            <a:srgbClr val="F3F4F6">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35000" y="59309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非挠障碍情形</a:t>
            </a:r>
            <a:endParaRPr lang="en-US" sz="1100"/>
          </a:p>
        </p:txBody>
      </p:sp>
      <p:sp>
        <p:nvSpPr>
          <p:cNvPr name="AutoShape 34" id="34"/>
          <p:cNvSpPr/>
          <p:nvPr/>
        </p:nvSpPr>
        <p:spPr>
          <a:xfrm rot="0" flipH="false" flipV="false">
            <a:off x="2921000" y="59309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无限阶非挠元</a:t>
            </a:r>
            <a:endParaRPr lang="en-US" sz="1100"/>
          </a:p>
        </p:txBody>
      </p:sp>
      <p:sp>
        <p:nvSpPr>
          <p:cNvPr name="AutoShape 35" id="35"/>
          <p:cNvSpPr/>
          <p:nvPr/>
        </p:nvSpPr>
        <p:spPr>
          <a:xfrm rot="0" flipH="false" flipV="false">
            <a:off x="5461000" y="59309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无穷维构造，须满足Dixmier收敛</a:t>
            </a:r>
            <a:endParaRPr lang="en-US" sz="1100"/>
          </a:p>
        </p:txBody>
      </p:sp>
      <p:sp>
        <p:nvSpPr>
          <p:cNvPr name="AutoShape 36" id="36"/>
          <p:cNvSpPr/>
          <p:nvPr/>
        </p:nvSpPr>
        <p:spPr>
          <a:xfrm rot="0" flipH="false" flipV="false">
            <a:off x="8636000" y="59309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59E0B"/>
                </a:solidFill>
                <a:latin typeface="Noto Sans SC"/>
                <a:ea typeface="Noto Sans SC"/>
                <a:cs typeface="Noto Sans SC"/>
                <a:sym typeface="Noto Sans SC"/>
              </a:rPr>
              <a:t>条件合法（依赖收敛性）</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8B5C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8B5C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413000"/>
            <a:ext cx="3556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07</a:t>
            </a:r>
            <a:endParaRPr lang="en-US" sz="1100"/>
          </a:p>
        </p:txBody>
      </p:sp>
      <p:sp>
        <p:nvSpPr>
          <p:cNvPr name="AutoShape 5" id="5"/>
          <p:cNvSpPr/>
          <p:nvPr/>
        </p:nvSpPr>
        <p:spPr>
          <a:xfrm rot="0" flipH="false" flipV="false">
            <a:off x="4191000" y="2794000"/>
            <a:ext cx="152400" cy="4572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572000" y="2730500"/>
            <a:ext cx="685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333333"/>
                </a:solidFill>
                <a:latin typeface="Noto Sans SC"/>
                <a:ea typeface="Noto Sans SC"/>
                <a:cs typeface="Noto Sans SC"/>
                <a:sym typeface="Noto Sans SC"/>
              </a:rPr>
              <a:t>无穷维度的统一构造</a:t>
            </a:r>
            <a:endParaRPr lang="en-US" sz="1100"/>
          </a:p>
        </p:txBody>
      </p:sp>
      <p:sp>
        <p:nvSpPr>
          <p:cNvPr name="AutoShape 7" id="7"/>
          <p:cNvSpPr/>
          <p:nvPr/>
        </p:nvSpPr>
        <p:spPr>
          <a:xfrm rot="0" flipH="false" flipV="false">
            <a:off x="4572000" y="4000500"/>
            <a:ext cx="685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757575"/>
                </a:solidFill>
                <a:latin typeface="Noto Sans SC"/>
                <a:ea typeface="Noto Sans SC"/>
                <a:cs typeface="Noto Sans SC"/>
                <a:sym typeface="Noto Sans SC"/>
              </a:rPr>
              <a:t>打破单一维度的认知边界，将离散的理论体系编织成有机整体。从微观粒子到宏观宇宙，探寻万物运行的底层逻辑与统一范式，重构我们对世界的认知坐标。</a:t>
            </a:r>
            <a:endParaRPr lang="en-US" sz="1100"/>
          </a:p>
        </p:txBody>
      </p:sp>
      <p:sp>
        <p:nvSpPr>
          <p:cNvPr name="AutoShape 8" id="8"/>
          <p:cNvSpPr/>
          <p:nvPr/>
        </p:nvSpPr>
        <p:spPr>
          <a:xfrm rot="0" flipH="false" flipV="false">
            <a:off x="762000" y="5842000"/>
            <a:ext cx="10668000" cy="254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等比等差双模递推</a:t>
            </a:r>
            <a:endParaRPr lang="en-US" sz="1100"/>
          </a:p>
        </p:txBody>
      </p:sp>
      <p:sp>
        <p:nvSpPr>
          <p:cNvPr name="AutoShape 5" id="5"/>
          <p:cNvSpPr/>
          <p:nvPr/>
        </p:nvSpPr>
        <p:spPr>
          <a:xfrm rot="0" flipH="false" flipV="false">
            <a:off x="508000" y="1397000"/>
            <a:ext cx="11176000" cy="1397000"/>
          </a:xfrm>
          <a:prstGeom prst="roundRect">
            <a:avLst>
              <a:gd name="adj" fmla="val 0"/>
            </a:avLst>
          </a:prstGeom>
          <a:solidFill>
            <a:srgbClr val="5B3FD6">
              <a:alpha val="8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587500"/>
            <a:ext cx="1066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1F2329"/>
                </a:solidFill>
                <a:latin typeface="Noto Sans SC"/>
                <a:ea typeface="Noto Sans SC"/>
                <a:cs typeface="Noto Sans SC"/>
                <a:sym typeface="Noto Sans SC"/>
              </a:rPr>
              <a:t>wₖ = rᵏ + k · d , k = 0,1,...,n-1</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600">
                <a:solidFill>
                  <a:srgbClr val="555555"/>
                </a:solidFill>
                <a:latin typeface="Noto Sans SC"/>
                <a:ea typeface="Noto Sans SC"/>
                <a:cs typeface="Noto Sans SC"/>
                <a:sym typeface="Noto Sans SC"/>
              </a:rPr>
              <a:t>其中 r = e^(2πi/n) 为 n 次单位根，d ∈ ℝ 为等差平移参数，共同构建双模递推的基础数学结构。</a:t>
            </a:r>
          </a:p>
        </p:txBody>
      </p:sp>
      <p:sp>
        <p:nvSpPr>
          <p:cNvPr name="AutoShape 7" id="7"/>
          <p:cNvSpPr/>
          <p:nvPr/>
        </p:nvSpPr>
        <p:spPr>
          <a:xfrm rot="0" flipH="false" flipV="false">
            <a:off x="508000" y="3048000"/>
            <a:ext cx="5461000" cy="1206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3251200"/>
            <a:ext cx="406400" cy="406400"/>
          </a:xfrm>
          <a:prstGeom prst="rect">
            <a:avLst/>
          </a:prstGeom>
        </p:spPr>
      </p:pic>
      <p:sp>
        <p:nvSpPr>
          <p:cNvPr name="AutoShape 9" id="9"/>
          <p:cNvSpPr/>
          <p:nvPr/>
        </p:nvSpPr>
        <p:spPr>
          <a:xfrm rot="0" flipH="false" flipV="false">
            <a:off x="1270000" y="31496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329"/>
                </a:solidFill>
                <a:latin typeface="Noto Sans SC"/>
                <a:ea typeface="Noto Sans SC"/>
                <a:cs typeface="Noto Sans SC"/>
                <a:sym typeface="Noto Sans SC"/>
              </a:rPr>
              <a:t>01 轮换闭合性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46A73"/>
                </a:solidFill>
                <a:latin typeface="Noto Sans SC"/>
                <a:ea typeface="Noto Sans SC"/>
                <a:cs typeface="Noto Sans SC"/>
                <a:sym typeface="Noto Sans SC"/>
              </a:rPr>
              <a:t>满足 wₖ₊ₙ = wₖ + n·d，在模 nd 的平移等价关系下形成闭合循环，确保了递推序列的周期性与完整性边界。</a:t>
            </a:r>
          </a:p>
        </p:txBody>
      </p:sp>
      <p:sp>
        <p:nvSpPr>
          <p:cNvPr name="AutoShape 10" id="10"/>
          <p:cNvSpPr/>
          <p:nvPr/>
        </p:nvSpPr>
        <p:spPr>
          <a:xfrm rot="0" flipH="false" flipV="false">
            <a:off x="6223000" y="3048000"/>
            <a:ext cx="5461000" cy="1206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26200" y="3251200"/>
            <a:ext cx="406400" cy="406400"/>
          </a:xfrm>
          <a:prstGeom prst="rect">
            <a:avLst/>
          </a:prstGeom>
        </p:spPr>
      </p:pic>
      <p:sp>
        <p:nvSpPr>
          <p:cNvPr name="AutoShape 12" id="12"/>
          <p:cNvSpPr/>
          <p:nvPr/>
        </p:nvSpPr>
        <p:spPr>
          <a:xfrm rot="0" flipH="false" flipV="false">
            <a:off x="6985000" y="31496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329"/>
                </a:solidFill>
                <a:latin typeface="Noto Sans SC"/>
                <a:ea typeface="Noto Sans SC"/>
                <a:cs typeface="Noto Sans SC"/>
                <a:sym typeface="Noto Sans SC"/>
              </a:rPr>
              <a:t>02 循环对称骨架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46A73"/>
                </a:solidFill>
                <a:latin typeface="Noto Sans SC"/>
                <a:ea typeface="Noto Sans SC"/>
                <a:cs typeface="Noto Sans SC"/>
                <a:sym typeface="Noto Sans SC"/>
              </a:rPr>
              <a:t>单位根集合 {rᵏ} 在复平面上构成完美的 n 重循环对称结构，这是满足公理Ⅱ互易性判定的核心几何基础。</a:t>
            </a:r>
          </a:p>
        </p:txBody>
      </p:sp>
      <p:sp>
        <p:nvSpPr>
          <p:cNvPr name="AutoShape 13" id="13"/>
          <p:cNvSpPr/>
          <p:nvPr/>
        </p:nvSpPr>
        <p:spPr>
          <a:xfrm rot="0" flipH="false" flipV="false">
            <a:off x="508000" y="4381500"/>
            <a:ext cx="5461000" cy="1206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1200" y="4584700"/>
            <a:ext cx="406400" cy="406400"/>
          </a:xfrm>
          <a:prstGeom prst="rect">
            <a:avLst/>
          </a:prstGeom>
        </p:spPr>
      </p:pic>
      <p:sp>
        <p:nvSpPr>
          <p:cNvPr name="AutoShape 15" id="15"/>
          <p:cNvSpPr/>
          <p:nvPr/>
        </p:nvSpPr>
        <p:spPr>
          <a:xfrm rot="0" flipH="false" flipV="false">
            <a:off x="1270000" y="44831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329"/>
                </a:solidFill>
                <a:latin typeface="Noto Sans SC"/>
                <a:ea typeface="Noto Sans SC"/>
                <a:cs typeface="Noto Sans SC"/>
                <a:sym typeface="Noto Sans SC"/>
              </a:rPr>
              <a:t>03 结构稳定性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46A73"/>
                </a:solidFill>
                <a:latin typeface="Noto Sans SC"/>
                <a:ea typeface="Noto Sans SC"/>
                <a:cs typeface="Noto Sans SC"/>
                <a:sym typeface="Noto Sans SC"/>
              </a:rPr>
              <a:t>等差项 k·d 仅改变序列的绝对位置坐标，不会破坏 {rᵏ} 本身的循环对称骨架，保证了代数结构的本质稳定性。</a:t>
            </a:r>
          </a:p>
        </p:txBody>
      </p:sp>
      <p:sp>
        <p:nvSpPr>
          <p:cNvPr name="AutoShape 16" id="16"/>
          <p:cNvSpPr/>
          <p:nvPr/>
        </p:nvSpPr>
        <p:spPr>
          <a:xfrm rot="0" flipH="false" flipV="false">
            <a:off x="6223000" y="4381500"/>
            <a:ext cx="5461000" cy="1206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26200" y="4584700"/>
            <a:ext cx="406400" cy="406400"/>
          </a:xfrm>
          <a:prstGeom prst="rect">
            <a:avLst/>
          </a:prstGeom>
        </p:spPr>
      </p:pic>
      <p:sp>
        <p:nvSpPr>
          <p:cNvPr name="AutoShape 18" id="18"/>
          <p:cNvSpPr/>
          <p:nvPr/>
        </p:nvSpPr>
        <p:spPr>
          <a:xfrm rot="0" flipH="false" flipV="false">
            <a:off x="6985000" y="44831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329"/>
                </a:solidFill>
                <a:latin typeface="Noto Sans SC"/>
                <a:ea typeface="Noto Sans SC"/>
                <a:cs typeface="Noto Sans SC"/>
                <a:sym typeface="Noto Sans SC"/>
              </a:rPr>
              <a:t>04 解陪域适配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646A73"/>
                </a:solidFill>
                <a:latin typeface="Noto Sans SC"/>
                <a:ea typeface="Noto Sans SC"/>
                <a:cs typeface="Noto Sans SC"/>
                <a:sym typeface="Noto Sans SC"/>
              </a:rPr>
              <a:t>引入 η 参数调节解陪域，实现不同表示层之间的平移等价类匹配，有效适配多尺度、多场景的递推计算需求。</a:t>
            </a:r>
          </a:p>
        </p:txBody>
      </p:sp>
      <p:sp>
        <p:nvSpPr>
          <p:cNvPr name="AutoShape 19" id="19"/>
          <p:cNvSpPr/>
          <p:nvPr/>
        </p:nvSpPr>
        <p:spPr>
          <a:xfrm rot="0" flipH="false" flipV="false">
            <a:off x="508000" y="5778500"/>
            <a:ext cx="11176000" cy="7620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5905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FFFFFF"/>
                </a:solidFill>
                <a:latin typeface="Noto Sans SC"/>
                <a:ea typeface="Noto Sans SC"/>
                <a:cs typeface="Noto Sans SC"/>
                <a:sym typeface="Noto Sans SC"/>
              </a:rPr>
              <a:t>核心判定逻辑：公理Ⅱ的互易性检验仅针对等比部分 {rᵏ} 的循环对称性，而等差平移的偏移量由解陪域 η 参数独立调节，二者实现解耦处理，确保判定的纯粹性。</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635000"/>
            <a:ext cx="2540000" cy="2540000"/>
          </a:xfrm>
          <a:prstGeom prst="ellipse">
            <a:avLst/>
          </a:prstGeom>
          <a:solidFill>
            <a:srgbClr val="7E57C2">
              <a:alpha val="6000"/>
            </a:srgbClr>
          </a:solidFill>
          <a:ln cmpd="sng" cap="flat">
            <a:solidFill>
              <a:srgbClr val="633BA9">
                <a:alpha val="6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899999" flipH="false" flipV="false">
            <a:off x="-381000" y="5080000"/>
            <a:ext cx="1524000" cy="1524000"/>
          </a:xfrm>
          <a:prstGeom prst="triangle">
            <a:avLst/>
          </a:prstGeom>
          <a:solidFill>
            <a:srgbClr val="7E57C2">
              <a:alpha val="5000"/>
            </a:srgbClr>
          </a:solidFill>
          <a:ln cmpd="sng" cap="flat">
            <a:solidFill>
              <a:srgbClr val="633BA9">
                <a:alpha val="5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413000"/>
            <a:ext cx="3556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08</a:t>
            </a:r>
            <a:endParaRPr lang="en-US" sz="1100"/>
          </a:p>
        </p:txBody>
      </p:sp>
      <p:sp>
        <p:nvSpPr>
          <p:cNvPr name="AutoShape 5" id="5"/>
          <p:cNvSpPr/>
          <p:nvPr/>
        </p:nvSpPr>
        <p:spPr>
          <a:xfrm rot="0" flipH="false" flipV="false">
            <a:off x="4445000" y="2540000"/>
            <a:ext cx="711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333333"/>
                </a:solidFill>
                <a:latin typeface="Noto Sans SC"/>
                <a:ea typeface="Noto Sans SC"/>
                <a:cs typeface="Noto Sans SC"/>
                <a:sym typeface="Noto Sans SC"/>
              </a:rPr>
              <a:t>矢量几何与复合构造</a:t>
            </a:r>
            <a:endParaRPr lang="en-US" sz="1100"/>
          </a:p>
        </p:txBody>
      </p:sp>
      <p:sp>
        <p:nvSpPr>
          <p:cNvPr name="AutoShape 6" id="6"/>
          <p:cNvSpPr/>
          <p:nvPr/>
        </p:nvSpPr>
        <p:spPr>
          <a:xfrm rot="0" flipH="false" flipV="false">
            <a:off x="4445000" y="3683000"/>
            <a:ext cx="711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spc="100">
                <a:solidFill>
                  <a:srgbClr val="7E57C2"/>
                </a:solidFill>
                <a:latin typeface="Inter"/>
                <a:ea typeface="Inter"/>
                <a:cs typeface="Inter"/>
                <a:sym typeface="Inter"/>
              </a:rPr>
              <a:t>Vector Geometry &amp; Composite Construction</a:t>
            </a:r>
            <a:endParaRPr lang="en-US" sz="1100"/>
          </a:p>
        </p:txBody>
      </p:sp>
      <p:sp>
        <p:nvSpPr>
          <p:cNvPr name="AutoShape 7" id="7"/>
          <p:cNvSpPr/>
          <p:nvPr/>
        </p:nvSpPr>
        <p:spPr>
          <a:xfrm rot="0" flipH="false" flipV="false">
            <a:off x="4445000" y="4445000"/>
            <a:ext cx="698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66666"/>
                </a:solidFill>
                <a:latin typeface="Noto Sans SC"/>
                <a:ea typeface="Noto Sans SC"/>
                <a:cs typeface="Noto Sans SC"/>
                <a:sym typeface="Noto Sans SC"/>
              </a:rPr>
              <a:t>深入解析点、线、面的空间构成逻辑，探索矢量图形在现代设计中的复合应用。从基础几何法则到复杂形态构建，掌握精准、理性且富有创意的视觉表达语言。</a:t>
            </a:r>
            <a:endParaRPr lang="en-US" sz="1100"/>
          </a:p>
        </p:txBody>
      </p:sp>
      <p:sp>
        <p:nvSpPr>
          <p:cNvPr name="AutoShape 8" id="8"/>
          <p:cNvSpPr/>
          <p:nvPr/>
        </p:nvSpPr>
        <p:spPr>
          <a:xfrm rot="0" flipH="false" flipV="false">
            <a:off x="762000" y="5842000"/>
            <a:ext cx="10668000" cy="25400"/>
          </a:xfrm>
          <a:prstGeom prst="roundRect">
            <a:avLst>
              <a:gd name="adj" fmla="val 0"/>
            </a:avLst>
          </a:prstGeom>
          <a:solidFill>
            <a:srgbClr val="7E57C2">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5080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715000"/>
            <a:ext cx="1905000" cy="1905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矢量场、矢量互易性与混合构造</a:t>
            </a:r>
            <a:endParaRPr lang="en-US" sz="1100"/>
          </a:p>
        </p:txBody>
      </p:sp>
      <p:sp>
        <p:nvSpPr>
          <p:cNvPr name="AutoShape 5" id="5"/>
          <p:cNvSpPr/>
          <p:nvPr/>
        </p:nvSpPr>
        <p:spPr>
          <a:xfrm rot="0" flipH="false" flipV="false">
            <a:off x="508000" y="1778000"/>
            <a:ext cx="355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01 内蕴矢量场</a:t>
            </a:r>
            <a:endParaRPr lang="en-US" sz="1100"/>
          </a:p>
        </p:txBody>
      </p:sp>
      <p:cxnSp>
        <p:nvCxnSpPr>
          <p:cNvPr name="Connector 6" id="6"/>
          <p:cNvCxnSpPr/>
          <p:nvPr/>
        </p:nvCxnSpPr>
        <p:spPr>
          <a:xfrm rot="-12277" flipH="false" flipV="false">
            <a:off x="508011" y="2406650"/>
            <a:ext cx="3556000" cy="12700"/>
          </a:xfrm>
          <a:prstGeom prst="line">
            <a:avLst/>
          </a:prstGeom>
          <a:solidFill>
            <a:srgbClr val="DEE0E3">
              <a:alpha val="100000"/>
            </a:srgbClr>
          </a:solidFill>
          <a:ln w="25400" cmpd="sng" cap="flat">
            <a:solidFill>
              <a:srgbClr val="5B3FD6">
                <a:alpha val="20000"/>
              </a:srgbClr>
            </a:solidFill>
            <a:prstDash val="solid"/>
            <a:round/>
            <a:headEnd type="none" w="lg" len="lg"/>
            <a:tailEnd type="none" w="lg" len="lg"/>
          </a:ln>
        </p:spPr>
      </p:cxnSp>
      <p:sp>
        <p:nvSpPr>
          <p:cNvPr name="AutoShape 7" id="7"/>
          <p:cNvSpPr/>
          <p:nvPr/>
        </p:nvSpPr>
        <p:spPr>
          <a:xfrm rot="0" flipH="false" flipV="false">
            <a:off x="508000" y="2667000"/>
            <a:ext cx="3556000" cy="342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1F2329"/>
                </a:solidFill>
                <a:latin typeface="Roboto Mono"/>
                <a:ea typeface="Roboto Mono"/>
                <a:cs typeface="Roboto Mono"/>
                <a:sym typeface="Roboto Mono"/>
              </a:rPr>
              <a:t>V(γ(t)) = v(t)·T(t) + w(t)·n(t)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400">
                <a:solidFill>
                  <a:srgbClr val="5B3FD6"/>
                </a:solidFill>
                <a:latin typeface="Noto Sans SC"/>
                <a:ea typeface="Noto Sans SC"/>
                <a:cs typeface="Noto Sans SC"/>
                <a:sym typeface="Noto Sans SC"/>
              </a:rPr>
              <a:t>离散散度 (Div)：</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400">
                <a:solidFill>
                  <a:srgbClr val="525252"/>
                </a:solidFill>
                <a:latin typeface="Roboto Mono"/>
                <a:ea typeface="Roboto Mono"/>
                <a:cs typeface="Roboto Mono"/>
                <a:sym typeface="Roboto Mono"/>
              </a:rPr>
              <a:t>div = ⨁ ⟨V, n⟩ （沿边界法向通量和）</a:t>
            </a:r>
            <a:r>
              <a:rPr lang="en-US" b="false" i="false" strike="noStrike" u="none" sz="16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400">
                <a:solidFill>
                  <a:srgbClr val="5B3FD6"/>
                </a:solidFill>
                <a:latin typeface="Noto Sans SC"/>
                <a:ea typeface="Noto Sans SC"/>
                <a:cs typeface="Noto Sans SC"/>
                <a:sym typeface="Noto Sans SC"/>
              </a:rPr>
              <a:t>离散旋度 (Curl)：</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400">
                <a:solidFill>
                  <a:srgbClr val="525252"/>
                </a:solidFill>
                <a:latin typeface="Roboto Mono"/>
                <a:ea typeface="Roboto Mono"/>
                <a:cs typeface="Roboto Mono"/>
                <a:sym typeface="Roboto Mono"/>
              </a:rPr>
              <a:t>curl = ⨁ ⟨V, T⟩ （沿边界切向环量和）</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300">
                <a:solidFill>
                  <a:srgbClr val="808080"/>
                </a:solidFill>
                <a:latin typeface="Noto Sans SC"/>
                <a:ea typeface="Noto Sans SC"/>
                <a:cs typeface="Noto Sans SC"/>
                <a:sym typeface="Noto Sans SC"/>
              </a:rPr>
              <a:t>核心思想：基于曲线坐标系的切向(T)与法向(n)分解，构建独立于网格离散方式的内蕴表达体系，消除网格依赖性误差。</a:t>
            </a:r>
          </a:p>
        </p:txBody>
      </p:sp>
      <p:sp>
        <p:nvSpPr>
          <p:cNvPr name="AutoShape 8" id="8"/>
          <p:cNvSpPr/>
          <p:nvPr/>
        </p:nvSpPr>
        <p:spPr>
          <a:xfrm rot="0" flipH="false" flipV="false">
            <a:off x="4318000" y="1778000"/>
            <a:ext cx="355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02 矢量互易性</a:t>
            </a:r>
            <a:endParaRPr lang="en-US" sz="1100"/>
          </a:p>
        </p:txBody>
      </p:sp>
      <p:cxnSp>
        <p:nvCxnSpPr>
          <p:cNvPr name="Connector 9" id="9"/>
          <p:cNvCxnSpPr/>
          <p:nvPr/>
        </p:nvCxnSpPr>
        <p:spPr>
          <a:xfrm rot="-12277" flipH="false" flipV="false">
            <a:off x="4318011" y="2406650"/>
            <a:ext cx="3556000" cy="12700"/>
          </a:xfrm>
          <a:prstGeom prst="line">
            <a:avLst/>
          </a:prstGeom>
          <a:solidFill>
            <a:srgbClr val="DEE0E3">
              <a:alpha val="100000"/>
            </a:srgbClr>
          </a:solidFill>
          <a:ln w="25400" cmpd="sng" cap="flat">
            <a:solidFill>
              <a:srgbClr val="5B3FD6">
                <a:alpha val="20000"/>
              </a:srgbClr>
            </a:solidFill>
            <a:prstDash val="solid"/>
            <a:round/>
            <a:headEnd type="none" w="lg" len="lg"/>
            <a:tailEnd type="none" w="lg" len="lg"/>
          </a:ln>
        </p:spPr>
      </p:cxnSp>
      <p:sp>
        <p:nvSpPr>
          <p:cNvPr name="AutoShape 10" id="10"/>
          <p:cNvSpPr/>
          <p:nvPr/>
        </p:nvSpPr>
        <p:spPr>
          <a:xfrm rot="0" flipH="false" flipV="false">
            <a:off x="4318000" y="2667000"/>
            <a:ext cx="3556000" cy="342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329"/>
                </a:solidFill>
                <a:latin typeface="Noto Sans SC"/>
                <a:ea typeface="Noto Sans SC"/>
                <a:cs typeface="Noto Sans SC"/>
                <a:sym typeface="Noto Sans SC"/>
              </a:rPr>
              <a:t>互补分裂下的对称性守恒定律：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1F2329"/>
                </a:solidFill>
                <a:latin typeface="Roboto Mono"/>
                <a:ea typeface="Roboto Mono"/>
                <a:cs typeface="Roboto Mono"/>
                <a:sym typeface="Roboto Mono"/>
              </a:rPr>
              <a:t>curl(O₊, V) ≡ curl(O₋, V)</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400">
                <a:solidFill>
                  <a:srgbClr val="1F2329"/>
                </a:solidFill>
                <a:latin typeface="Roboto Mono"/>
                <a:ea typeface="Roboto Mono"/>
                <a:cs typeface="Roboto Mono"/>
                <a:sym typeface="Roboto Mono"/>
              </a:rPr>
              <a:t>div(O₊, V) ≡ div(O₋, V)</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300">
                <a:solidFill>
                  <a:srgbClr val="525252"/>
                </a:solidFill>
                <a:latin typeface="Noto Sans SC"/>
                <a:ea typeface="Noto Sans SC"/>
                <a:cs typeface="Noto Sans SC"/>
                <a:sym typeface="Noto Sans SC"/>
              </a:rPr>
              <a:t>物理与几何意义：</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25252"/>
                </a:solidFill>
                <a:latin typeface="Noto Sans SC"/>
                <a:ea typeface="Noto Sans SC"/>
                <a:cs typeface="Noto Sans SC"/>
                <a:sym typeface="Noto Sans SC"/>
              </a:rPr>
              <a:t>无论对矢量场进行何种互补分裂操作（如 Hodge 分解），其核心的旋度与散度特征保持数值不变。这一性质确保了在对偶网格之间进行场量转换时，不会丢失关键的几何拓扑信息，是混合构造算法的数学基石。</a:t>
            </a:r>
          </a:p>
        </p:txBody>
      </p:sp>
      <p:sp>
        <p:nvSpPr>
          <p:cNvPr name="AutoShape 11" id="11"/>
          <p:cNvSpPr/>
          <p:nvPr/>
        </p:nvSpPr>
        <p:spPr>
          <a:xfrm rot="0" flipH="false" flipV="false">
            <a:off x="8128000" y="1778000"/>
            <a:ext cx="355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5B3FD6"/>
                </a:solidFill>
                <a:latin typeface="Noto Sans SC"/>
                <a:ea typeface="Noto Sans SC"/>
                <a:cs typeface="Noto Sans SC"/>
                <a:sym typeface="Noto Sans SC"/>
              </a:rPr>
              <a:t>03 复合构造机制</a:t>
            </a:r>
            <a:endParaRPr lang="en-US" sz="1100"/>
          </a:p>
        </p:txBody>
      </p:sp>
      <p:cxnSp>
        <p:nvCxnSpPr>
          <p:cNvPr name="Connector 12" id="12"/>
          <p:cNvCxnSpPr/>
          <p:nvPr/>
        </p:nvCxnSpPr>
        <p:spPr>
          <a:xfrm rot="-12277" flipH="false" flipV="false">
            <a:off x="8128011" y="2406650"/>
            <a:ext cx="3556000" cy="12700"/>
          </a:xfrm>
          <a:prstGeom prst="line">
            <a:avLst/>
          </a:prstGeom>
          <a:solidFill>
            <a:srgbClr val="DEE0E3">
              <a:alpha val="100000"/>
            </a:srgbClr>
          </a:solidFill>
          <a:ln w="25400" cmpd="sng" cap="flat">
            <a:solidFill>
              <a:srgbClr val="5B3FD6">
                <a:alpha val="20000"/>
              </a:srgbClr>
            </a:solidFill>
            <a:prstDash val="solid"/>
            <a:round/>
            <a:headEnd type="none" w="lg" len="lg"/>
            <a:tailEnd type="none" w="lg" len="lg"/>
          </a:ln>
        </p:spPr>
      </p:cxnSp>
      <p:sp>
        <p:nvSpPr>
          <p:cNvPr name="AutoShape 13" id="13"/>
          <p:cNvSpPr/>
          <p:nvPr/>
        </p:nvSpPr>
        <p:spPr>
          <a:xfrm rot="0" flipH="false" flipV="false">
            <a:off x="8128000" y="2667000"/>
            <a:ext cx="3556000" cy="342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5B3FD6"/>
                </a:solidFill>
                <a:latin typeface="Noto Sans SC"/>
                <a:ea typeface="Noto Sans SC"/>
                <a:cs typeface="Noto Sans SC"/>
                <a:sym typeface="Noto Sans SC"/>
              </a:rPr>
              <a:t>▍混合曲率空间模型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1F2329"/>
                </a:solidFill>
                <a:latin typeface="Noto Sans SC"/>
                <a:ea typeface="Noto Sans SC"/>
                <a:cs typeface="Noto Sans SC"/>
                <a:sym typeface="Noto Sans SC"/>
              </a:rPr>
              <a:t>将不同曲率参数 q 的空间闭包进行拓扑并置，在交界面处引入“接续度规”，实现场量在不同流形间的光滑过渡，有效避免了传统拼接方法带来的边界奇异值问题。</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500">
                <a:solidFill>
                  <a:srgbClr val="5B3FD6"/>
                </a:solidFill>
                <a:latin typeface="Noto Sans SC"/>
                <a:ea typeface="Noto Sans SC"/>
                <a:cs typeface="Noto Sans SC"/>
                <a:sym typeface="Noto Sans SC"/>
              </a:rPr>
              <a:t>▍分形曲面递归填充</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300">
                <a:solidFill>
                  <a:srgbClr val="1F2329"/>
                </a:solidFill>
                <a:latin typeface="Noto Sans SC"/>
                <a:ea typeface="Noto Sans SC"/>
                <a:cs typeface="Noto Sans SC"/>
                <a:sym typeface="Noto Sans SC"/>
              </a:rPr>
              <a:t>利用分形基底的自相似性，沿 Z 轴方向进行层级递归细分与场填充。其几何合法性完全由初始基底的拓扑性质继承，特别适用于多尺度复杂介质与非均匀场的数值模拟。</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414000" y="-762000"/>
            <a:ext cx="2286000" cy="2286000"/>
          </a:xfrm>
          <a:prstGeom prst="ellipse">
            <a:avLst/>
          </a:prstGeom>
          <a:solidFill>
            <a:srgbClr val="E8E4F8">
              <a:alpha val="40000"/>
            </a:srgbClr>
          </a:solidFill>
          <a:ln cmpd="sng" cap="flat">
            <a:solidFill>
              <a:srgbClr val="BEB6DF">
                <a:alpha val="4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5588000"/>
            <a:ext cx="1270000" cy="1270000"/>
          </a:xfrm>
          <a:prstGeom prst="ellipse">
            <a:avLst/>
          </a:prstGeom>
          <a:solidFill>
            <a:srgbClr val="E8E4F8">
              <a:alpha val="40000"/>
            </a:srgbClr>
          </a:solidFill>
          <a:ln cmpd="sng" cap="flat">
            <a:solidFill>
              <a:srgbClr val="BEB6DF">
                <a:alpha val="4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4130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9600">
                <a:solidFill>
                  <a:srgbClr val="E8E4F8"/>
                </a:solidFill>
                <a:latin typeface="Inter"/>
                <a:ea typeface="Inter"/>
                <a:cs typeface="Inter"/>
                <a:sym typeface="Inter"/>
              </a:rPr>
              <a:t>09</a:t>
            </a:r>
            <a:endParaRPr lang="en-US" sz="1100"/>
          </a:p>
        </p:txBody>
      </p:sp>
      <p:sp>
        <p:nvSpPr>
          <p:cNvPr name="AutoShape 5" id="5"/>
          <p:cNvSpPr/>
          <p:nvPr/>
        </p:nvSpPr>
        <p:spPr>
          <a:xfrm rot="0" flipH="false" flipV="false">
            <a:off x="4064000" y="2667000"/>
            <a:ext cx="736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物理场论嵌入</a:t>
            </a:r>
            <a:endParaRPr lang="en-US" sz="1100"/>
          </a:p>
        </p:txBody>
      </p:sp>
      <p:sp>
        <p:nvSpPr>
          <p:cNvPr name="AutoShape 6" id="6"/>
          <p:cNvSpPr/>
          <p:nvPr/>
        </p:nvSpPr>
        <p:spPr>
          <a:xfrm rot="0" flipH="false" flipV="false">
            <a:off x="4064000" y="3810000"/>
            <a:ext cx="736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spc="200">
                <a:solidFill>
                  <a:srgbClr val="8B5CF6"/>
                </a:solidFill>
                <a:latin typeface="Inter"/>
                <a:ea typeface="Inter"/>
                <a:cs typeface="Inter"/>
                <a:sym typeface="Inter"/>
              </a:rPr>
              <a:t>PHYSICAL FIELD THEORY EMBEDDING</a:t>
            </a:r>
            <a:endParaRPr lang="en-US" sz="1100"/>
          </a:p>
        </p:txBody>
      </p:sp>
      <p:sp>
        <p:nvSpPr>
          <p:cNvPr name="AutoShape 7" id="7"/>
          <p:cNvSpPr/>
          <p:nvPr/>
        </p:nvSpPr>
        <p:spPr>
          <a:xfrm rot="0" flipH="false" flipV="false">
            <a:off x="4064000" y="4635500"/>
            <a:ext cx="736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66666"/>
                </a:solidFill>
                <a:latin typeface="Noto Sans SC"/>
                <a:ea typeface="Noto Sans SC"/>
                <a:cs typeface="Noto Sans SC"/>
                <a:sym typeface="Noto Sans SC"/>
              </a:rPr>
              <a:t>将物理场论的数学框架引入高维特征空间，通过微分几何与场方程构建具有强物理可解释性的嵌入模型，实现从数据分布到物理规律的深层耦合与统一表达。</a:t>
            </a:r>
            <a:endParaRPr lang="en-US" sz="1100"/>
          </a:p>
        </p:txBody>
      </p:sp>
      <p:sp>
        <p:nvSpPr>
          <p:cNvPr name="AutoShape 8" id="8"/>
          <p:cNvSpPr/>
          <p:nvPr/>
        </p:nvSpPr>
        <p:spPr>
          <a:xfrm rot="0" flipH="false" flipV="false">
            <a:off x="635000" y="5969000"/>
            <a:ext cx="10922000" cy="254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5B3FD6">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离散场论嵌入</a:t>
            </a:r>
            <a:endParaRPr lang="en-US" sz="1100"/>
          </a:p>
        </p:txBody>
      </p:sp>
      <p:sp>
        <p:nvSpPr>
          <p:cNvPr name="AutoShape 5" id="5"/>
          <p:cNvSpPr/>
          <p:nvPr/>
        </p:nvSpPr>
        <p:spPr>
          <a:xfrm rot="0" flipH="false" flipV="false">
            <a:off x="508000" y="1397000"/>
            <a:ext cx="5461000" cy="1460500"/>
          </a:xfrm>
          <a:prstGeom prst="roundRect">
            <a:avLst>
              <a:gd name="adj" fmla="val 0"/>
            </a:avLst>
          </a:prstGeom>
          <a:solidFill>
            <a:srgbClr val="F8F7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35000" y="14986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01 离散场量映射基础</a:t>
            </a:r>
            <a:endParaRPr lang="en-US" sz="1100"/>
          </a:p>
        </p:txBody>
      </p:sp>
      <p:sp>
        <p:nvSpPr>
          <p:cNvPr name="AutoShape 7" id="7"/>
          <p:cNvSpPr/>
          <p:nvPr/>
        </p:nvSpPr>
        <p:spPr>
          <a:xfrm rot="0" flipH="false" flipV="false">
            <a:off x="635000" y="1905000"/>
            <a:ext cx="5207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定义映射关系：φ: Γ → R 或 R(ω_q)。将离散几何结构 Γ（如网格、图）的每个节点赋予实数场值，建立连续场量在离散载体上的基础表示，是连接几何与物理量的桥梁。</a:t>
            </a:r>
            <a:endParaRPr lang="en-US" sz="1100"/>
          </a:p>
        </p:txBody>
      </p:sp>
      <p:sp>
        <p:nvSpPr>
          <p:cNvPr name="AutoShape 8" id="8"/>
          <p:cNvSpPr/>
          <p:nvPr/>
        </p:nvSpPr>
        <p:spPr>
          <a:xfrm rot="0" flipH="false" flipV="false">
            <a:off x="6223000" y="1397000"/>
            <a:ext cx="5461000" cy="1460500"/>
          </a:xfrm>
          <a:prstGeom prst="roundRect">
            <a:avLst>
              <a:gd name="adj" fmla="val 0"/>
            </a:avLst>
          </a:prstGeom>
          <a:solidFill>
            <a:srgbClr val="F8F7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0" y="14986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5B3FD6"/>
                </a:solidFill>
                <a:latin typeface="Noto Sans SC"/>
                <a:ea typeface="Noto Sans SC"/>
                <a:cs typeface="Noto Sans SC"/>
                <a:sym typeface="Noto Sans SC"/>
              </a:rPr>
              <a:t>02 离散作用量泛函构建</a:t>
            </a:r>
            <a:endParaRPr lang="en-US" sz="1100"/>
          </a:p>
        </p:txBody>
      </p:sp>
      <p:sp>
        <p:nvSpPr>
          <p:cNvPr name="AutoShape 10" id="10"/>
          <p:cNvSpPr/>
          <p:nvPr/>
        </p:nvSpPr>
        <p:spPr>
          <a:xfrm rot="0" flipH="false" flipV="false">
            <a:off x="6350000" y="1905000"/>
            <a:ext cx="5207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核心公式：S(φ; O) = Z_q(O) · ⨁ ⟨φ(γ(t)), Δφ(γ(t))⟩_O。其中 Δ 为</a:t>
            </a:r>
            <a:r>
              <a:rPr lang="en-US" b="true" i="false" strike="noStrike" u="none" sz="1400">
                <a:solidFill>
                  <a:srgbClr val="374151"/>
                </a:solidFill>
                <a:latin typeface="Noto Sans SC"/>
                <a:ea typeface="Noto Sans SC"/>
                <a:cs typeface="Noto Sans SC"/>
                <a:sym typeface="Noto Sans SC"/>
              </a:rPr>
              <a:t>离散拉普拉斯算子</a:t>
            </a:r>
            <a:r>
              <a:rPr lang="en-US" b="false" i="false" strike="noStrike" u="none" sz="1400">
                <a:solidFill>
                  <a:srgbClr val="374151"/>
                </a:solidFill>
                <a:latin typeface="Noto Sans SC"/>
                <a:ea typeface="Noto Sans SC"/>
                <a:cs typeface="Noto Sans SC"/>
                <a:sym typeface="Noto Sans SC"/>
              </a:rPr>
              <a:t>，刻画局部场变化率；Z_q(O) 为配分函数，归一化整体作用量权重。</a:t>
            </a:r>
            <a:endParaRPr lang="en-US" sz="1100"/>
          </a:p>
        </p:txBody>
      </p:sp>
      <p:sp>
        <p:nvSpPr>
          <p:cNvPr name="AutoShape 11" id="11"/>
          <p:cNvSpPr/>
          <p:nvPr/>
        </p:nvSpPr>
        <p:spPr>
          <a:xfrm rot="0" flipH="false" flipV="false">
            <a:off x="508000" y="3048000"/>
            <a:ext cx="11176000" cy="1841500"/>
          </a:xfrm>
          <a:prstGeom prst="roundRect">
            <a:avLst>
              <a:gd name="adj" fmla="val 0"/>
            </a:avLst>
          </a:prstGeom>
          <a:solidFill>
            <a:srgbClr val="5B3FD6">
              <a:alpha val="8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08000" y="3048000"/>
            <a:ext cx="76200" cy="18415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5500" y="32004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700">
                <a:solidFill>
                  <a:srgbClr val="5B3FD6"/>
                </a:solidFill>
                <a:latin typeface="Noto Sans SC"/>
                <a:ea typeface="Noto Sans SC"/>
                <a:cs typeface="Noto Sans SC"/>
                <a:sym typeface="Noto Sans SC"/>
              </a:rPr>
              <a:t>物理几何图景核心洞察</a:t>
            </a:r>
            <a:endParaRPr lang="en-US" sz="1100"/>
          </a:p>
        </p:txBody>
      </p:sp>
      <p:sp>
        <p:nvSpPr>
          <p:cNvPr name="AutoShape 14" id="14"/>
          <p:cNvSpPr/>
          <p:nvPr/>
        </p:nvSpPr>
        <p:spPr>
          <a:xfrm rot="0" flipH="false" flipV="false">
            <a:off x="825500" y="3683000"/>
            <a:ext cx="527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937"/>
                </a:solidFill>
                <a:latin typeface="Noto Sans SC"/>
                <a:ea typeface="Noto Sans SC"/>
                <a:cs typeface="Noto Sans SC"/>
                <a:sym typeface="Noto Sans SC"/>
              </a:rPr>
              <a:t>底流形的固定性：</a:t>
            </a:r>
            <a:r>
              <a:rPr lang="en-US" b="false" i="false" strike="noStrike" u="none" sz="1400">
                <a:solidFill>
                  <a:srgbClr val="4B5563"/>
                </a:solidFill>
                <a:latin typeface="Noto Sans SC"/>
                <a:ea typeface="Noto Sans SC"/>
                <a:cs typeface="Noto Sans SC"/>
                <a:sym typeface="Noto Sans SC"/>
              </a:rPr>
              <a:t>拓扑维数恒定为 R³，无穷性不来自时空维度，而是源于底空间 D 的域变量自由度（场值的连续可能性），这是离散化不丢失物理本质的关键。</a:t>
            </a:r>
            <a:endParaRPr lang="en-US" sz="1100"/>
          </a:p>
        </p:txBody>
      </p:sp>
      <p:sp>
        <p:nvSpPr>
          <p:cNvPr name="AutoShape 15" id="15"/>
          <p:cNvSpPr/>
          <p:nvPr/>
        </p:nvSpPr>
        <p:spPr>
          <a:xfrm rot="0" flipH="false" flipV="false">
            <a:off x="6223000" y="3683000"/>
            <a:ext cx="5270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937"/>
                </a:solidFill>
                <a:latin typeface="Noto Sans SC"/>
                <a:ea typeface="Noto Sans SC"/>
                <a:cs typeface="Noto Sans SC"/>
                <a:sym typeface="Noto Sans SC"/>
              </a:rPr>
              <a:t>范式的根本转换：</a:t>
            </a:r>
            <a:r>
              <a:rPr lang="en-US" b="false" i="false" strike="noStrike" u="none" sz="1400">
                <a:solidFill>
                  <a:srgbClr val="4B5563"/>
                </a:solidFill>
                <a:latin typeface="Noto Sans SC"/>
                <a:ea typeface="Noto Sans SC"/>
                <a:cs typeface="Noto Sans SC"/>
                <a:sym typeface="Noto Sans SC"/>
              </a:rPr>
              <a:t>传统泛函是“定域跑态”（轴固定、态无穷）；而DCG空间域实现“定态跑域”（映射规则固定、定义域演化），将几何结构本身作为动力学变量。</a:t>
            </a:r>
            <a:endParaRPr lang="en-US" sz="1100"/>
          </a:p>
        </p:txBody>
      </p:sp>
      <p:sp>
        <p:nvSpPr>
          <p:cNvPr name="AutoShape 16" id="16"/>
          <p:cNvSpPr/>
          <p:nvPr/>
        </p:nvSpPr>
        <p:spPr>
          <a:xfrm rot="0" flipH="false" flipV="false">
            <a:off x="508000" y="5080000"/>
            <a:ext cx="5461000" cy="1206500"/>
          </a:xfrm>
          <a:prstGeom prst="roundRect">
            <a:avLst>
              <a:gd name="adj" fmla="val 0"/>
            </a:avLst>
          </a:prstGeom>
          <a:solidFill>
            <a:srgbClr val="EFF6FF">
              <a:alpha val="60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5232400"/>
            <a:ext cx="304800" cy="304800"/>
          </a:xfrm>
          <a:prstGeom prst="rect">
            <a:avLst/>
          </a:prstGeom>
        </p:spPr>
      </p:pic>
      <p:sp>
        <p:nvSpPr>
          <p:cNvPr name="AutoShape 18" id="18"/>
          <p:cNvSpPr/>
          <p:nvPr/>
        </p:nvSpPr>
        <p:spPr>
          <a:xfrm rot="0" flipH="false" flipV="false">
            <a:off x="1143000" y="5232400"/>
            <a:ext cx="457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变分原理与运动方程</a:t>
            </a:r>
            <a:endParaRPr lang="en-US" sz="1100"/>
          </a:p>
        </p:txBody>
      </p:sp>
      <p:sp>
        <p:nvSpPr>
          <p:cNvPr name="AutoShape 19" id="19"/>
          <p:cNvSpPr/>
          <p:nvPr/>
        </p:nvSpPr>
        <p:spPr>
          <a:xfrm rot="0" flipH="false" flipV="false">
            <a:off x="698500" y="5613400"/>
            <a:ext cx="501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对作用量取极值变分 δS = 0，消去自由参数，推导出离散场的动力学演化方程，对应连续场论中欧拉-拉格朗日方程的离散形式。</a:t>
            </a:r>
            <a:endParaRPr lang="en-US" sz="1100"/>
          </a:p>
        </p:txBody>
      </p:sp>
      <p:sp>
        <p:nvSpPr>
          <p:cNvPr name="AutoShape 20" id="20"/>
          <p:cNvSpPr/>
          <p:nvPr/>
        </p:nvSpPr>
        <p:spPr>
          <a:xfrm rot="0" flipH="false" flipV="false">
            <a:off x="6223000" y="5080000"/>
            <a:ext cx="5461000" cy="1206500"/>
          </a:xfrm>
          <a:prstGeom prst="roundRect">
            <a:avLst>
              <a:gd name="adj" fmla="val 0"/>
            </a:avLst>
          </a:prstGeom>
          <a:solidFill>
            <a:srgbClr val="EFF6FF">
              <a:alpha val="60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5232400"/>
            <a:ext cx="304800" cy="304800"/>
          </a:xfrm>
          <a:prstGeom prst="rect">
            <a:avLst/>
          </a:prstGeom>
        </p:spPr>
      </p:pic>
      <p:sp>
        <p:nvSpPr>
          <p:cNvPr name="AutoShape 22" id="22"/>
          <p:cNvSpPr/>
          <p:nvPr/>
        </p:nvSpPr>
        <p:spPr>
          <a:xfrm rot="0" flipH="false" flipV="false">
            <a:off x="6858000" y="5232400"/>
            <a:ext cx="457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场论互易性与对称性</a:t>
            </a:r>
            <a:endParaRPr lang="en-US" sz="1100"/>
          </a:p>
        </p:txBody>
      </p:sp>
      <p:sp>
        <p:nvSpPr>
          <p:cNvPr name="AutoShape 23" id="23"/>
          <p:cNvSpPr/>
          <p:nvPr/>
        </p:nvSpPr>
        <p:spPr>
          <a:xfrm rot="0" flipH="false" flipV="false">
            <a:off x="6413500" y="5613400"/>
            <a:ext cx="501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若满足 S(φ; O⁺) = S(φ; O⁻)，则系统具有场论互易性。该性质确保了离散演化过程的时间可逆性，是物理系统守恒律存在的前提条件。</a:t>
            </a:r>
            <a:endParaRPr lang="en-US" sz="1100"/>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0" y="-889000"/>
            <a:ext cx="2794000" cy="2794000"/>
          </a:xfrm>
          <a:prstGeom prst="ellipse">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143000" y="4953000"/>
            <a:ext cx="3302000" cy="3302000"/>
          </a:xfrm>
          <a:prstGeom prst="ellipse">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286000"/>
            <a:ext cx="381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5B3FD6"/>
                </a:solidFill>
                <a:latin typeface="Noto Sans SC"/>
                <a:ea typeface="Noto Sans SC"/>
                <a:cs typeface="Noto Sans SC"/>
                <a:sym typeface="Noto Sans SC"/>
              </a:rPr>
              <a:t>附录</a:t>
            </a:r>
            <a:endParaRPr lang="en-US" sz="1100"/>
          </a:p>
        </p:txBody>
      </p:sp>
      <p:sp>
        <p:nvSpPr>
          <p:cNvPr name="AutoShape 5" id="5"/>
          <p:cNvSpPr/>
          <p:nvPr/>
        </p:nvSpPr>
        <p:spPr>
          <a:xfrm rot="0" flipH="false" flipV="false">
            <a:off x="5715000" y="2603500"/>
            <a:ext cx="5969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666666"/>
                </a:solidFill>
                <a:latin typeface="Noto Sans SC"/>
                <a:ea typeface="Noto Sans SC"/>
                <a:cs typeface="Noto Sans SC"/>
                <a:sym typeface="Noto Sans SC"/>
              </a:rPr>
              <a:t>速查表 · 术语表 · 实例对照</a:t>
            </a:r>
            <a:endParaRPr lang="en-US" sz="1100"/>
          </a:p>
        </p:txBody>
      </p:sp>
      <p:sp>
        <p:nvSpPr>
          <p:cNvPr name="AutoShape 6" id="6"/>
          <p:cNvSpPr/>
          <p:nvPr/>
        </p:nvSpPr>
        <p:spPr>
          <a:xfrm rot="0" flipH="false" flipV="false">
            <a:off x="5715000" y="3556000"/>
            <a:ext cx="5969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888888"/>
                </a:solidFill>
                <a:latin typeface="Noto Sans SC"/>
                <a:ea typeface="Noto Sans SC"/>
                <a:cs typeface="Noto Sans SC"/>
                <a:sym typeface="Noto Sans SC"/>
              </a:rPr>
              <a:t>本附录整合了全章节的关键知识点速查、专业术语的深度释义，以及理论与实战场景的对照解析。旨在为您提供便捷的检索工具，快速回顾核心内容，打通从理论理解到实践应用的关键链路。</a:t>
            </a:r>
            <a:endParaRPr lang="en-US" sz="1100"/>
          </a:p>
        </p:txBody>
      </p:sp>
      <p:sp>
        <p:nvSpPr>
          <p:cNvPr name="AutoShape 7" id="7"/>
          <p:cNvSpPr/>
          <p:nvPr/>
        </p:nvSpPr>
        <p:spPr>
          <a:xfrm rot="0" flipH="false" flipV="false">
            <a:off x="1016000" y="5334000"/>
            <a:ext cx="10160000" cy="254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5651500"/>
            <a:ext cx="1016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5B3FD6">
                    <a:alpha val="50196"/>
                  </a:srgbClr>
                </a:solidFill>
                <a:latin typeface="Noto Sans SC"/>
                <a:ea typeface="Noto Sans SC"/>
                <a:cs typeface="Noto Sans SC"/>
                <a:sym typeface="Noto Sans SC"/>
              </a:rPr>
              <a:t>APPENDIX &amp; QUICK REFERENCE GUIDE</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414000" y="-762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588000"/>
            <a:ext cx="1524000" cy="1524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附录 C：层级拓展对照表</a:t>
            </a:r>
            <a:endParaRPr lang="en-US" sz="1100"/>
          </a:p>
        </p:txBody>
      </p:sp>
      <p:graphicFrame>
        <p:nvGraphicFramePr>
          <p:cNvPr name="Table 5" id="5"/>
          <p:cNvGraphicFramePr>
            <a:graphicFrameLocks noGrp="true"/>
          </p:cNvGraphicFramePr>
          <p:nvPr/>
        </p:nvGraphicFramePr>
        <p:xfrm>
          <a:off x="508000" y="1651000"/>
          <a:ext cx="11176000" cy="4597400"/>
        </p:xfrm>
        <a:graphic>
          <a:graphicData uri="http://schemas.openxmlformats.org/drawingml/2006/table">
            <a:tbl>
              <a:tblPr>
                <a:effectLst/>
              </a:tblPr>
              <a:tblGrid>
                <a:gridCol w="1905000"/>
                <a:gridCol w="2667000"/>
                <a:gridCol w="2667000"/>
                <a:gridCol w="2540000"/>
                <a:gridCol w="1397000"/>
              </a:tblGrid>
              <a:tr h="635000">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扭曲类型</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填充关联特征</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积分/判据算子</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互易性判据</a:t>
                      </a:r>
                      <a:endParaRPr lang="en-US" sz="1100"/>
                    </a:p>
                  </a:txBody>
                  <a:tcPr anchor="ctr" anchorCtr="false" marL="101600" marR="101600" marT="101600" marB="101600">
                    <a:lnL>
                      <a:noFill/>
                    </a:lnL>
                    <a:lnR>
                      <a:noFill/>
                    </a:lnR>
                    <a:lnT>
                      <a:noFill/>
                    </a:lnT>
                    <a:lnB>
                      <a:noFill/>
                    </a:lnB>
                    <a:solidFill>
                      <a:srgbClr val="5B3FD6">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适用公理</a:t>
                      </a:r>
                      <a:endParaRPr lang="en-US" sz="1100"/>
                    </a:p>
                  </a:txBody>
                  <a:tcPr anchor="ctr" anchorCtr="false" marL="101600" marR="101600" marT="101600" marB="101600">
                    <a:lnL>
                      <a:noFill/>
                    </a:lnL>
                    <a:lnR>
                      <a:noFill/>
                    </a:lnR>
                    <a:lnT>
                      <a:noFill/>
                    </a:lnT>
                    <a:lnB>
                      <a:noFill/>
                    </a:lnB>
                    <a:solidFill>
                      <a:srgbClr val="5B3FD6">
                        <a:alpha val="100000"/>
                      </a:srgbClr>
                    </a:solidFill>
                  </a:tcPr>
                </a:tc>
              </a:tr>
              <a:tr h="6604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标准柱状</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kₓ=kᵧ=0（零梯度）</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内涵 Z_q 指标</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Z_q(F⁺)=Z_q(F⁻)</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Ⅰ–Ⅳ</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solidFill>
                      <a:srgbClr val="F9FAFB">
                        <a:alpha val="100000"/>
                      </a:srgbClr>
                    </a:solidFill>
                  </a:tcPr>
                </a:tc>
              </a:tr>
              <a:tr h="6604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线性斜率</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kₓ,kᵧ 为非零常数</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外延 Z̄_q 指标</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Z̄_q(F⁺)=Z̄_q(F⁻)</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Ⅰ–Ⅳ</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r h="6604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参数簇</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kₓ(z),kᵧ(z) 动态变化</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Dixmier 迹 / 梅林变换</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F.P.ₛ=₀[Φ⁺−Φ⁻]=0</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Ⅰ–Ⅴ</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r>
              <a:tr h="6604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混合曲率</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不同 q 阶拓扑拼接</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接续度规 gᵢⱼ 张量</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界面度量连续可微</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Ⅰ–Ⅴ</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r h="6604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分形曲面</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分形边界沿 Z 轴递归</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Z_q 指标 / Dixmier 迹</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基底互易 + 插值一致</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Ⅰ–Ⅴ</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9FAFB">
                        <a:alpha val="100000"/>
                      </a:srgbClr>
                    </a:solidFill>
                  </a:tcPr>
                </a:tc>
              </a:tr>
              <a:tr h="660400">
                <a:tc>
                  <a:txBody>
                    <a:bodyPr anchor="t" rtlCol="false"/>
                    <a:lstStyle/>
                    <a:p>
                      <a:pPr algn="ctr" marL="0" indent="0">
                        <a:lnSpc>
                          <a:spcPct val="100000"/>
                        </a:lnSpc>
                        <a:defRPr/>
                      </a:pPr>
                      <a:r>
                        <a:rPr lang="en-US" b="false" i="false" strike="noStrike" u="none" sz="1400">
                          <a:solidFill>
                            <a:srgbClr val="1F2937"/>
                          </a:solidFill>
                          <a:latin typeface="Noto Sans SC"/>
                          <a:ea typeface="Noto Sans SC"/>
                          <a:cs typeface="Noto Sans SC"/>
                          <a:sym typeface="Noto Sans SC"/>
                        </a:rPr>
                        <a:t>场论嵌入</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离散路径积分作用量</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Z_q 指标 / Dixmier 迹</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4B5563"/>
                          </a:solidFill>
                          <a:latin typeface="Noto Sans SC"/>
                          <a:ea typeface="Noto Sans SC"/>
                          <a:cs typeface="Noto Sans SC"/>
                          <a:sym typeface="Noto Sans SC"/>
                        </a:rPr>
                        <a:t>S(O⁺)=S(O⁻)</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Ⅰ–Ⅴ</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sld>
</file>

<file path=ppt/slides/slide4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4445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635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附录 D：核心术语表</a:t>
            </a:r>
            <a:endParaRPr lang="en-US" sz="1100"/>
          </a:p>
        </p:txBody>
      </p:sp>
      <p:sp>
        <p:nvSpPr>
          <p:cNvPr name="AutoShape 5" id="5"/>
          <p:cNvSpPr/>
          <p:nvPr/>
        </p:nvSpPr>
        <p:spPr>
          <a:xfrm rot="0" flipH="false" flipV="false">
            <a:off x="508000" y="1206500"/>
            <a:ext cx="11176000" cy="25400"/>
          </a:xfrm>
          <a:prstGeom prst="roundRect">
            <a:avLst>
              <a:gd name="adj" fmla="val 0"/>
            </a:avLst>
          </a:prstGeom>
          <a:solidFill>
            <a:srgbClr val="5B3FD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6510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17018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全域 Universal Domain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背景地址空间 R³，不参与构造，作为所有拓扑变换的绝对参照系与基底空间。</a:t>
            </a:r>
            <a:endParaRPr lang="en-US" sz="1100"/>
          </a:p>
        </p:txBody>
      </p:sp>
      <p:sp>
        <p:nvSpPr>
          <p:cNvPr name="AutoShape 8" id="8"/>
          <p:cNvSpPr/>
          <p:nvPr/>
        </p:nvSpPr>
        <p:spPr>
          <a:xfrm rot="0" flipH="false" flipV="false">
            <a:off x="508000" y="26035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26543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子域 Sub-domain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从全域切出的有界合法约束域 D，具备明确的拓扑边界、内蕴结构与几何约束。</a:t>
            </a:r>
            <a:endParaRPr lang="en-US" sz="1100"/>
          </a:p>
        </p:txBody>
      </p:sp>
      <p:sp>
        <p:nvSpPr>
          <p:cNvPr name="AutoShape 10" id="10"/>
          <p:cNvSpPr/>
          <p:nvPr/>
        </p:nvSpPr>
        <p:spPr>
          <a:xfrm rot="0" flipH="false" flipV="false">
            <a:off x="508000" y="35560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 y="36068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域变量 Domain Variable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刻画子域“切法”的独立参数，决定了子域在基底空间中的形态、位置与演化方式。</a:t>
            </a:r>
            <a:endParaRPr lang="en-US" sz="1100"/>
          </a:p>
        </p:txBody>
      </p:sp>
      <p:sp>
        <p:nvSpPr>
          <p:cNvPr name="AutoShape 12" id="12"/>
          <p:cNvSpPr/>
          <p:nvPr/>
        </p:nvSpPr>
        <p:spPr>
          <a:xfrm rot="0" flipH="false" flipV="false">
            <a:off x="508000" y="45085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 y="45593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空间域 Spatial Domain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全体合法子域闭包的并置，构成连续、连通且无矛盾的整体空间拓扑结构。</a:t>
            </a:r>
            <a:endParaRPr lang="en-US" sz="1100"/>
          </a:p>
        </p:txBody>
      </p:sp>
      <p:sp>
        <p:nvSpPr>
          <p:cNvPr name="AutoShape 14" id="14"/>
          <p:cNvSpPr/>
          <p:nvPr/>
        </p:nvSpPr>
        <p:spPr>
          <a:xfrm rot="0" flipH="false" flipV="false">
            <a:off x="508000" y="54610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 y="55118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几何闭包 Geometric Closure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通过五重公理检验的合法构造，确保子域的几何性质满足相容性与完备性条件。</a:t>
            </a:r>
            <a:endParaRPr lang="en-US" sz="1100"/>
          </a:p>
        </p:txBody>
      </p:sp>
      <p:sp>
        <p:nvSpPr>
          <p:cNvPr name="AutoShape 16" id="16"/>
          <p:cNvSpPr/>
          <p:nvPr/>
        </p:nvSpPr>
        <p:spPr>
          <a:xfrm rot="0" flipH="false" flipV="false">
            <a:off x="6350000" y="16510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17018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参数簇 Parameter Family</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依赖连续参数的函数族，用于描述子域随参数连续变化的动态演化过程与形态。</a:t>
            </a:r>
            <a:endParaRPr lang="en-US" sz="1100"/>
          </a:p>
        </p:txBody>
      </p:sp>
      <p:sp>
        <p:nvSpPr>
          <p:cNvPr name="AutoShape 18" id="18"/>
          <p:cNvSpPr/>
          <p:nvPr/>
        </p:nvSpPr>
        <p:spPr>
          <a:xfrm rot="0" flipH="false" flipV="false">
            <a:off x="6350000" y="26035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26543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解陪域 Resolution Fiber Domain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吸收循环上同调粘合障碍的中间纤维层，解决拓扑粘合时出现的奇点与冲突。</a:t>
            </a:r>
            <a:endParaRPr lang="en-US" sz="1100"/>
          </a:p>
        </p:txBody>
      </p:sp>
      <p:sp>
        <p:nvSpPr>
          <p:cNvPr name="AutoShape 20" id="20"/>
          <p:cNvSpPr/>
          <p:nvPr/>
        </p:nvSpPr>
        <p:spPr>
          <a:xfrm rot="0" flipH="false" flipV="false">
            <a:off x="6350000" y="35560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36068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有限支撑扰动</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行变换仅涉及有限个非零域变量列，保证了变换的局部性、稳定性与可计算性。</a:t>
            </a:r>
            <a:endParaRPr lang="en-US" sz="1100"/>
          </a:p>
        </p:txBody>
      </p:sp>
      <p:sp>
        <p:nvSpPr>
          <p:cNvPr name="AutoShape 22" id="22"/>
          <p:cNvSpPr/>
          <p:nvPr/>
        </p:nvSpPr>
        <p:spPr>
          <a:xfrm rot="0" flipH="false" flipV="false">
            <a:off x="6350000" y="45085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77000" y="45593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几何拓扑维数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承载闭包的空间流形的拓扑维数，决定了空间的基本几何度量与连通性质。</a:t>
            </a:r>
            <a:endParaRPr lang="en-US" sz="1100"/>
          </a:p>
        </p:txBody>
      </p:sp>
      <p:sp>
        <p:nvSpPr>
          <p:cNvPr name="AutoShape 24" id="24"/>
          <p:cNvSpPr/>
          <p:nvPr/>
        </p:nvSpPr>
        <p:spPr>
          <a:xfrm rot="0" flipH="false" flipV="false">
            <a:off x="6350000" y="5461000"/>
            <a:ext cx="5334000" cy="863600"/>
          </a:xfrm>
          <a:prstGeom prst="roundRect">
            <a:avLst>
              <a:gd name="adj" fmla="val 0"/>
            </a:avLst>
          </a:prstGeom>
          <a:solidFill>
            <a:srgbClr val="F3F0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477000" y="5511800"/>
            <a:ext cx="508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5B3FD6"/>
                </a:solidFill>
                <a:latin typeface="Noto Sans SC"/>
                <a:ea typeface="Noto Sans SC"/>
                <a:cs typeface="Noto Sans SC"/>
                <a:sym typeface="Noto Sans SC"/>
              </a:rPr>
              <a:t>域变量维数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333333"/>
                </a:solidFill>
                <a:latin typeface="Noto Sans SC"/>
                <a:ea typeface="Noto Sans SC"/>
                <a:cs typeface="Noto Sans SC"/>
                <a:sym typeface="Noto Sans SC"/>
              </a:rPr>
              <a:t>刻画子域“切法”的独立参数个数，反映了子域构造的自由度与系统复杂度。</a:t>
            </a:r>
            <a:endParaRPr lang="en-US" sz="1100"/>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5B3FD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5B3FD6"/>
                </a:solidFill>
                <a:latin typeface="Noto Sans SC"/>
                <a:ea typeface="Noto Sans SC"/>
                <a:cs typeface="Noto Sans SC"/>
                <a:sym typeface="Noto Sans SC"/>
              </a:rPr>
              <a:t>附录 F：与标准数值工具的对照</a:t>
            </a:r>
            <a:endParaRPr lang="en-US" sz="1100"/>
          </a:p>
        </p:txBody>
      </p:sp>
      <p:graphicFrame>
        <p:nvGraphicFramePr>
          <p:cNvPr name="Table 5" id="5"/>
          <p:cNvGraphicFramePr>
            <a:graphicFrameLocks noGrp="true"/>
          </p:cNvGraphicFramePr>
          <p:nvPr/>
        </p:nvGraphicFramePr>
        <p:xfrm>
          <a:off x="508000" y="1524000"/>
          <a:ext cx="11176000" cy="3111500"/>
        </p:xfrm>
        <a:graphic>
          <a:graphicData uri="http://schemas.openxmlformats.org/drawingml/2006/table">
            <a:tbl>
              <a:tblPr>
                <a:effectLst/>
              </a:tblPr>
              <a:tblGrid>
                <a:gridCol w="3048000"/>
                <a:gridCol w="2794000"/>
                <a:gridCol w="2794000"/>
                <a:gridCol w="2540000"/>
              </a:tblGrid>
              <a:tr h="571500">
                <a:tc>
                  <a:txBody>
                    <a:bodyPr anchor="t" rtlCol="false"/>
                    <a:lstStyle/>
                    <a:p>
                      <a:pPr algn="ctr" marL="0" indent="0">
                        <a:lnSpc>
                          <a:spcPct val="100000"/>
                        </a:lnSpc>
                        <a:defRPr/>
                      </a:pPr>
                      <a:r>
                        <a:rPr lang="en-US" b="true" i="false" strike="noStrike" u="none" sz="1500">
                          <a:solidFill>
                            <a:srgbClr val="5B3FD6"/>
                          </a:solidFill>
                          <a:latin typeface="Noto Sans SC"/>
                          <a:ea typeface="Noto Sans SC"/>
                          <a:cs typeface="Noto Sans SC"/>
                          <a:sym typeface="Noto Sans SC"/>
                        </a:rPr>
                        <a:t>应用场景</a:t>
                      </a:r>
                      <a:endParaRPr lang="en-US" sz="1100"/>
                    </a:p>
                  </a:txBody>
                  <a:tcPr anchor="ctr" anchorCtr="false" marL="101600" marR="101600" marT="101600" marB="101600">
                    <a:lnL>
                      <a:noFill/>
                    </a:lnL>
                    <a:lnR>
                      <a:noFill/>
                    </a:lnR>
                    <a:lnT>
                      <a:noFill/>
                    </a:lnT>
                    <a:lnB>
                      <a:noFill/>
                    </a:lnB>
                    <a:solidFill>
                      <a:srgbClr val="5B3FD6">
                        <a:alpha val="8000"/>
                      </a:srgbClr>
                    </a:solidFill>
                  </a:tcPr>
                </a:tc>
                <a:tc>
                  <a:txBody>
                    <a:bodyPr anchor="t" rtlCol="false"/>
                    <a:lstStyle/>
                    <a:p>
                      <a:pPr algn="ctr" marL="0" indent="0">
                        <a:lnSpc>
                          <a:spcPct val="100000"/>
                        </a:lnSpc>
                        <a:defRPr/>
                      </a:pPr>
                      <a:r>
                        <a:rPr lang="en-US" b="true" i="false" strike="noStrike" u="none" sz="1500">
                          <a:solidFill>
                            <a:srgbClr val="5B3FD6"/>
                          </a:solidFill>
                          <a:latin typeface="Noto Sans SC"/>
                          <a:ea typeface="Noto Sans SC"/>
                          <a:cs typeface="Noto Sans SC"/>
                          <a:sym typeface="Noto Sans SC"/>
                        </a:rPr>
                        <a:t>标准数值工具表现</a:t>
                      </a:r>
                      <a:endParaRPr lang="en-US" sz="1100"/>
                    </a:p>
                  </a:txBody>
                  <a:tcPr anchor="ctr" anchorCtr="false" marL="101600" marR="101600" marT="101600" marB="101600">
                    <a:lnL>
                      <a:noFill/>
                    </a:lnL>
                    <a:lnR>
                      <a:noFill/>
                    </a:lnR>
                    <a:lnT>
                      <a:noFill/>
                    </a:lnT>
                    <a:lnB>
                      <a:noFill/>
                    </a:lnB>
                    <a:solidFill>
                      <a:srgbClr val="5B3FD6">
                        <a:alpha val="8000"/>
                      </a:srgbClr>
                    </a:solidFill>
                  </a:tcPr>
                </a:tc>
                <a:tc>
                  <a:txBody>
                    <a:bodyPr anchor="t" rtlCol="false"/>
                    <a:lstStyle/>
                    <a:p>
                      <a:pPr algn="ctr" marL="0" indent="0">
                        <a:lnSpc>
                          <a:spcPct val="100000"/>
                        </a:lnSpc>
                        <a:defRPr/>
                      </a:pPr>
                      <a:r>
                        <a:rPr lang="en-US" b="true" i="false" strike="noStrike" u="none" sz="1500">
                          <a:solidFill>
                            <a:srgbClr val="5B3FD6"/>
                          </a:solidFill>
                          <a:latin typeface="Noto Sans SC"/>
                          <a:ea typeface="Noto Sans SC"/>
                          <a:cs typeface="Noto Sans SC"/>
                          <a:sym typeface="Noto Sans SC"/>
                        </a:rPr>
                        <a:t>DCG 模型表现</a:t>
                      </a:r>
                      <a:endParaRPr lang="en-US" sz="1100"/>
                    </a:p>
                  </a:txBody>
                  <a:tcPr anchor="ctr" anchorCtr="false" marL="101600" marR="101600" marT="101600" marB="101600">
                    <a:lnL>
                      <a:noFill/>
                    </a:lnL>
                    <a:lnR>
                      <a:noFill/>
                    </a:lnR>
                    <a:lnT>
                      <a:noFill/>
                    </a:lnT>
                    <a:lnB>
                      <a:noFill/>
                    </a:lnB>
                    <a:solidFill>
                      <a:srgbClr val="5B3FD6">
                        <a:alpha val="8000"/>
                      </a:srgbClr>
                    </a:solidFill>
                  </a:tcPr>
                </a:tc>
                <a:tc>
                  <a:txBody>
                    <a:bodyPr anchor="t" rtlCol="false"/>
                    <a:lstStyle/>
                    <a:p>
                      <a:pPr algn="ctr" marL="0" indent="0">
                        <a:lnSpc>
                          <a:spcPct val="100000"/>
                        </a:lnSpc>
                        <a:defRPr/>
                      </a:pPr>
                      <a:r>
                        <a:rPr lang="en-US" b="true" i="false" strike="noStrike" u="none" sz="1500">
                          <a:solidFill>
                            <a:srgbClr val="5B3FD6"/>
                          </a:solidFill>
                          <a:latin typeface="Noto Sans SC"/>
                          <a:ea typeface="Noto Sans SC"/>
                          <a:cs typeface="Noto Sans SC"/>
                          <a:sym typeface="Noto Sans SC"/>
                        </a:rPr>
                        <a:t>综合结论</a:t>
                      </a:r>
                      <a:endParaRPr lang="en-US" sz="1100"/>
                    </a:p>
                  </a:txBody>
                  <a:tcPr anchor="ctr" anchorCtr="false" marL="101600" marR="101600" marT="101600" marB="101600">
                    <a:lnL>
                      <a:noFill/>
                    </a:lnL>
                    <a:lnR>
                      <a:noFill/>
                    </a:lnR>
                    <a:lnT>
                      <a:noFill/>
                    </a:lnT>
                    <a:lnB>
                      <a:noFill/>
                    </a:lnB>
                    <a:solidFill>
                      <a:srgbClr val="5B3FD6">
                        <a:alpha val="8000"/>
                      </a:srgbClr>
                    </a:solidFill>
                  </a:tcPr>
                </a:tc>
              </a:tr>
              <a:tr h="635000">
                <a:tc>
                  <a:txBody>
                    <a:bodyPr anchor="t" rtlCol="false"/>
                    <a:lstStyle/>
                    <a:p>
                      <a:pPr algn="l" marL="0" indent="0">
                        <a:lnSpc>
                          <a:spcPct val="100000"/>
                        </a:lnSpc>
                        <a:defRPr/>
                      </a:pPr>
                      <a:r>
                        <a:rPr lang="en-US" b="false" i="false" strike="noStrike" u="none" sz="1400">
                          <a:solidFill>
                            <a:srgbClr val="374151"/>
                          </a:solidFill>
                          <a:latin typeface="Noto Sans SC"/>
                          <a:ea typeface="Noto Sans SC"/>
                          <a:cs typeface="Noto Sans SC"/>
                          <a:sym typeface="Noto Sans SC"/>
                        </a:rPr>
                        <a:t>规则区域（矩形/圆/曲面）</a:t>
                      </a:r>
                      <a:endParaRPr lang="en-US" sz="1100"/>
                    </a:p>
                  </a:txBody>
                  <a:tcPr anchor="ctr" anchorCtr="false" marL="127000" marR="101600" marT="101600" marB="101600">
                    <a:lnL>
                      <a:noFill/>
                    </a:lnL>
                    <a:lnR>
                      <a:noFill/>
                    </a:lnR>
                    <a:lnT>
                      <a:noFill/>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dblquad/有限元精确 ✅</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离散求和结果完全一致 ✅</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true" i="false" strike="noStrike" u="none" sz="1400">
                          <a:solidFill>
                            <a:srgbClr val="10B981"/>
                          </a:solidFill>
                          <a:latin typeface="Noto Sans SC"/>
                          <a:ea typeface="Noto Sans SC"/>
                          <a:cs typeface="Noto Sans SC"/>
                          <a:sym typeface="Noto Sans SC"/>
                        </a:rPr>
                        <a:t>辅助计算高度兼容</a:t>
                      </a:r>
                      <a:endParaRPr lang="en-US" sz="1100"/>
                    </a:p>
                  </a:txBody>
                  <a:tcPr anchor="ctr" anchorCtr="false" marL="101600" marR="101600" marT="101600" marB="101600">
                    <a:lnL>
                      <a:noFill/>
                    </a:lnL>
                    <a:lnR>
                      <a:noFill/>
                    </a:lnR>
                    <a:lnT>
                      <a:noFill/>
                    </a:lnT>
                    <a:lnB cmpd="sng" algn="ctr" cap="flat" w="12700">
                      <a:solidFill>
                        <a:srgbClr val="E5E7EB"/>
                      </a:solidFill>
                      <a:prstDash val="solid"/>
                      <a:round/>
                      <a:headEnd type="none" w="med" len="med"/>
                      <a:tailEnd type="none" w="med" len="med"/>
                    </a:lnB>
                    <a:noFill/>
                  </a:tcPr>
                </a:tc>
              </a:tr>
              <a:tr h="635000">
                <a:tc>
                  <a:txBody>
                    <a:bodyPr anchor="t" rtlCol="false"/>
                    <a:lstStyle/>
                    <a:p>
                      <a:pPr algn="l" marL="0" indent="0">
                        <a:lnSpc>
                          <a:spcPct val="100000"/>
                        </a:lnSpc>
                        <a:defRPr/>
                      </a:pPr>
                      <a:r>
                        <a:rPr lang="en-US" b="false" i="false" strike="noStrike" u="none" sz="1400">
                          <a:solidFill>
                            <a:srgbClr val="374151"/>
                          </a:solidFill>
                          <a:latin typeface="Noto Sans SC"/>
                          <a:ea typeface="Noto Sans SC"/>
                          <a:cs typeface="Noto Sans SC"/>
                          <a:sym typeface="Noto Sans SC"/>
                        </a:rPr>
                        <a:t>变边界填充（边界良好）</a:t>
                      </a:r>
                      <a:endParaRPr lang="en-US" sz="1100"/>
                    </a:p>
                  </a:txBody>
                  <a:tcPr anchor="ctr" anchorCtr="false" marL="1270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网格化支持表现良好 ✅</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逐片累加逻辑严格一致 ✅</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c>
                  <a:txBody>
                    <a:bodyPr anchor="t" rtlCol="false"/>
                    <a:lstStyle/>
                    <a:p>
                      <a:pPr algn="ctr" marL="0" indent="0">
                        <a:lnSpc>
                          <a:spcPct val="100000"/>
                        </a:lnSpc>
                        <a:defRPr/>
                      </a:pPr>
                      <a:r>
                        <a:rPr lang="en-US" b="true" i="false" strike="noStrike" u="none" sz="1400">
                          <a:solidFill>
                            <a:srgbClr val="10B981"/>
                          </a:solidFill>
                          <a:latin typeface="Noto Sans SC"/>
                          <a:ea typeface="Noto Sans SC"/>
                          <a:cs typeface="Noto Sans SC"/>
                          <a:sym typeface="Noto Sans SC"/>
                        </a:rPr>
                        <a:t>数值结果可互校</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noFill/>
                  </a:tcPr>
                </a:tc>
              </a:tr>
              <a:tr h="635000">
                <a:tc>
                  <a:txBody>
                    <a:bodyPr anchor="t" rtlCol="false"/>
                    <a:lstStyle/>
                    <a:p>
                      <a:pPr algn="l" marL="0" indent="0">
                        <a:lnSpc>
                          <a:spcPct val="100000"/>
                        </a:lnSpc>
                        <a:defRPr/>
                      </a:pPr>
                      <a:r>
                        <a:rPr lang="en-US" b="true" i="false" strike="noStrike" u="none" sz="1400">
                          <a:solidFill>
                            <a:srgbClr val="5B3FD6"/>
                          </a:solidFill>
                          <a:latin typeface="Noto Sans SC"/>
                          <a:ea typeface="Noto Sans SC"/>
                          <a:cs typeface="Noto Sans SC"/>
                          <a:sym typeface="Noto Sans SC"/>
                        </a:rPr>
                        <a:t>分形边界（科赫雪花等）</a:t>
                      </a:r>
                      <a:endParaRPr lang="en-US" sz="1100"/>
                    </a:p>
                  </a:txBody>
                  <a:tcPr anchor="ctr" anchorCtr="false" marL="1270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5B3FD6">
                        <a:alpha val="8000"/>
                      </a:srgbClr>
                    </a:solidFill>
                  </a:tcPr>
                </a:tc>
                <a:tc>
                  <a:txBody>
                    <a:bodyPr anchor="t" rtlCol="false"/>
                    <a:lstStyle/>
                    <a:p>
                      <a:pPr algn="ctr" marL="0" indent="0">
                        <a:lnSpc>
                          <a:spcPct val="100000"/>
                        </a:lnSpc>
                        <a:defRPr/>
                      </a:pPr>
                      <a:r>
                        <a:rPr lang="en-US" b="false" i="false" strike="noStrike" u="none" sz="1400">
                          <a:solidFill>
                            <a:srgbClr val="EF4444"/>
                          </a:solidFill>
                          <a:latin typeface="Noto Sans SC"/>
                          <a:ea typeface="Noto Sans SC"/>
                          <a:cs typeface="Noto Sans SC"/>
                          <a:sym typeface="Noto Sans SC"/>
                        </a:rPr>
                        <a:t>无法直接网格化处理 ❌</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5B3FD6">
                        <a:alpha val="8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递归顶点序列原生支持 ✅</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5B3FD6">
                        <a:alpha val="8000"/>
                      </a:srgbClr>
                    </a:solidFill>
                  </a:tcPr>
                </a:tc>
                <a:tc>
                  <a:txBody>
                    <a:bodyPr anchor="t" rtlCol="false"/>
                    <a:lstStyle/>
                    <a:p>
                      <a:pPr algn="ctr" marL="0" indent="0">
                        <a:lnSpc>
                          <a:spcPct val="100000"/>
                        </a:lnSpc>
                        <a:defRPr/>
                      </a:pPr>
                      <a:r>
                        <a:rPr lang="en-US" b="true" i="false" strike="noStrike" u="none" sz="1400">
                          <a:solidFill>
                            <a:srgbClr val="5B3FD6"/>
                          </a:solidFill>
                          <a:latin typeface="Noto Sans SC"/>
                          <a:ea typeface="Noto Sans SC"/>
                          <a:cs typeface="Noto Sans SC"/>
                          <a:sym typeface="Noto Sans SC"/>
                        </a:rPr>
                        <a:t>DCG 核心优势领域</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cmpd="sng" algn="ctr" cap="flat" w="12700">
                      <a:solidFill>
                        <a:srgbClr val="E5E7EB"/>
                      </a:solidFill>
                      <a:prstDash val="solid"/>
                      <a:round/>
                      <a:headEnd type="none" w="med" len="med"/>
                      <a:tailEnd type="none" w="med" len="med"/>
                    </a:lnB>
                    <a:solidFill>
                      <a:srgbClr val="5B3FD6">
                        <a:alpha val="8000"/>
                      </a:srgbClr>
                    </a:solidFill>
                  </a:tcPr>
                </a:tc>
              </a:tr>
              <a:tr h="635000">
                <a:tc>
                  <a:txBody>
                    <a:bodyPr anchor="t" rtlCol="false"/>
                    <a:lstStyle/>
                    <a:p>
                      <a:pPr algn="l" marL="0" indent="0">
                        <a:lnSpc>
                          <a:spcPct val="100000"/>
                        </a:lnSpc>
                        <a:defRPr/>
                      </a:pPr>
                      <a:r>
                        <a:rPr lang="en-US" b="false" i="false" strike="noStrike" u="none" sz="1400">
                          <a:solidFill>
                            <a:srgbClr val="374151"/>
                          </a:solidFill>
                          <a:latin typeface="Noto Sans SC"/>
                          <a:ea typeface="Noto Sans SC"/>
                          <a:cs typeface="Noto Sans SC"/>
                          <a:sym typeface="Noto Sans SC"/>
                        </a:rPr>
                        <a:t>边界贴合（多体共享边界）</a:t>
                      </a:r>
                      <a:endParaRPr lang="en-US" sz="1100"/>
                    </a:p>
                  </a:txBody>
                  <a:tcPr anchor="ctr" anchorCtr="false" marL="127000" marR="101600" marT="101600" marB="101600">
                    <a:lnL>
                      <a:noFill/>
                    </a:lnL>
                    <a:lnR>
                      <a:noFill/>
                    </a:lnR>
                    <a:lnT cmpd="sng" algn="ctr" cap="flat" w="12700">
                      <a:solidFill>
                        <a:srgbClr val="E5E7EB"/>
                      </a:solidFill>
                      <a:prstDash val="solid"/>
                      <a:round/>
                      <a:headEnd type="none" w="med" len="med"/>
                      <a:tailEnd type="none" w="med" len="med"/>
                    </a:lnT>
                    <a:lnB>
                      <a:noFill/>
                    </a:lnB>
                    <a:no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需手动处理方向与重叠</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a:noFill/>
                    </a:lnB>
                    <a:no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公理Ⅳ保障边界唯一</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a:noFill/>
                    </a:lnB>
                    <a:noFill/>
                  </a:tcPr>
                </a:tc>
                <a:tc>
                  <a:txBody>
                    <a:bodyPr anchor="t" rtlCol="false"/>
                    <a:lstStyle/>
                    <a:p>
                      <a:pPr algn="ctr" marL="0" indent="0">
                        <a:lnSpc>
                          <a:spcPct val="100000"/>
                        </a:lnSpc>
                        <a:defRPr/>
                      </a:pPr>
                      <a:r>
                        <a:rPr lang="en-US" b="true" i="false" strike="noStrike" u="none" sz="1400">
                          <a:solidFill>
                            <a:srgbClr val="10B981"/>
                          </a:solidFill>
                          <a:latin typeface="Noto Sans SC"/>
                          <a:ea typeface="Noto Sans SC"/>
                          <a:cs typeface="Noto Sans SC"/>
                          <a:sym typeface="Noto Sans SC"/>
                        </a:rPr>
                        <a:t>拓扑关系显式处理</a:t>
                      </a:r>
                      <a:endParaRPr lang="en-US" sz="1100"/>
                    </a:p>
                  </a:txBody>
                  <a:tcPr anchor="ctr" anchorCtr="false" marL="101600" marR="101600" marT="101600" marB="101600">
                    <a:lnL>
                      <a:noFill/>
                    </a:lnL>
                    <a:lnR>
                      <a:noFill/>
                    </a:lnR>
                    <a:lnT cmpd="sng" algn="ctr" cap="flat" w="12700">
                      <a:solidFill>
                        <a:srgbClr val="E5E7EB"/>
                      </a:solidFill>
                      <a:prstDash val="solid"/>
                      <a:round/>
                      <a:headEnd type="none" w="med" len="med"/>
                      <a:tailEnd type="none" w="med" len="med"/>
                    </a:lnT>
                    <a:lnB>
                      <a:noFill/>
                    </a:lnB>
                    <a:noFill/>
                  </a:tcPr>
                </a:tc>
              </a:tr>
            </a:tbl>
          </a:graphicData>
        </a:graphic>
      </p:graphicFrame>
      <p:sp>
        <p:nvSpPr>
          <p:cNvPr name="AutoShape 6" id="6"/>
          <p:cNvSpPr/>
          <p:nvPr/>
        </p:nvSpPr>
        <p:spPr>
          <a:xfrm rot="0" flipH="false" flipV="false">
            <a:off x="508000" y="4889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B5563"/>
                </a:solidFill>
                <a:latin typeface="Noto Sans SC"/>
                <a:ea typeface="Noto Sans SC"/>
                <a:cs typeface="Noto Sans SC"/>
                <a:sym typeface="Noto Sans SC"/>
              </a:rPr>
              <a:t>边界贴合消重操作标准流程</a:t>
            </a:r>
            <a:endParaRPr lang="en-US" sz="1100"/>
          </a:p>
        </p:txBody>
      </p:sp>
      <p:sp>
        <p:nvSpPr>
          <p:cNvPr name="AutoShape 7" id="7"/>
          <p:cNvSpPr/>
          <p:nvPr/>
        </p:nvSpPr>
        <p:spPr>
          <a:xfrm rot="0" flipH="false" flipV="false">
            <a:off x="508000" y="5334000"/>
            <a:ext cx="3556000" cy="1206500"/>
          </a:xfrm>
          <a:prstGeom prst="roundRect">
            <a:avLst>
              <a:gd name="adj" fmla="val 0"/>
            </a:avLst>
          </a:prstGeom>
          <a:solidFill>
            <a:srgbClr val="5B3FD6">
              <a:alpha val="5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5461000"/>
            <a:ext cx="304800" cy="304800"/>
          </a:xfrm>
          <a:prstGeom prst="rect">
            <a:avLst/>
          </a:prstGeom>
        </p:spPr>
      </p:pic>
      <p:sp>
        <p:nvSpPr>
          <p:cNvPr name="AutoShape 9" id="9"/>
          <p:cNvSpPr/>
          <p:nvPr/>
        </p:nvSpPr>
        <p:spPr>
          <a:xfrm rot="0" flipH="false" flipV="false">
            <a:off x="1079500" y="5461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5B3FD6"/>
                </a:solidFill>
                <a:latin typeface="Noto Sans SC"/>
                <a:ea typeface="Noto Sans SC"/>
                <a:cs typeface="Noto Sans SC"/>
                <a:sym typeface="Noto Sans SC"/>
              </a:rPr>
              <a:t>01 基础单元构造</a:t>
            </a:r>
            <a:endParaRPr lang="en-US" sz="1100"/>
          </a:p>
        </p:txBody>
      </p:sp>
      <p:sp>
        <p:nvSpPr>
          <p:cNvPr name="AutoShape 10" id="10"/>
          <p:cNvSpPr/>
          <p:nvPr/>
        </p:nvSpPr>
        <p:spPr>
          <a:xfrm rot="0" flipH="false" flipV="false">
            <a:off x="698500" y="5842000"/>
            <a:ext cx="317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6B7280"/>
                </a:solidFill>
                <a:latin typeface="Noto Sans SC"/>
                <a:ea typeface="Noto Sans SC"/>
                <a:cs typeface="Noto Sans SC"/>
                <a:sym typeface="Noto Sans SC"/>
              </a:rPr>
              <a:t>基于公理Ⅰ-Ⅲ完成独立几何单元的拓扑定义，确立顶点、边、面的基础关联与属性。</a:t>
            </a:r>
            <a:endParaRPr lang="en-US" sz="1100"/>
          </a:p>
        </p:txBody>
      </p:sp>
      <p:sp>
        <p:nvSpPr>
          <p:cNvPr name="AutoShape 11" id="11"/>
          <p:cNvSpPr/>
          <p:nvPr/>
        </p:nvSpPr>
        <p:spPr>
          <a:xfrm rot="0" flipH="false" flipV="false">
            <a:off x="4318000" y="5334000"/>
            <a:ext cx="3556000" cy="1206500"/>
          </a:xfrm>
          <a:prstGeom prst="roundRect">
            <a:avLst>
              <a:gd name="adj" fmla="val 0"/>
            </a:avLst>
          </a:prstGeom>
          <a:solidFill>
            <a:srgbClr val="5B3FD6">
              <a:alpha val="5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5461000"/>
            <a:ext cx="304800" cy="304800"/>
          </a:xfrm>
          <a:prstGeom prst="rect">
            <a:avLst/>
          </a:prstGeom>
        </p:spPr>
      </p:pic>
      <p:sp>
        <p:nvSpPr>
          <p:cNvPr name="AutoShape 13" id="13"/>
          <p:cNvSpPr/>
          <p:nvPr/>
        </p:nvSpPr>
        <p:spPr>
          <a:xfrm rot="0" flipH="false" flipV="false">
            <a:off x="4889500" y="5461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5B3FD6"/>
                </a:solidFill>
                <a:latin typeface="Noto Sans SC"/>
                <a:ea typeface="Noto Sans SC"/>
                <a:cs typeface="Noto Sans SC"/>
                <a:sym typeface="Noto Sans SC"/>
              </a:rPr>
              <a:t>02 邻接逻辑验证</a:t>
            </a:r>
            <a:endParaRPr lang="en-US" sz="1100"/>
          </a:p>
        </p:txBody>
      </p:sp>
      <p:sp>
        <p:nvSpPr>
          <p:cNvPr name="AutoShape 14" id="14"/>
          <p:cNvSpPr/>
          <p:nvPr/>
        </p:nvSpPr>
        <p:spPr>
          <a:xfrm rot="0" flipH="false" flipV="false">
            <a:off x="4508500" y="5842000"/>
            <a:ext cx="317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6B7280"/>
                </a:solidFill>
                <a:latin typeface="Noto Sans SC"/>
                <a:ea typeface="Noto Sans SC"/>
                <a:cs typeface="Noto Sans SC"/>
                <a:sym typeface="Noto Sans SC"/>
              </a:rPr>
              <a:t>利用公理Ⅳ校验单元间的并置关系，确保边界贴合处的拓扑逻辑自洽，无几何冲突。</a:t>
            </a:r>
            <a:endParaRPr lang="en-US" sz="1100"/>
          </a:p>
        </p:txBody>
      </p:sp>
      <p:sp>
        <p:nvSpPr>
          <p:cNvPr name="AutoShape 15" id="15"/>
          <p:cNvSpPr/>
          <p:nvPr/>
        </p:nvSpPr>
        <p:spPr>
          <a:xfrm rot="0" flipH="false" flipV="false">
            <a:off x="8128000" y="5334000"/>
            <a:ext cx="3556000" cy="1206500"/>
          </a:xfrm>
          <a:prstGeom prst="roundRect">
            <a:avLst>
              <a:gd name="adj" fmla="val 0"/>
            </a:avLst>
          </a:prstGeom>
          <a:solidFill>
            <a:srgbClr val="5B3FD6">
              <a:alpha val="5000"/>
            </a:srgbClr>
          </a:solidFill>
          <a:ln w="12700" cmpd="sng" cap="flat">
            <a:solidFill>
              <a:srgbClr val="5B3FD6">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5461000"/>
            <a:ext cx="304800" cy="304800"/>
          </a:xfrm>
          <a:prstGeom prst="rect">
            <a:avLst/>
          </a:prstGeom>
        </p:spPr>
      </p:pic>
      <p:sp>
        <p:nvSpPr>
          <p:cNvPr name="AutoShape 17" id="17"/>
          <p:cNvSpPr/>
          <p:nvPr/>
        </p:nvSpPr>
        <p:spPr>
          <a:xfrm rot="0" flipH="false" flipV="false">
            <a:off x="8699500" y="5461000"/>
            <a:ext cx="292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5B3FD6"/>
                </a:solidFill>
                <a:latin typeface="Noto Sans SC"/>
                <a:ea typeface="Noto Sans SC"/>
                <a:cs typeface="Noto Sans SC"/>
                <a:sym typeface="Noto Sans SC"/>
              </a:rPr>
              <a:t>03 内边界自动消重</a:t>
            </a:r>
            <a:endParaRPr lang="en-US" sz="1100"/>
          </a:p>
        </p:txBody>
      </p:sp>
      <p:sp>
        <p:nvSpPr>
          <p:cNvPr name="AutoShape 18" id="18"/>
          <p:cNvSpPr/>
          <p:nvPr/>
        </p:nvSpPr>
        <p:spPr>
          <a:xfrm rot="0" flipH="false" flipV="false">
            <a:off x="8318500" y="5842000"/>
            <a:ext cx="317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6B7280"/>
                </a:solidFill>
                <a:latin typeface="Noto Sans SC"/>
                <a:ea typeface="Noto Sans SC"/>
                <a:cs typeface="Noto Sans SC"/>
                <a:sym typeface="Noto Sans SC"/>
              </a:rPr>
              <a:t>算法自动识别并移除重合的内边界，仅保留闭合的整体外边界，形成统一的几何实体。</a:t>
            </a:r>
            <a:endParaRPr lang="en-US" sz="1100"/>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906000" y="-762000"/>
            <a:ext cx="2794000" cy="2794000"/>
          </a:xfrm>
          <a:prstGeom prst="ellipse">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0"/>
            <a:ext cx="2286000" cy="2286000"/>
          </a:xfrm>
          <a:prstGeom prst="ellipse">
            <a:avLst/>
          </a:prstGeom>
          <a:solidFill>
            <a:srgbClr val="5B3FD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524000" y="1524000"/>
            <a:ext cx="508000" cy="5080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414000" y="4445000"/>
            <a:ext cx="304800" cy="304800"/>
          </a:xfrm>
          <a:prstGeom prst="ellipse">
            <a:avLst/>
          </a:prstGeom>
          <a:solidFill>
            <a:srgbClr val="5B3FD6">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2286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5600">
                <a:solidFill>
                  <a:srgbClr val="333333"/>
                </a:solidFill>
                <a:latin typeface="Noto Sans SC"/>
                <a:ea typeface="Noto Sans SC"/>
                <a:cs typeface="Noto Sans SC"/>
                <a:sym typeface="Noto Sans SC"/>
              </a:rPr>
              <a:t>致谢</a:t>
            </a:r>
            <a:endParaRPr lang="en-US" sz="1100"/>
          </a:p>
        </p:txBody>
      </p:sp>
      <p:sp>
        <p:nvSpPr>
          <p:cNvPr name="AutoShape 7" id="7"/>
          <p:cNvSpPr/>
          <p:nvPr/>
        </p:nvSpPr>
        <p:spPr>
          <a:xfrm rot="0" flipH="false" flipV="false">
            <a:off x="0" y="3683000"/>
            <a:ext cx="1219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a:solidFill>
                  <a:srgbClr val="5B3FD6"/>
                </a:solidFill>
                <a:latin typeface="Inter"/>
                <a:ea typeface="Inter"/>
                <a:cs typeface="Inter"/>
                <a:sym typeface="Inter"/>
              </a:rPr>
              <a:t>离散构造几何 DCG </a:t>
            </a:r>
            <a:endParaRPr lang="en-US" sz="1100"/>
          </a:p>
        </p:txBody>
      </p:sp>
      <p:sp>
        <p:nvSpPr>
          <p:cNvPr name="AutoShape 8" id="8"/>
          <p:cNvSpPr/>
          <p:nvPr/>
        </p:nvSpPr>
        <p:spPr>
          <a:xfrm rot="0" flipH="false" flipV="false">
            <a:off x="2286000" y="5334000"/>
            <a:ext cx="7620000" cy="12700"/>
          </a:xfrm>
          <a:prstGeom prst="roundRect">
            <a:avLst>
              <a:gd name="adj" fmla="val 0"/>
            </a:avLst>
          </a:prstGeom>
          <a:solidFill>
            <a:srgbClr val="5B3FD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0" y="5651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999999"/>
                </a:solidFill>
                <a:latin typeface="Noto Sans SC"/>
                <a:ea typeface="Noto Sans SC"/>
                <a:cs typeface="Noto Sans SC"/>
                <a:sym typeface="Noto Sans SC"/>
              </a:rPr>
              <a:t>元几何框架 · 五公理合法性体系</a:t>
            </a:r>
            <a:endParaRPr lang="en-US" sz="1100"/>
          </a:p>
        </p:txBody>
      </p:sp>
      <p:pic>
        <p:nvPicPr>
          <p:cNvPr name="Picture 10" id="10"/>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{"Label":"1","ContentProducer":"001191110102MACQD9K64010000","ProduceID":"7665628719567326166","ReservedCode1":"","ContentPropagator":"","PropagateID":"","ReservedCode2":""}</vt:lpwstr>
  </property>
</Properties>
</file>